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TDTD순고딕 Bold" charset="1" panose="02000803000000000000"/>
      <p:regular r:id="rId28"/>
    </p:embeddedFont>
    <p:embeddedFont>
      <p:font typeface="TDTD평고딕" charset="1" panose="02000503000000000000"/>
      <p:regular r:id="rId29"/>
    </p:embeddedFont>
    <p:embeddedFont>
      <p:font typeface="Cabin" charset="1" panose="00000500000000000000"/>
      <p:regular r:id="rId30"/>
    </p:embeddedFont>
    <p:embeddedFont>
      <p:font typeface="Cabin Bold" charset="1" panose="00000800000000000000"/>
      <p:regular r:id="rId31"/>
    </p:embeddedFont>
    <p:embeddedFont>
      <p:font typeface="Tlab 돋움 레귤러 Bold" charset="1" panose="02060800000000000000"/>
      <p:regular r:id="rId32"/>
    </p:embeddedFont>
    <p:embeddedFont>
      <p:font typeface="Tlab 돋움 레귤러" charset="1" panose="02060500000000000000"/>
      <p:regular r:id="rId33"/>
    </p:embeddedFont>
    <p:embeddedFont>
      <p:font typeface="TDTD순고딕" charset="1" panose="02000603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5350" y="8201025"/>
            <a:ext cx="95084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" b="true">
                <a:solidFill>
                  <a:srgbClr val="6274C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팀장 | 지민우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spc="30">
                <a:solidFill>
                  <a:srgbClr val="6274CF"/>
                </a:solidFill>
                <a:latin typeface="TDTD순고딕 Bold"/>
                <a:ea typeface="TDTD순고딕 Bold"/>
                <a:cs typeface="TDTD순고딕 Bold"/>
                <a:sym typeface="TDTD순고딕 Bold"/>
              </a:rPr>
              <a:t>팀원 | 유지우, 이경민, 정다연, 정회성, 조성민, 최현서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397084"/>
            <a:ext cx="16230600" cy="0"/>
          </a:xfrm>
          <a:prstGeom prst="line">
            <a:avLst/>
          </a:prstGeom>
          <a:ln cap="flat" w="38100">
            <a:solidFill>
              <a:srgbClr val="25252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652613" y="5290835"/>
            <a:ext cx="8521087" cy="5005690"/>
            <a:chOff x="0" y="0"/>
            <a:chExt cx="11361450" cy="6674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70318"/>
              <a:ext cx="10220469" cy="6503935"/>
            </a:xfrm>
            <a:custGeom>
              <a:avLst/>
              <a:gdLst/>
              <a:ahLst/>
              <a:cxnLst/>
              <a:rect r="r" b="b" t="t" l="l"/>
              <a:pathLst>
                <a:path h="6503935" w="10220469">
                  <a:moveTo>
                    <a:pt x="0" y="0"/>
                  </a:moveTo>
                  <a:lnTo>
                    <a:pt x="10220469" y="0"/>
                  </a:lnTo>
                  <a:lnTo>
                    <a:pt x="10220469" y="6503935"/>
                  </a:lnTo>
                  <a:lnTo>
                    <a:pt x="0" y="6503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40231" y="0"/>
              <a:ext cx="1987777" cy="1619134"/>
            </a:xfrm>
            <a:custGeom>
              <a:avLst/>
              <a:gdLst/>
              <a:ahLst/>
              <a:cxnLst/>
              <a:rect r="r" b="b" t="t" l="l"/>
              <a:pathLst>
                <a:path h="1619134" w="1987777">
                  <a:moveTo>
                    <a:pt x="0" y="0"/>
                  </a:moveTo>
                  <a:lnTo>
                    <a:pt x="1987777" y="0"/>
                  </a:lnTo>
                  <a:lnTo>
                    <a:pt x="1987777" y="1619134"/>
                  </a:lnTo>
                  <a:lnTo>
                    <a:pt x="0" y="1619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9373673" y="542907"/>
              <a:ext cx="1987777" cy="1619134"/>
            </a:xfrm>
            <a:custGeom>
              <a:avLst/>
              <a:gdLst/>
              <a:ahLst/>
              <a:cxnLst/>
              <a:rect r="r" b="b" t="t" l="l"/>
              <a:pathLst>
                <a:path h="1619134" w="1987777">
                  <a:moveTo>
                    <a:pt x="1987777" y="0"/>
                  </a:moveTo>
                  <a:lnTo>
                    <a:pt x="0" y="0"/>
                  </a:lnTo>
                  <a:lnTo>
                    <a:pt x="0" y="1619135"/>
                  </a:lnTo>
                  <a:lnTo>
                    <a:pt x="1987777" y="1619135"/>
                  </a:lnTo>
                  <a:lnTo>
                    <a:pt x="1987777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7002326" y="6012966"/>
            <a:ext cx="935878" cy="610873"/>
          </a:xfrm>
          <a:custGeom>
            <a:avLst/>
            <a:gdLst/>
            <a:ahLst/>
            <a:cxnLst/>
            <a:rect r="r" b="b" t="t" l="l"/>
            <a:pathLst>
              <a:path h="610873" w="935878">
                <a:moveTo>
                  <a:pt x="0" y="0"/>
                </a:moveTo>
                <a:lnTo>
                  <a:pt x="935877" y="0"/>
                </a:lnTo>
                <a:lnTo>
                  <a:pt x="935877" y="610873"/>
                </a:lnTo>
                <a:lnTo>
                  <a:pt x="0" y="6108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99466" y="5363530"/>
            <a:ext cx="1037893" cy="1037893"/>
          </a:xfrm>
          <a:custGeom>
            <a:avLst/>
            <a:gdLst/>
            <a:ahLst/>
            <a:cxnLst/>
            <a:rect r="r" b="b" t="t" l="l"/>
            <a:pathLst>
              <a:path h="1037893" w="1037893">
                <a:moveTo>
                  <a:pt x="0" y="0"/>
                </a:moveTo>
                <a:lnTo>
                  <a:pt x="1037893" y="0"/>
                </a:lnTo>
                <a:lnTo>
                  <a:pt x="1037893" y="1037892"/>
                </a:lnTo>
                <a:lnTo>
                  <a:pt x="0" y="10378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360041"/>
            <a:ext cx="2286540" cy="931553"/>
          </a:xfrm>
          <a:custGeom>
            <a:avLst/>
            <a:gdLst/>
            <a:ahLst/>
            <a:cxnLst/>
            <a:rect r="r" b="b" t="t" l="l"/>
            <a:pathLst>
              <a:path h="931553" w="2286540">
                <a:moveTo>
                  <a:pt x="0" y="0"/>
                </a:moveTo>
                <a:lnTo>
                  <a:pt x="2286540" y="0"/>
                </a:lnTo>
                <a:lnTo>
                  <a:pt x="2286540" y="931553"/>
                </a:lnTo>
                <a:lnTo>
                  <a:pt x="0" y="9315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322849"/>
            <a:ext cx="11982194" cy="254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4"/>
              </a:lnSpc>
            </a:pPr>
            <a:r>
              <a:rPr lang="en-US" sz="8300" spc="-249">
                <a:solidFill>
                  <a:srgbClr val="6274CF"/>
                </a:solidFill>
                <a:latin typeface="TDTD평고딕"/>
                <a:ea typeface="TDTD평고딕"/>
                <a:cs typeface="TDTD평고딕"/>
                <a:sym typeface="TDTD평고딕"/>
              </a:rPr>
              <a:t>금융 서비스</a:t>
            </a:r>
          </a:p>
          <a:p>
            <a:pPr algn="l">
              <a:lnSpc>
                <a:spcPts val="10044"/>
              </a:lnSpc>
            </a:pPr>
            <a:r>
              <a:rPr lang="en-US" sz="8300" spc="-249">
                <a:solidFill>
                  <a:srgbClr val="6274CF"/>
                </a:solidFill>
                <a:latin typeface="TDTD평고딕"/>
                <a:ea typeface="TDTD평고딕"/>
                <a:cs typeface="TDTD평고딕"/>
                <a:sym typeface="TDTD평고딕"/>
              </a:rPr>
              <a:t>장애 시뮬레이션 플랫폼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35632" y="778193"/>
            <a:ext cx="512366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535356"/>
                </a:solidFill>
                <a:latin typeface="Cabin"/>
                <a:ea typeface="Cabin"/>
                <a:cs typeface="Cabin"/>
                <a:sym typeface="Cabin"/>
              </a:rPr>
              <a:t>LG CNS INSPIRE CAMP 3TH 해커톤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0927" y="4269983"/>
            <a:ext cx="751342" cy="75134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01798" y="5303069"/>
            <a:ext cx="751342" cy="7513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50927" y="5311563"/>
            <a:ext cx="751342" cy="7513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50927" y="6351311"/>
            <a:ext cx="751342" cy="75134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01798" y="4269983"/>
            <a:ext cx="751342" cy="75134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18288000" cy="2372063"/>
            <a:chOff x="0" y="0"/>
            <a:chExt cx="4816593" cy="6247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16592" cy="624741"/>
            </a:xfrm>
            <a:custGeom>
              <a:avLst/>
              <a:gdLst/>
              <a:ahLst/>
              <a:cxnLst/>
              <a:rect r="r" b="b" t="t" l="l"/>
              <a:pathLst>
                <a:path h="62474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24741"/>
                  </a:lnTo>
                  <a:lnTo>
                    <a:pt x="0" y="624741"/>
                  </a:ln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816593" cy="700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20567" y="1024107"/>
            <a:ext cx="7110099" cy="165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b="true" sz="96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CONTENTS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50189" y="4044359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01061" y="5077445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50189" y="5082779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50189" y="6120055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1061" y="4041199"/>
            <a:ext cx="552818" cy="8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52"/>
              </a:lnSpc>
            </a:pPr>
            <a:r>
              <a:rPr lang="en-US" b="true" sz="3400" spc="102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33870" y="5054091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마무리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07069" y="4021005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배경 및 문제 정의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07069" y="5062585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소개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07069" y="6102333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구성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3870" y="4021005"/>
            <a:ext cx="5403203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3500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아키텍처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20242" y="5327105"/>
            <a:ext cx="7966098" cy="3933261"/>
          </a:xfrm>
          <a:custGeom>
            <a:avLst/>
            <a:gdLst/>
            <a:ahLst/>
            <a:cxnLst/>
            <a:rect r="r" b="b" t="t" l="l"/>
            <a:pathLst>
              <a:path h="3933261" w="7966098">
                <a:moveTo>
                  <a:pt x="0" y="0"/>
                </a:moveTo>
                <a:lnTo>
                  <a:pt x="7966098" y="0"/>
                </a:lnTo>
                <a:lnTo>
                  <a:pt x="7966098" y="3933261"/>
                </a:lnTo>
                <a:lnTo>
                  <a:pt x="0" y="3933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2222" y="5991981"/>
            <a:ext cx="2923883" cy="113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4999" spc="49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문제점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2838740"/>
            <a:ext cx="2923883" cy="113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4999" spc="49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현황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2222" y="4063043"/>
            <a:ext cx="10758059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 spc="2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MSA, 클라우드 등이 도입되며 IT 인프라는 나날이 복잡해짐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2222" y="7217536"/>
            <a:ext cx="7704602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 spc="29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그에 따라 예상치 못 한 서비스 장애도 늘어남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배경 및 문제정의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68445" y="3219740"/>
            <a:ext cx="11301259" cy="4562883"/>
          </a:xfrm>
          <a:custGeom>
            <a:avLst/>
            <a:gdLst/>
            <a:ahLst/>
            <a:cxnLst/>
            <a:rect r="r" b="b" t="t" l="l"/>
            <a:pathLst>
              <a:path h="4562883" w="11301259">
                <a:moveTo>
                  <a:pt x="0" y="0"/>
                </a:moveTo>
                <a:lnTo>
                  <a:pt x="11301259" y="0"/>
                </a:lnTo>
                <a:lnTo>
                  <a:pt x="11301259" y="4562883"/>
                </a:lnTo>
                <a:lnTo>
                  <a:pt x="0" y="4562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2953040"/>
            <a:ext cx="2923883" cy="80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3599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넷플릭스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사례 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61978" y="9553960"/>
            <a:ext cx="10326022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200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출처 : https://www.ibm.com/kr-ko/think/topics/chaos-engineering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084774" y="6444542"/>
            <a:ext cx="2167969" cy="328349"/>
            <a:chOff x="0" y="0"/>
            <a:chExt cx="711200" cy="1077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1200" cy="107714"/>
            </a:xfrm>
            <a:custGeom>
              <a:avLst/>
              <a:gdLst/>
              <a:ahLst/>
              <a:cxnLst/>
              <a:rect r="r" b="b" t="t" l="l"/>
              <a:pathLst>
                <a:path h="107714" w="711200">
                  <a:moveTo>
                    <a:pt x="711200" y="0"/>
                  </a:moveTo>
                  <a:lnTo>
                    <a:pt x="711200" y="80797"/>
                  </a:lnTo>
                  <a:cubicBezTo>
                    <a:pt x="651933" y="80797"/>
                    <a:pt x="651933" y="107714"/>
                    <a:pt x="592667" y="107714"/>
                  </a:cubicBezTo>
                  <a:cubicBezTo>
                    <a:pt x="533381" y="107714"/>
                    <a:pt x="533381" y="80797"/>
                    <a:pt x="474115" y="80797"/>
                  </a:cubicBezTo>
                  <a:cubicBezTo>
                    <a:pt x="414848" y="80797"/>
                    <a:pt x="414848" y="107714"/>
                    <a:pt x="355581" y="107714"/>
                  </a:cubicBezTo>
                  <a:cubicBezTo>
                    <a:pt x="296315" y="107714"/>
                    <a:pt x="296315" y="80797"/>
                    <a:pt x="237048" y="80797"/>
                  </a:cubicBezTo>
                  <a:cubicBezTo>
                    <a:pt x="177781" y="80797"/>
                    <a:pt x="177781" y="107714"/>
                    <a:pt x="118533" y="107714"/>
                  </a:cubicBezTo>
                  <a:cubicBezTo>
                    <a:pt x="59267" y="107714"/>
                    <a:pt x="59267" y="80797"/>
                    <a:pt x="0" y="80797"/>
                  </a:cubicBezTo>
                  <a:lnTo>
                    <a:pt x="0" y="0"/>
                  </a:lnTo>
                  <a:cubicBezTo>
                    <a:pt x="59267" y="0"/>
                    <a:pt x="59267" y="26918"/>
                    <a:pt x="118533" y="26918"/>
                  </a:cubicBezTo>
                  <a:cubicBezTo>
                    <a:pt x="177781" y="26918"/>
                    <a:pt x="177781" y="0"/>
                    <a:pt x="237048" y="0"/>
                  </a:cubicBezTo>
                  <a:cubicBezTo>
                    <a:pt x="296315" y="0"/>
                    <a:pt x="296315" y="26918"/>
                    <a:pt x="355581" y="26918"/>
                  </a:cubicBezTo>
                  <a:cubicBezTo>
                    <a:pt x="414848" y="26918"/>
                    <a:pt x="414848" y="0"/>
                    <a:pt x="474115" y="0"/>
                  </a:cubicBezTo>
                  <a:cubicBezTo>
                    <a:pt x="533381" y="0"/>
                    <a:pt x="533381" y="26918"/>
                    <a:pt x="592667" y="26918"/>
                  </a:cubicBezTo>
                  <a:cubicBezTo>
                    <a:pt x="651933" y="26918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4B63C0">
                <a:alpha val="2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476"/>
              <a:ext cx="711200" cy="126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8683" y="3044524"/>
            <a:ext cx="16455384" cy="2180338"/>
          </a:xfrm>
          <a:custGeom>
            <a:avLst/>
            <a:gdLst/>
            <a:ahLst/>
            <a:cxnLst/>
            <a:rect r="r" b="b" t="t" l="l"/>
            <a:pathLst>
              <a:path h="2180338" w="16455384">
                <a:moveTo>
                  <a:pt x="0" y="0"/>
                </a:moveTo>
                <a:lnTo>
                  <a:pt x="16455384" y="0"/>
                </a:lnTo>
                <a:lnTo>
                  <a:pt x="16455384" y="2180338"/>
                </a:lnTo>
                <a:lnTo>
                  <a:pt x="0" y="2180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9077325" y="5364329"/>
            <a:ext cx="0" cy="957947"/>
          </a:xfrm>
          <a:prstGeom prst="line">
            <a:avLst/>
          </a:prstGeom>
          <a:ln cap="flat" w="133350">
            <a:solidFill>
              <a:srgbClr val="6375C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" id="5"/>
          <p:cNvSpPr txBox="true"/>
          <p:nvPr/>
        </p:nvSpPr>
        <p:spPr>
          <a:xfrm rot="0">
            <a:off x="3393444" y="9631401"/>
            <a:ext cx="14713446" cy="33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2"/>
              </a:lnSpc>
              <a:spcBef>
                <a:spcPct val="0"/>
              </a:spcBef>
            </a:pP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출처 : https://aws.amazon.com/ko/blogs/tech/continuous-resilience-testing-for-amazon-eks-workloads-with-chaos-engineering/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6848187"/>
            <a:ext cx="16179505" cy="60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sz="2999" spc="29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시스템에 인위적으로 장애를 주입해 실제 </a:t>
            </a:r>
            <a:r>
              <a:rPr lang="en-US" sz="2999" spc="29">
                <a:solidFill>
                  <a:srgbClr val="4B63C0"/>
                </a:solidFill>
                <a:latin typeface="TDTD순고딕"/>
                <a:ea typeface="TDTD순고딕"/>
                <a:cs typeface="TDTD순고딕"/>
                <a:sym typeface="TDTD순고딕"/>
              </a:rPr>
              <a:t>장애 상황을 시뮬레이션</a:t>
            </a:r>
            <a:r>
              <a:rPr lang="en-US" sz="2999" spc="29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,  안정성과 복원력을 </a:t>
            </a:r>
            <a:r>
              <a:rPr lang="en-US" sz="2999" spc="29">
                <a:solidFill>
                  <a:srgbClr val="4B63C0"/>
                </a:solidFill>
                <a:latin typeface="TDTD순고딕"/>
                <a:ea typeface="TDTD순고딕"/>
                <a:cs typeface="TDTD순고딕"/>
                <a:sym typeface="TDTD순고딕"/>
              </a:rPr>
              <a:t>사전에 검증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카오스 엔지니어링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19892" y="9634802"/>
            <a:ext cx="8668108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200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출처 : https://news.seoul.go.kr/gov/archives/571648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662071" y="2900382"/>
            <a:ext cx="12963859" cy="5412411"/>
          </a:xfrm>
          <a:custGeom>
            <a:avLst/>
            <a:gdLst/>
            <a:ahLst/>
            <a:cxnLst/>
            <a:rect r="r" b="b" t="t" l="l"/>
            <a:pathLst>
              <a:path h="5412411" w="12963859">
                <a:moveTo>
                  <a:pt x="0" y="0"/>
                </a:moveTo>
                <a:lnTo>
                  <a:pt x="12963858" y="0"/>
                </a:lnTo>
                <a:lnTo>
                  <a:pt x="12963858" y="5412411"/>
                </a:lnTo>
                <a:lnTo>
                  <a:pt x="0" y="541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국내 상황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59438" y="3219740"/>
            <a:ext cx="8049642" cy="5148079"/>
          </a:xfrm>
          <a:custGeom>
            <a:avLst/>
            <a:gdLst/>
            <a:ahLst/>
            <a:cxnLst/>
            <a:rect r="r" b="b" t="t" l="l"/>
            <a:pathLst>
              <a:path h="5148079" w="8049642">
                <a:moveTo>
                  <a:pt x="0" y="0"/>
                </a:moveTo>
                <a:lnTo>
                  <a:pt x="8049641" y="0"/>
                </a:lnTo>
                <a:lnTo>
                  <a:pt x="8049641" y="5148079"/>
                </a:lnTo>
                <a:lnTo>
                  <a:pt x="0" y="514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720" r="0" b="-6483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26609" y="1670050"/>
            <a:ext cx="8115300" cy="1354558"/>
          </a:xfrm>
          <a:custGeom>
            <a:avLst/>
            <a:gdLst/>
            <a:ahLst/>
            <a:cxnLst/>
            <a:rect r="r" b="b" t="t" l="l"/>
            <a:pathLst>
              <a:path h="1354558" w="8115300">
                <a:moveTo>
                  <a:pt x="0" y="0"/>
                </a:moveTo>
                <a:lnTo>
                  <a:pt x="8115300" y="0"/>
                </a:lnTo>
                <a:lnTo>
                  <a:pt x="8115300" y="1354558"/>
                </a:lnTo>
                <a:lnTo>
                  <a:pt x="0" y="1354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21708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86145" y="2493009"/>
            <a:ext cx="2616693" cy="396310"/>
            <a:chOff x="0" y="0"/>
            <a:chExt cx="711200" cy="1077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1200" cy="107714"/>
            </a:xfrm>
            <a:custGeom>
              <a:avLst/>
              <a:gdLst/>
              <a:ahLst/>
              <a:cxnLst/>
              <a:rect r="r" b="b" t="t" l="l"/>
              <a:pathLst>
                <a:path h="107714" w="711200">
                  <a:moveTo>
                    <a:pt x="711200" y="0"/>
                  </a:moveTo>
                  <a:lnTo>
                    <a:pt x="711200" y="80797"/>
                  </a:lnTo>
                  <a:cubicBezTo>
                    <a:pt x="651933" y="80797"/>
                    <a:pt x="651933" y="107714"/>
                    <a:pt x="592667" y="107714"/>
                  </a:cubicBezTo>
                  <a:cubicBezTo>
                    <a:pt x="533381" y="107714"/>
                    <a:pt x="533381" y="80797"/>
                    <a:pt x="474115" y="80797"/>
                  </a:cubicBezTo>
                  <a:cubicBezTo>
                    <a:pt x="414848" y="80797"/>
                    <a:pt x="414848" y="107714"/>
                    <a:pt x="355581" y="107714"/>
                  </a:cubicBezTo>
                  <a:cubicBezTo>
                    <a:pt x="296315" y="107714"/>
                    <a:pt x="296315" y="80797"/>
                    <a:pt x="237048" y="80797"/>
                  </a:cubicBezTo>
                  <a:cubicBezTo>
                    <a:pt x="177781" y="80797"/>
                    <a:pt x="177781" y="107714"/>
                    <a:pt x="118533" y="107714"/>
                  </a:cubicBezTo>
                  <a:cubicBezTo>
                    <a:pt x="59267" y="107714"/>
                    <a:pt x="59267" y="80797"/>
                    <a:pt x="0" y="80797"/>
                  </a:cubicBezTo>
                  <a:lnTo>
                    <a:pt x="0" y="0"/>
                  </a:lnTo>
                  <a:cubicBezTo>
                    <a:pt x="59267" y="0"/>
                    <a:pt x="59267" y="26918"/>
                    <a:pt x="118533" y="26918"/>
                  </a:cubicBezTo>
                  <a:cubicBezTo>
                    <a:pt x="177781" y="26918"/>
                    <a:pt x="177781" y="0"/>
                    <a:pt x="237048" y="0"/>
                  </a:cubicBezTo>
                  <a:cubicBezTo>
                    <a:pt x="296315" y="0"/>
                    <a:pt x="296315" y="26918"/>
                    <a:pt x="355581" y="26918"/>
                  </a:cubicBezTo>
                  <a:cubicBezTo>
                    <a:pt x="414848" y="26918"/>
                    <a:pt x="414848" y="0"/>
                    <a:pt x="474115" y="0"/>
                  </a:cubicBezTo>
                  <a:cubicBezTo>
                    <a:pt x="533381" y="0"/>
                    <a:pt x="533381" y="26918"/>
                    <a:pt x="592667" y="26918"/>
                  </a:cubicBezTo>
                  <a:cubicBezTo>
                    <a:pt x="651933" y="26918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4B63C0">
                <a:alpha val="2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476"/>
              <a:ext cx="711200" cy="126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30795" y="9634802"/>
            <a:ext cx="5572869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200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출처 : 2025년 금융분야 재난대응 안전한국훈련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국내 상황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98202" y="3962587"/>
            <a:ext cx="2616693" cy="396310"/>
            <a:chOff x="0" y="0"/>
            <a:chExt cx="711200" cy="1077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200" cy="107714"/>
            </a:xfrm>
            <a:custGeom>
              <a:avLst/>
              <a:gdLst/>
              <a:ahLst/>
              <a:cxnLst/>
              <a:rect r="r" b="b" t="t" l="l"/>
              <a:pathLst>
                <a:path h="107714" w="711200">
                  <a:moveTo>
                    <a:pt x="711200" y="0"/>
                  </a:moveTo>
                  <a:lnTo>
                    <a:pt x="711200" y="80797"/>
                  </a:lnTo>
                  <a:cubicBezTo>
                    <a:pt x="651933" y="80797"/>
                    <a:pt x="651933" y="107714"/>
                    <a:pt x="592667" y="107714"/>
                  </a:cubicBezTo>
                  <a:cubicBezTo>
                    <a:pt x="533381" y="107714"/>
                    <a:pt x="533381" y="80797"/>
                    <a:pt x="474115" y="80797"/>
                  </a:cubicBezTo>
                  <a:cubicBezTo>
                    <a:pt x="414848" y="80797"/>
                    <a:pt x="414848" y="107714"/>
                    <a:pt x="355581" y="107714"/>
                  </a:cubicBezTo>
                  <a:cubicBezTo>
                    <a:pt x="296315" y="107714"/>
                    <a:pt x="296315" y="80797"/>
                    <a:pt x="237048" y="80797"/>
                  </a:cubicBezTo>
                  <a:cubicBezTo>
                    <a:pt x="177781" y="80797"/>
                    <a:pt x="177781" y="107714"/>
                    <a:pt x="118533" y="107714"/>
                  </a:cubicBezTo>
                  <a:cubicBezTo>
                    <a:pt x="59267" y="107714"/>
                    <a:pt x="59267" y="80797"/>
                    <a:pt x="0" y="80797"/>
                  </a:cubicBezTo>
                  <a:lnTo>
                    <a:pt x="0" y="0"/>
                  </a:lnTo>
                  <a:cubicBezTo>
                    <a:pt x="59267" y="0"/>
                    <a:pt x="59267" y="26918"/>
                    <a:pt x="118533" y="26918"/>
                  </a:cubicBezTo>
                  <a:cubicBezTo>
                    <a:pt x="177781" y="26918"/>
                    <a:pt x="177781" y="0"/>
                    <a:pt x="237048" y="0"/>
                  </a:cubicBezTo>
                  <a:cubicBezTo>
                    <a:pt x="296315" y="0"/>
                    <a:pt x="296315" y="26918"/>
                    <a:pt x="355581" y="26918"/>
                  </a:cubicBezTo>
                  <a:cubicBezTo>
                    <a:pt x="414848" y="26918"/>
                    <a:pt x="414848" y="0"/>
                    <a:pt x="474115" y="0"/>
                  </a:cubicBezTo>
                  <a:cubicBezTo>
                    <a:pt x="533381" y="0"/>
                    <a:pt x="533381" y="26918"/>
                    <a:pt x="592667" y="26918"/>
                  </a:cubicBezTo>
                  <a:cubicBezTo>
                    <a:pt x="651933" y="26918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4B63C0">
                <a:alpha val="2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476"/>
              <a:ext cx="711200" cy="126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186145" y="7823859"/>
            <a:ext cx="2749136" cy="416369"/>
            <a:chOff x="0" y="0"/>
            <a:chExt cx="711200" cy="1077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" cy="107714"/>
            </a:xfrm>
            <a:custGeom>
              <a:avLst/>
              <a:gdLst/>
              <a:ahLst/>
              <a:cxnLst/>
              <a:rect r="r" b="b" t="t" l="l"/>
              <a:pathLst>
                <a:path h="107714" w="711200">
                  <a:moveTo>
                    <a:pt x="711200" y="0"/>
                  </a:moveTo>
                  <a:lnTo>
                    <a:pt x="711200" y="80797"/>
                  </a:lnTo>
                  <a:cubicBezTo>
                    <a:pt x="651933" y="80797"/>
                    <a:pt x="651933" y="107714"/>
                    <a:pt x="592667" y="107714"/>
                  </a:cubicBezTo>
                  <a:cubicBezTo>
                    <a:pt x="533381" y="107714"/>
                    <a:pt x="533381" y="80797"/>
                    <a:pt x="474115" y="80797"/>
                  </a:cubicBezTo>
                  <a:cubicBezTo>
                    <a:pt x="414848" y="80797"/>
                    <a:pt x="414848" y="107714"/>
                    <a:pt x="355581" y="107714"/>
                  </a:cubicBezTo>
                  <a:cubicBezTo>
                    <a:pt x="296315" y="107714"/>
                    <a:pt x="296315" y="80797"/>
                    <a:pt x="237048" y="80797"/>
                  </a:cubicBezTo>
                  <a:cubicBezTo>
                    <a:pt x="177781" y="80797"/>
                    <a:pt x="177781" y="107714"/>
                    <a:pt x="118533" y="107714"/>
                  </a:cubicBezTo>
                  <a:cubicBezTo>
                    <a:pt x="59267" y="107714"/>
                    <a:pt x="59267" y="80797"/>
                    <a:pt x="0" y="80797"/>
                  </a:cubicBezTo>
                  <a:lnTo>
                    <a:pt x="0" y="0"/>
                  </a:lnTo>
                  <a:cubicBezTo>
                    <a:pt x="59267" y="0"/>
                    <a:pt x="59267" y="26918"/>
                    <a:pt x="118533" y="26918"/>
                  </a:cubicBezTo>
                  <a:cubicBezTo>
                    <a:pt x="177781" y="26918"/>
                    <a:pt x="177781" y="0"/>
                    <a:pt x="237048" y="0"/>
                  </a:cubicBezTo>
                  <a:cubicBezTo>
                    <a:pt x="296315" y="0"/>
                    <a:pt x="296315" y="26918"/>
                    <a:pt x="355581" y="26918"/>
                  </a:cubicBezTo>
                  <a:cubicBezTo>
                    <a:pt x="414848" y="26918"/>
                    <a:pt x="414848" y="0"/>
                    <a:pt x="474115" y="0"/>
                  </a:cubicBezTo>
                  <a:cubicBezTo>
                    <a:pt x="533381" y="0"/>
                    <a:pt x="533381" y="26918"/>
                    <a:pt x="592667" y="26918"/>
                  </a:cubicBezTo>
                  <a:cubicBezTo>
                    <a:pt x="651933" y="26918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4B63C0">
                <a:alpha val="2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476"/>
              <a:ext cx="711200" cy="126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40045" y="2770930"/>
            <a:ext cx="11807909" cy="6081073"/>
          </a:xfrm>
          <a:custGeom>
            <a:avLst/>
            <a:gdLst/>
            <a:ahLst/>
            <a:cxnLst/>
            <a:rect r="r" b="b" t="t" l="l"/>
            <a:pathLst>
              <a:path h="6081073" w="11807909">
                <a:moveTo>
                  <a:pt x="0" y="0"/>
                </a:moveTo>
                <a:lnTo>
                  <a:pt x="11807910" y="0"/>
                </a:lnTo>
                <a:lnTo>
                  <a:pt x="11807910" y="6081073"/>
                </a:lnTo>
                <a:lnTo>
                  <a:pt x="0" y="6081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사례 2.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80700" y="9553960"/>
            <a:ext cx="10812997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200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출처 : https://www.boannews.com/media/view.asp?idx=134464&amp;direct=mobile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2652" y="3115303"/>
            <a:ext cx="14675964" cy="4531204"/>
          </a:xfrm>
          <a:custGeom>
            <a:avLst/>
            <a:gdLst/>
            <a:ahLst/>
            <a:cxnLst/>
            <a:rect r="r" b="b" t="t" l="l"/>
            <a:pathLst>
              <a:path h="4531204" w="14675964">
                <a:moveTo>
                  <a:pt x="0" y="0"/>
                </a:moveTo>
                <a:lnTo>
                  <a:pt x="14675964" y="0"/>
                </a:lnTo>
                <a:lnTo>
                  <a:pt x="14675964" y="4531204"/>
                </a:lnTo>
                <a:lnTo>
                  <a:pt x="0" y="4531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40754" y="9553960"/>
            <a:ext cx="9847246" cy="40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200" spc="22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출처 : https://www.ddaily.co.kr/page/view/2025040911524894842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금융권 상황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440754" y="3810187"/>
            <a:ext cx="2616693" cy="396310"/>
            <a:chOff x="0" y="0"/>
            <a:chExt cx="711200" cy="1077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1200" cy="107714"/>
            </a:xfrm>
            <a:custGeom>
              <a:avLst/>
              <a:gdLst/>
              <a:ahLst/>
              <a:cxnLst/>
              <a:rect r="r" b="b" t="t" l="l"/>
              <a:pathLst>
                <a:path h="107714" w="711200">
                  <a:moveTo>
                    <a:pt x="711200" y="0"/>
                  </a:moveTo>
                  <a:lnTo>
                    <a:pt x="711200" y="80797"/>
                  </a:lnTo>
                  <a:cubicBezTo>
                    <a:pt x="651933" y="80797"/>
                    <a:pt x="651933" y="107714"/>
                    <a:pt x="592667" y="107714"/>
                  </a:cubicBezTo>
                  <a:cubicBezTo>
                    <a:pt x="533381" y="107714"/>
                    <a:pt x="533381" y="80797"/>
                    <a:pt x="474115" y="80797"/>
                  </a:cubicBezTo>
                  <a:cubicBezTo>
                    <a:pt x="414848" y="80797"/>
                    <a:pt x="414848" y="107714"/>
                    <a:pt x="355581" y="107714"/>
                  </a:cubicBezTo>
                  <a:cubicBezTo>
                    <a:pt x="296315" y="107714"/>
                    <a:pt x="296315" y="80797"/>
                    <a:pt x="237048" y="80797"/>
                  </a:cubicBezTo>
                  <a:cubicBezTo>
                    <a:pt x="177781" y="80797"/>
                    <a:pt x="177781" y="107714"/>
                    <a:pt x="118533" y="107714"/>
                  </a:cubicBezTo>
                  <a:cubicBezTo>
                    <a:pt x="59267" y="107714"/>
                    <a:pt x="59267" y="80797"/>
                    <a:pt x="0" y="80797"/>
                  </a:cubicBezTo>
                  <a:lnTo>
                    <a:pt x="0" y="0"/>
                  </a:lnTo>
                  <a:cubicBezTo>
                    <a:pt x="59267" y="0"/>
                    <a:pt x="59267" y="26918"/>
                    <a:pt x="118533" y="26918"/>
                  </a:cubicBezTo>
                  <a:cubicBezTo>
                    <a:pt x="177781" y="26918"/>
                    <a:pt x="177781" y="0"/>
                    <a:pt x="237048" y="0"/>
                  </a:cubicBezTo>
                  <a:cubicBezTo>
                    <a:pt x="296315" y="0"/>
                    <a:pt x="296315" y="26918"/>
                    <a:pt x="355581" y="26918"/>
                  </a:cubicBezTo>
                  <a:cubicBezTo>
                    <a:pt x="414848" y="26918"/>
                    <a:pt x="414848" y="0"/>
                    <a:pt x="474115" y="0"/>
                  </a:cubicBezTo>
                  <a:cubicBezTo>
                    <a:pt x="533381" y="0"/>
                    <a:pt x="533381" y="26918"/>
                    <a:pt x="592667" y="26918"/>
                  </a:cubicBezTo>
                  <a:cubicBezTo>
                    <a:pt x="651933" y="26918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4B63C0">
                <a:alpha val="2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476"/>
              <a:ext cx="711200" cy="126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824062" y="5905697"/>
            <a:ext cx="2616693" cy="396310"/>
            <a:chOff x="0" y="0"/>
            <a:chExt cx="711200" cy="1077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1200" cy="107714"/>
            </a:xfrm>
            <a:custGeom>
              <a:avLst/>
              <a:gdLst/>
              <a:ahLst/>
              <a:cxnLst/>
              <a:rect r="r" b="b" t="t" l="l"/>
              <a:pathLst>
                <a:path h="107714" w="711200">
                  <a:moveTo>
                    <a:pt x="711200" y="0"/>
                  </a:moveTo>
                  <a:lnTo>
                    <a:pt x="711200" y="80797"/>
                  </a:lnTo>
                  <a:cubicBezTo>
                    <a:pt x="651933" y="80797"/>
                    <a:pt x="651933" y="107714"/>
                    <a:pt x="592667" y="107714"/>
                  </a:cubicBezTo>
                  <a:cubicBezTo>
                    <a:pt x="533381" y="107714"/>
                    <a:pt x="533381" y="80797"/>
                    <a:pt x="474115" y="80797"/>
                  </a:cubicBezTo>
                  <a:cubicBezTo>
                    <a:pt x="414848" y="80797"/>
                    <a:pt x="414848" y="107714"/>
                    <a:pt x="355581" y="107714"/>
                  </a:cubicBezTo>
                  <a:cubicBezTo>
                    <a:pt x="296315" y="107714"/>
                    <a:pt x="296315" y="80797"/>
                    <a:pt x="237048" y="80797"/>
                  </a:cubicBezTo>
                  <a:cubicBezTo>
                    <a:pt x="177781" y="80797"/>
                    <a:pt x="177781" y="107714"/>
                    <a:pt x="118533" y="107714"/>
                  </a:cubicBezTo>
                  <a:cubicBezTo>
                    <a:pt x="59267" y="107714"/>
                    <a:pt x="59267" y="80797"/>
                    <a:pt x="0" y="80797"/>
                  </a:cubicBezTo>
                  <a:lnTo>
                    <a:pt x="0" y="0"/>
                  </a:lnTo>
                  <a:cubicBezTo>
                    <a:pt x="59267" y="0"/>
                    <a:pt x="59267" y="26918"/>
                    <a:pt x="118533" y="26918"/>
                  </a:cubicBezTo>
                  <a:cubicBezTo>
                    <a:pt x="177781" y="26918"/>
                    <a:pt x="177781" y="0"/>
                    <a:pt x="237048" y="0"/>
                  </a:cubicBezTo>
                  <a:cubicBezTo>
                    <a:pt x="296315" y="0"/>
                    <a:pt x="296315" y="26918"/>
                    <a:pt x="355581" y="26918"/>
                  </a:cubicBezTo>
                  <a:cubicBezTo>
                    <a:pt x="414848" y="26918"/>
                    <a:pt x="414848" y="0"/>
                    <a:pt x="474115" y="0"/>
                  </a:cubicBezTo>
                  <a:cubicBezTo>
                    <a:pt x="533381" y="0"/>
                    <a:pt x="533381" y="26918"/>
                    <a:pt x="592667" y="26918"/>
                  </a:cubicBezTo>
                  <a:cubicBezTo>
                    <a:pt x="651933" y="26918"/>
                    <a:pt x="651933" y="0"/>
                    <a:pt x="711200" y="0"/>
                  </a:cubicBezTo>
                  <a:close/>
                </a:path>
              </a:pathLst>
            </a:custGeom>
            <a:solidFill>
              <a:srgbClr val="4B63C0">
                <a:alpha val="2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476"/>
              <a:ext cx="711200" cy="126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26398" y="3909908"/>
            <a:ext cx="2923883" cy="80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3599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문제점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4562" y="3383175"/>
            <a:ext cx="2923883" cy="80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3599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현황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4283173"/>
            <a:ext cx="7704602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금융권은 여전히 ‘사후 대응 중심’의 장애 관리 구조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26398" y="4809906"/>
            <a:ext cx="7704602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</a:t>
            </a:r>
            <a:r>
              <a:rPr lang="en-US" sz="2399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장애 원인 시나리오를 미리 검증할 수 없음</a:t>
            </a:r>
          </a:p>
          <a:p>
            <a:pPr algn="l">
              <a:lnSpc>
                <a:spcPts val="3599"/>
              </a:lnSpc>
            </a:pPr>
            <a:r>
              <a:rPr lang="en-US" sz="2399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커뮤니케이션 혼란으로 복구 지연</a:t>
            </a:r>
          </a:p>
          <a:p>
            <a:pPr algn="l">
              <a:lnSpc>
                <a:spcPts val="3599"/>
              </a:lnSpc>
            </a:pPr>
            <a:r>
              <a:rPr lang="en-US" sz="2399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 실제 상황과 같은 훈련 어려움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금융권 상황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4562" y="5243293"/>
            <a:ext cx="2923883" cy="805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3599" spc="35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왜?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562" y="6144359"/>
            <a:ext cx="8502891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보안과 서비스의 연속성이 중요</a:t>
            </a:r>
          </a:p>
          <a:p>
            <a:pPr algn="l" marL="518158" indent="-259079" lvl="1">
              <a:lnSpc>
                <a:spcPts val="3599"/>
              </a:lnSpc>
              <a:buFont typeface="Arial"/>
              <a:buChar char="•"/>
            </a:pPr>
            <a:r>
              <a:rPr lang="en-US" sz="2399" spc="23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실제 데이터로 카오스 엔지니어링을 하는 것은 불가능에 가까움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855640" y="5576668"/>
            <a:ext cx="957947" cy="0"/>
          </a:xfrm>
          <a:prstGeom prst="line">
            <a:avLst/>
          </a:prstGeom>
          <a:ln cap="flat" w="133350">
            <a:solidFill>
              <a:srgbClr val="6375C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66865" y="3774026"/>
            <a:ext cx="3834567" cy="3834567"/>
          </a:xfrm>
          <a:custGeom>
            <a:avLst/>
            <a:gdLst/>
            <a:ahLst/>
            <a:cxnLst/>
            <a:rect r="r" b="b" t="t" l="l"/>
            <a:pathLst>
              <a:path h="3834567" w="3834567">
                <a:moveTo>
                  <a:pt x="0" y="0"/>
                </a:moveTo>
                <a:lnTo>
                  <a:pt x="3834567" y="0"/>
                </a:lnTo>
                <a:lnTo>
                  <a:pt x="3834567" y="3834566"/>
                </a:lnTo>
                <a:lnTo>
                  <a:pt x="0" y="3834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68080" y="4798253"/>
            <a:ext cx="1432136" cy="1786111"/>
          </a:xfrm>
          <a:custGeom>
            <a:avLst/>
            <a:gdLst/>
            <a:ahLst/>
            <a:cxnLst/>
            <a:rect r="r" b="b" t="t" l="l"/>
            <a:pathLst>
              <a:path h="1786111" w="1432136">
                <a:moveTo>
                  <a:pt x="0" y="0"/>
                </a:moveTo>
                <a:lnTo>
                  <a:pt x="1432136" y="0"/>
                </a:lnTo>
                <a:lnTo>
                  <a:pt x="1432136" y="1786111"/>
                </a:lnTo>
                <a:lnTo>
                  <a:pt x="0" y="1786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4562" y="3206336"/>
            <a:ext cx="8069615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금융 서비스 장애 시뮬레이션 플랫폼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소개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4562" y="3993395"/>
            <a:ext cx="14791407" cy="10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1"/>
              </a:lnSpc>
            </a:pPr>
            <a:r>
              <a:rPr lang="en-US" sz="2599" spc="25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Chaos Engineering + Incident Response Training</a:t>
            </a:r>
          </a:p>
          <a:p>
            <a:pPr algn="l">
              <a:lnSpc>
                <a:spcPts val="4471"/>
              </a:lnSpc>
            </a:pPr>
            <a:r>
              <a:rPr lang="en-US" sz="2599" spc="25">
                <a:solidFill>
                  <a:srgbClr val="252525"/>
                </a:solidFill>
                <a:latin typeface="TDTD순고딕"/>
                <a:ea typeface="TDTD순고딕"/>
                <a:cs typeface="TDTD순고딕"/>
                <a:sym typeface="TDTD순고딕"/>
              </a:rPr>
              <a:t>장애를 미리 경험하고, 복구 과정을 평가하는 훈련 시스템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62417" y="3899331"/>
            <a:ext cx="1848457" cy="54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4"/>
              </a:lnSpc>
            </a:pPr>
            <a:r>
              <a:rPr lang="en-US" sz="3515" b="true">
                <a:solidFill>
                  <a:srgbClr val="03045E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장애 발생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62417" y="6930231"/>
            <a:ext cx="1848457" cy="54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4"/>
              </a:lnSpc>
            </a:pPr>
            <a:r>
              <a:rPr lang="en-US" sz="3515" b="true">
                <a:solidFill>
                  <a:srgbClr val="6375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모니터링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49504" y="6930231"/>
            <a:ext cx="850521" cy="54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4"/>
              </a:lnSpc>
            </a:pPr>
            <a:r>
              <a:rPr lang="en-US" sz="3515" b="true">
                <a:solidFill>
                  <a:srgbClr val="98AA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복구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12467" y="3899331"/>
            <a:ext cx="2314161" cy="54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4"/>
              </a:lnSpc>
            </a:pPr>
            <a:r>
              <a:rPr lang="en-US" sz="3515" b="true">
                <a:solidFill>
                  <a:srgbClr val="C5DBF8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개선 피드백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396" y="3714684"/>
            <a:ext cx="6823471" cy="1305902"/>
            <a:chOff x="0" y="0"/>
            <a:chExt cx="1872735" cy="3584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2735" cy="358411"/>
            </a:xfrm>
            <a:custGeom>
              <a:avLst/>
              <a:gdLst/>
              <a:ahLst/>
              <a:cxnLst/>
              <a:rect r="r" b="b" t="t" l="l"/>
              <a:pathLst>
                <a:path h="358411" w="1872735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274C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02392" y="3714684"/>
            <a:ext cx="7127212" cy="1305902"/>
            <a:chOff x="0" y="0"/>
            <a:chExt cx="1956098" cy="3584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56098" cy="358411"/>
            </a:xfrm>
            <a:custGeom>
              <a:avLst/>
              <a:gdLst/>
              <a:ahLst/>
              <a:cxnLst/>
              <a:rect r="r" b="b" t="t" l="l"/>
              <a:pathLst>
                <a:path h="358411" w="1956098">
                  <a:moveTo>
                    <a:pt x="1752898" y="0"/>
                  </a:moveTo>
                  <a:cubicBezTo>
                    <a:pt x="1865122" y="0"/>
                    <a:pt x="1956098" y="80233"/>
                    <a:pt x="1956098" y="179206"/>
                  </a:cubicBezTo>
                  <a:cubicBezTo>
                    <a:pt x="1956098" y="278178"/>
                    <a:pt x="1865122" y="358411"/>
                    <a:pt x="1752898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956098" cy="434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8396" y="5797320"/>
            <a:ext cx="6823471" cy="1305902"/>
            <a:chOff x="0" y="0"/>
            <a:chExt cx="1872735" cy="3584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72735" cy="358411"/>
            </a:xfrm>
            <a:custGeom>
              <a:avLst/>
              <a:gdLst/>
              <a:ahLst/>
              <a:cxnLst/>
              <a:rect r="r" b="b" t="t" l="l"/>
              <a:pathLst>
                <a:path h="358411" w="1872735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274C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02392" y="5797320"/>
            <a:ext cx="7127212" cy="1305902"/>
            <a:chOff x="0" y="0"/>
            <a:chExt cx="1956098" cy="3584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6098" cy="358411"/>
            </a:xfrm>
            <a:custGeom>
              <a:avLst/>
              <a:gdLst/>
              <a:ahLst/>
              <a:cxnLst/>
              <a:rect r="r" b="b" t="t" l="l"/>
              <a:pathLst>
                <a:path h="358411" w="1956098">
                  <a:moveTo>
                    <a:pt x="1752898" y="0"/>
                  </a:moveTo>
                  <a:cubicBezTo>
                    <a:pt x="1865122" y="0"/>
                    <a:pt x="1956098" y="80233"/>
                    <a:pt x="1956098" y="179206"/>
                  </a:cubicBezTo>
                  <a:cubicBezTo>
                    <a:pt x="1956098" y="278178"/>
                    <a:pt x="1865122" y="358411"/>
                    <a:pt x="1752898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956098" cy="434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8396" y="7880160"/>
            <a:ext cx="6823471" cy="1305902"/>
            <a:chOff x="0" y="0"/>
            <a:chExt cx="1872735" cy="3584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2735" cy="358411"/>
            </a:xfrm>
            <a:custGeom>
              <a:avLst/>
              <a:gdLst/>
              <a:ahLst/>
              <a:cxnLst/>
              <a:rect r="r" b="b" t="t" l="l"/>
              <a:pathLst>
                <a:path h="358411" w="1872735">
                  <a:moveTo>
                    <a:pt x="1669535" y="0"/>
                  </a:moveTo>
                  <a:cubicBezTo>
                    <a:pt x="1781759" y="0"/>
                    <a:pt x="1872735" y="80233"/>
                    <a:pt x="1872735" y="179206"/>
                  </a:cubicBezTo>
                  <a:cubicBezTo>
                    <a:pt x="1872735" y="278178"/>
                    <a:pt x="1781759" y="358411"/>
                    <a:pt x="1669535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6274C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872735" cy="434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02392" y="7880160"/>
            <a:ext cx="7127212" cy="1305902"/>
            <a:chOff x="0" y="0"/>
            <a:chExt cx="1956098" cy="3584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6098" cy="358411"/>
            </a:xfrm>
            <a:custGeom>
              <a:avLst/>
              <a:gdLst/>
              <a:ahLst/>
              <a:cxnLst/>
              <a:rect r="r" b="b" t="t" l="l"/>
              <a:pathLst>
                <a:path h="358411" w="1956098">
                  <a:moveTo>
                    <a:pt x="1752898" y="0"/>
                  </a:moveTo>
                  <a:cubicBezTo>
                    <a:pt x="1865122" y="0"/>
                    <a:pt x="1956098" y="80233"/>
                    <a:pt x="1956098" y="179206"/>
                  </a:cubicBezTo>
                  <a:cubicBezTo>
                    <a:pt x="1956098" y="278178"/>
                    <a:pt x="1865122" y="358411"/>
                    <a:pt x="1752898" y="358411"/>
                  </a:cubicBezTo>
                  <a:lnTo>
                    <a:pt x="203200" y="358411"/>
                  </a:lnTo>
                  <a:cubicBezTo>
                    <a:pt x="90976" y="358411"/>
                    <a:pt x="0" y="278178"/>
                    <a:pt x="0" y="179206"/>
                  </a:cubicBezTo>
                  <a:cubicBezTo>
                    <a:pt x="0" y="802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274C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956098" cy="434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8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161229" y="4060728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3" y="0"/>
                </a:lnTo>
                <a:lnTo>
                  <a:pt x="393043" y="587611"/>
                </a:lnTo>
                <a:lnTo>
                  <a:pt x="0" y="5876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61229" y="6156466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3" y="0"/>
                </a:lnTo>
                <a:lnTo>
                  <a:pt x="393043" y="587610"/>
                </a:lnTo>
                <a:lnTo>
                  <a:pt x="0" y="58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61229" y="8230148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3" y="0"/>
                </a:lnTo>
                <a:lnTo>
                  <a:pt x="393043" y="587610"/>
                </a:lnTo>
                <a:lnTo>
                  <a:pt x="0" y="58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768187" y="4060728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2" y="0"/>
                </a:lnTo>
                <a:lnTo>
                  <a:pt x="393042" y="587611"/>
                </a:lnTo>
                <a:lnTo>
                  <a:pt x="0" y="5876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768187" y="6156466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2" y="0"/>
                </a:lnTo>
                <a:lnTo>
                  <a:pt x="393042" y="587610"/>
                </a:lnTo>
                <a:lnTo>
                  <a:pt x="0" y="587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68187" y="8230148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2" y="0"/>
                </a:lnTo>
                <a:lnTo>
                  <a:pt x="393042" y="587610"/>
                </a:lnTo>
                <a:lnTo>
                  <a:pt x="0" y="587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375144" y="4060728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3" y="0"/>
                </a:lnTo>
                <a:lnTo>
                  <a:pt x="393043" y="587611"/>
                </a:lnTo>
                <a:lnTo>
                  <a:pt x="0" y="587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375144" y="6156466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3" y="0"/>
                </a:lnTo>
                <a:lnTo>
                  <a:pt x="393043" y="587610"/>
                </a:lnTo>
                <a:lnTo>
                  <a:pt x="0" y="587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375144" y="8230148"/>
            <a:ext cx="393042" cy="587611"/>
          </a:xfrm>
          <a:custGeom>
            <a:avLst/>
            <a:gdLst/>
            <a:ahLst/>
            <a:cxnLst/>
            <a:rect r="r" b="b" t="t" l="l"/>
            <a:pathLst>
              <a:path h="587611" w="393042">
                <a:moveTo>
                  <a:pt x="0" y="0"/>
                </a:moveTo>
                <a:lnTo>
                  <a:pt x="393043" y="0"/>
                </a:lnTo>
                <a:lnTo>
                  <a:pt x="393043" y="587610"/>
                </a:lnTo>
                <a:lnTo>
                  <a:pt x="0" y="587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00210" y="3883937"/>
            <a:ext cx="5673412" cy="70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1"/>
              </a:lnSpc>
            </a:pPr>
            <a:r>
              <a:rPr lang="en-US" b="true" sz="3070" spc="3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장애 대응 정확도 향상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60267" y="3883937"/>
            <a:ext cx="5673412" cy="70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1"/>
              </a:lnSpc>
            </a:pPr>
            <a:r>
              <a:rPr lang="en-US" b="true" sz="3070" spc="3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프로세스별 복구 속도 개선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00210" y="5977594"/>
            <a:ext cx="5673412" cy="70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1"/>
              </a:lnSpc>
            </a:pPr>
            <a:r>
              <a:rPr lang="en-US" b="true" sz="3070" spc="3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평균 복구 시간 단축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60267" y="5977594"/>
            <a:ext cx="5673412" cy="70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1"/>
              </a:lnSpc>
            </a:pPr>
            <a:r>
              <a:rPr lang="en-US" b="true" sz="3070" spc="3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중단 손실 최소화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00210" y="8053356"/>
            <a:ext cx="5673412" cy="70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1"/>
              </a:lnSpc>
            </a:pPr>
            <a:r>
              <a:rPr lang="en-US" b="true" sz="3070" spc="30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장애 대응 메뉴얼 고도화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72752" y="8053356"/>
            <a:ext cx="6248442" cy="70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1"/>
              </a:lnSpc>
            </a:pPr>
            <a:r>
              <a:rPr lang="en-US" b="true" sz="3070" spc="30">
                <a:solidFill>
                  <a:srgbClr val="FFFFF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지속적인 품질 개선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4562" y="2683654"/>
            <a:ext cx="5673412" cy="6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3070" spc="3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목표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소개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4411" y="4246699"/>
            <a:ext cx="1793601" cy="1793601"/>
          </a:xfrm>
          <a:custGeom>
            <a:avLst/>
            <a:gdLst/>
            <a:ahLst/>
            <a:cxnLst/>
            <a:rect r="r" b="b" t="t" l="l"/>
            <a:pathLst>
              <a:path h="1793601" w="1793601">
                <a:moveTo>
                  <a:pt x="0" y="0"/>
                </a:moveTo>
                <a:lnTo>
                  <a:pt x="1793601" y="0"/>
                </a:lnTo>
                <a:lnTo>
                  <a:pt x="1793601" y="1793602"/>
                </a:lnTo>
                <a:lnTo>
                  <a:pt x="0" y="1793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6024437" y="4246699"/>
            <a:ext cx="0" cy="3590363"/>
          </a:xfrm>
          <a:prstGeom prst="line">
            <a:avLst/>
          </a:prstGeom>
          <a:ln cap="flat" w="19050">
            <a:solidFill>
              <a:srgbClr val="6274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838661" y="4246699"/>
            <a:ext cx="0" cy="3590363"/>
          </a:xfrm>
          <a:prstGeom prst="line">
            <a:avLst/>
          </a:prstGeom>
          <a:ln cap="flat" w="19050">
            <a:solidFill>
              <a:srgbClr val="6274C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495950" y="4182915"/>
            <a:ext cx="2508900" cy="2274077"/>
          </a:xfrm>
          <a:custGeom>
            <a:avLst/>
            <a:gdLst/>
            <a:ahLst/>
            <a:cxnLst/>
            <a:rect r="r" b="b" t="t" l="l"/>
            <a:pathLst>
              <a:path h="2274077" w="2508900">
                <a:moveTo>
                  <a:pt x="0" y="0"/>
                </a:moveTo>
                <a:lnTo>
                  <a:pt x="2508900" y="0"/>
                </a:lnTo>
                <a:lnTo>
                  <a:pt x="2508900" y="2274077"/>
                </a:lnTo>
                <a:lnTo>
                  <a:pt x="0" y="2274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08490" y="4006462"/>
            <a:ext cx="2626983" cy="2626983"/>
          </a:xfrm>
          <a:custGeom>
            <a:avLst/>
            <a:gdLst/>
            <a:ahLst/>
            <a:cxnLst/>
            <a:rect r="r" b="b" t="t" l="l"/>
            <a:pathLst>
              <a:path h="2626983" w="2626983">
                <a:moveTo>
                  <a:pt x="0" y="0"/>
                </a:moveTo>
                <a:lnTo>
                  <a:pt x="2626983" y="0"/>
                </a:lnTo>
                <a:lnTo>
                  <a:pt x="2626983" y="2626983"/>
                </a:lnTo>
                <a:lnTo>
                  <a:pt x="0" y="2626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7632" y="6644167"/>
            <a:ext cx="3687159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b="true" sz="3200" spc="32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시뮬레이션 환경 관리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67585" y="6644167"/>
            <a:ext cx="3327929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b="true" sz="3200" spc="32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모니터링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86436" y="6644167"/>
            <a:ext cx="3327929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b="true" sz="3200" spc="32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장애 발생 및 대응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4562" y="2683654"/>
            <a:ext cx="5673412" cy="6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3070" spc="3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핵심 기능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4562" y="409575"/>
            <a:ext cx="1396179" cy="126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0"/>
              </a:lnSpc>
            </a:pPr>
            <a:r>
              <a:rPr lang="en-US" sz="5500" spc="1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562" y="130683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소개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46894"/>
            <a:ext cx="13138625" cy="8540106"/>
          </a:xfrm>
          <a:custGeom>
            <a:avLst/>
            <a:gdLst/>
            <a:ahLst/>
            <a:cxnLst/>
            <a:rect r="r" b="b" t="t" l="l"/>
            <a:pathLst>
              <a:path h="8540106" w="13138625">
                <a:moveTo>
                  <a:pt x="0" y="0"/>
                </a:moveTo>
                <a:lnTo>
                  <a:pt x="13138625" y="0"/>
                </a:lnTo>
                <a:lnTo>
                  <a:pt x="13138625" y="8540106"/>
                </a:lnTo>
                <a:lnTo>
                  <a:pt x="0" y="8540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11003" y="1009650"/>
            <a:ext cx="4592021" cy="50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 spc="32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40741" y="46101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소개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94946" y="6283163"/>
            <a:ext cx="4393054" cy="330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MTTD</a:t>
            </a: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(Mean Time To Detect)</a:t>
            </a:r>
          </a:p>
          <a:p>
            <a:pPr algn="l">
              <a:lnSpc>
                <a:spcPts val="2862"/>
              </a:lnSpc>
            </a:pP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 </a:t>
            </a: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장애 탐지까지 소요된 시간 </a:t>
            </a:r>
          </a:p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MTTR</a:t>
            </a: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(Mean Time To Recovery)</a:t>
            </a:r>
          </a:p>
          <a:p>
            <a:pPr algn="l">
              <a:lnSpc>
                <a:spcPts val="2862"/>
              </a:lnSpc>
            </a:pP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: 복구 완료까지 소요된 시간</a:t>
            </a:r>
          </a:p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조치 로그</a:t>
            </a:r>
          </a:p>
          <a:p>
            <a:pPr algn="l">
              <a:lnSpc>
                <a:spcPts val="2862"/>
              </a:lnSpc>
            </a:pP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</a:t>
            </a: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실행된 복구 단계 및 순서</a:t>
            </a:r>
          </a:p>
          <a:p>
            <a:pPr algn="l" marL="388620" indent="-194310" lvl="1">
              <a:lnSpc>
                <a:spcPts val="2862"/>
              </a:lnSpc>
              <a:buFont typeface="Arial"/>
              <a:buChar char="•"/>
            </a:pPr>
            <a:r>
              <a:rPr lang="en-US" b="true" sz="1800" spc="18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SLO </a:t>
            </a: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(Service Level Objective)</a:t>
            </a:r>
          </a:p>
          <a:p>
            <a:pPr algn="l">
              <a:lnSpc>
                <a:spcPts val="2862"/>
              </a:lnSpc>
            </a:pP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   </a:t>
            </a:r>
            <a:r>
              <a:rPr lang="en-US" sz="1800" spc="18">
                <a:solidFill>
                  <a:srgbClr val="000000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: 복구 후 정상화 여부를 그래프로 시각화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187" y="2860737"/>
            <a:ext cx="15685625" cy="6901675"/>
          </a:xfrm>
          <a:custGeom>
            <a:avLst/>
            <a:gdLst/>
            <a:ahLst/>
            <a:cxnLst/>
            <a:rect r="r" b="b" t="t" l="l"/>
            <a:pathLst>
              <a:path h="6901675" w="15685625">
                <a:moveTo>
                  <a:pt x="0" y="0"/>
                </a:moveTo>
                <a:lnTo>
                  <a:pt x="15685626" y="0"/>
                </a:lnTo>
                <a:lnTo>
                  <a:pt x="15685626" y="6901675"/>
                </a:lnTo>
                <a:lnTo>
                  <a:pt x="0" y="6901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40741" y="43815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소개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772557"/>
            <a:ext cx="5673412" cy="6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3070" spc="3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사용자 시나리오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729" y="2869840"/>
            <a:ext cx="17969592" cy="6702447"/>
          </a:xfrm>
          <a:custGeom>
            <a:avLst/>
            <a:gdLst/>
            <a:ahLst/>
            <a:cxnLst/>
            <a:rect r="r" b="b" t="t" l="l"/>
            <a:pathLst>
              <a:path h="6702447" w="17969592">
                <a:moveTo>
                  <a:pt x="0" y="0"/>
                </a:moveTo>
                <a:lnTo>
                  <a:pt x="17969592" y="0"/>
                </a:lnTo>
                <a:lnTo>
                  <a:pt x="17969592" y="6702446"/>
                </a:lnTo>
                <a:lnTo>
                  <a:pt x="0" y="6702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58" t="0" r="-2074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562" y="1800709"/>
            <a:ext cx="5673412" cy="6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3070" spc="3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기능 명세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40741" y="43815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구성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7006" y="2384440"/>
            <a:ext cx="12893987" cy="6641663"/>
          </a:xfrm>
          <a:custGeom>
            <a:avLst/>
            <a:gdLst/>
            <a:ahLst/>
            <a:cxnLst/>
            <a:rect r="r" b="b" t="t" l="l"/>
            <a:pathLst>
              <a:path h="6641663" w="12893987">
                <a:moveTo>
                  <a:pt x="0" y="0"/>
                </a:moveTo>
                <a:lnTo>
                  <a:pt x="12893988" y="0"/>
                </a:lnTo>
                <a:lnTo>
                  <a:pt x="12893988" y="6641663"/>
                </a:lnTo>
                <a:lnTo>
                  <a:pt x="0" y="6641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40741" y="43815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아키텍처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0741" y="1824036"/>
            <a:ext cx="13006803" cy="7999184"/>
          </a:xfrm>
          <a:custGeom>
            <a:avLst/>
            <a:gdLst/>
            <a:ahLst/>
            <a:cxnLst/>
            <a:rect r="r" b="b" t="t" l="l"/>
            <a:pathLst>
              <a:path h="7999184" w="13006803">
                <a:moveTo>
                  <a:pt x="0" y="0"/>
                </a:moveTo>
                <a:lnTo>
                  <a:pt x="13006803" y="0"/>
                </a:lnTo>
                <a:lnTo>
                  <a:pt x="13006803" y="7999184"/>
                </a:lnTo>
                <a:lnTo>
                  <a:pt x="0" y="7999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40741" y="43815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아키텍처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39177" y="786235"/>
            <a:ext cx="5673412" cy="6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3070" spc="3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ERD 설계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562" y="3794420"/>
            <a:ext cx="16446358" cy="3618199"/>
          </a:xfrm>
          <a:custGeom>
            <a:avLst/>
            <a:gdLst/>
            <a:ahLst/>
            <a:cxnLst/>
            <a:rect r="r" b="b" t="t" l="l"/>
            <a:pathLst>
              <a:path h="3618199" w="16446358">
                <a:moveTo>
                  <a:pt x="0" y="0"/>
                </a:moveTo>
                <a:lnTo>
                  <a:pt x="16446358" y="0"/>
                </a:lnTo>
                <a:lnTo>
                  <a:pt x="16446358" y="3618199"/>
                </a:lnTo>
                <a:lnTo>
                  <a:pt x="0" y="3618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40741" y="438150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서비스 아키텍처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800709"/>
            <a:ext cx="5673412" cy="6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3070" spc="3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API 명세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95334" y="198273"/>
            <a:ext cx="10836154" cy="9890453"/>
          </a:xfrm>
          <a:custGeom>
            <a:avLst/>
            <a:gdLst/>
            <a:ahLst/>
            <a:cxnLst/>
            <a:rect r="r" b="b" t="t" l="l"/>
            <a:pathLst>
              <a:path h="9890453" w="10836154">
                <a:moveTo>
                  <a:pt x="0" y="0"/>
                </a:moveTo>
                <a:lnTo>
                  <a:pt x="10836154" y="0"/>
                </a:lnTo>
                <a:lnTo>
                  <a:pt x="10836154" y="9890454"/>
                </a:lnTo>
                <a:lnTo>
                  <a:pt x="0" y="9890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31560" y="4608935"/>
            <a:ext cx="16163702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9"/>
              </a:lnSpc>
              <a:spcBef>
                <a:spcPct val="0"/>
              </a:spcBef>
            </a:pPr>
            <a:r>
              <a:rPr lang="en-US" b="true" sz="3999" spc="3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“장애가</a:t>
            </a:r>
            <a:r>
              <a:rPr lang="en-US" b="true" sz="3999" spc="3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나기 전에 징후를 감지, 안전하게 </a:t>
            </a:r>
            <a:r>
              <a:rPr lang="en-US" b="true" sz="3999" spc="39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자동 복구</a:t>
            </a:r>
            <a:r>
              <a:rPr lang="en-US" b="true" sz="3999" spc="39">
                <a:solidFill>
                  <a:srgbClr val="000000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까지 수행하는 서비스”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562" y="1420443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마무리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4562" y="2526948"/>
            <a:ext cx="5673412" cy="6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3070" spc="3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확장성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791982" y="7153871"/>
            <a:ext cx="2185022" cy="2185022"/>
            <a:chOff x="0" y="0"/>
            <a:chExt cx="13884457" cy="13884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342874" y="-11125"/>
              <a:ext cx="14570202" cy="13906705"/>
            </a:xfrm>
            <a:custGeom>
              <a:avLst/>
              <a:gdLst/>
              <a:ahLst/>
              <a:cxnLst/>
              <a:rect r="r" b="b" t="t" l="l"/>
              <a:pathLst>
                <a:path h="13906705" w="14570202">
                  <a:moveTo>
                    <a:pt x="7285101" y="11125"/>
                  </a:moveTo>
                  <a:cubicBezTo>
                    <a:pt x="4797487" y="0"/>
                    <a:pt x="2494061" y="1320743"/>
                    <a:pt x="1247030" y="3473245"/>
                  </a:cubicBezTo>
                  <a:cubicBezTo>
                    <a:pt x="0" y="5625748"/>
                    <a:pt x="0" y="8280957"/>
                    <a:pt x="1247030" y="10433459"/>
                  </a:cubicBezTo>
                  <a:cubicBezTo>
                    <a:pt x="2494061" y="12585962"/>
                    <a:pt x="4797487" y="13906705"/>
                    <a:pt x="7285101" y="13895580"/>
                  </a:cubicBezTo>
                  <a:cubicBezTo>
                    <a:pt x="9772716" y="13906705"/>
                    <a:pt x="12076142" y="12585962"/>
                    <a:pt x="13323172" y="10433459"/>
                  </a:cubicBezTo>
                  <a:cubicBezTo>
                    <a:pt x="14570202" y="8280957"/>
                    <a:pt x="14570202" y="5625748"/>
                    <a:pt x="13323172" y="3473245"/>
                  </a:cubicBezTo>
                  <a:cubicBezTo>
                    <a:pt x="12076142" y="1320743"/>
                    <a:pt x="9772716" y="0"/>
                    <a:pt x="7285101" y="11125"/>
                  </a:cubicBezTo>
                  <a:close/>
                </a:path>
              </a:pathLst>
            </a:custGeom>
            <a:solidFill>
              <a:srgbClr val="53535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-254486" y="73238"/>
              <a:ext cx="14393428" cy="13737980"/>
            </a:xfrm>
            <a:custGeom>
              <a:avLst/>
              <a:gdLst/>
              <a:ahLst/>
              <a:cxnLst/>
              <a:rect r="r" b="b" t="t" l="l"/>
              <a:pathLst>
                <a:path h="13737980" w="14393428">
                  <a:moveTo>
                    <a:pt x="7196713" y="10990"/>
                  </a:moveTo>
                  <a:cubicBezTo>
                    <a:pt x="4739280" y="0"/>
                    <a:pt x="2463801" y="1304718"/>
                    <a:pt x="1231900" y="3431105"/>
                  </a:cubicBezTo>
                  <a:cubicBezTo>
                    <a:pt x="0" y="5557493"/>
                    <a:pt x="0" y="8180486"/>
                    <a:pt x="1231900" y="10306873"/>
                  </a:cubicBezTo>
                  <a:cubicBezTo>
                    <a:pt x="2463801" y="12433261"/>
                    <a:pt x="4739280" y="13737979"/>
                    <a:pt x="7196713" y="13726989"/>
                  </a:cubicBezTo>
                  <a:cubicBezTo>
                    <a:pt x="9654147" y="13737979"/>
                    <a:pt x="11929626" y="12433261"/>
                    <a:pt x="13161527" y="10306873"/>
                  </a:cubicBezTo>
                  <a:cubicBezTo>
                    <a:pt x="14393428" y="8180486"/>
                    <a:pt x="14393428" y="5557493"/>
                    <a:pt x="13161527" y="3431105"/>
                  </a:cubicBezTo>
                  <a:cubicBezTo>
                    <a:pt x="11929626" y="1304718"/>
                    <a:pt x="9654147" y="0"/>
                    <a:pt x="7196713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t="0" r="223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8145456" y="7115771"/>
            <a:ext cx="2223122" cy="2223122"/>
            <a:chOff x="0" y="0"/>
            <a:chExt cx="13884457" cy="13884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342874" y="-11125"/>
              <a:ext cx="14570202" cy="13906705"/>
            </a:xfrm>
            <a:custGeom>
              <a:avLst/>
              <a:gdLst/>
              <a:ahLst/>
              <a:cxnLst/>
              <a:rect r="r" b="b" t="t" l="l"/>
              <a:pathLst>
                <a:path h="13906705" w="14570202">
                  <a:moveTo>
                    <a:pt x="7285101" y="11125"/>
                  </a:moveTo>
                  <a:cubicBezTo>
                    <a:pt x="4797487" y="0"/>
                    <a:pt x="2494061" y="1320743"/>
                    <a:pt x="1247030" y="3473245"/>
                  </a:cubicBezTo>
                  <a:cubicBezTo>
                    <a:pt x="0" y="5625748"/>
                    <a:pt x="0" y="8280957"/>
                    <a:pt x="1247030" y="10433459"/>
                  </a:cubicBezTo>
                  <a:cubicBezTo>
                    <a:pt x="2494061" y="12585962"/>
                    <a:pt x="4797487" y="13906705"/>
                    <a:pt x="7285101" y="13895580"/>
                  </a:cubicBezTo>
                  <a:cubicBezTo>
                    <a:pt x="9772716" y="13906705"/>
                    <a:pt x="12076142" y="12585962"/>
                    <a:pt x="13323172" y="10433459"/>
                  </a:cubicBezTo>
                  <a:cubicBezTo>
                    <a:pt x="14570202" y="8280957"/>
                    <a:pt x="14570202" y="5625748"/>
                    <a:pt x="13323172" y="3473245"/>
                  </a:cubicBezTo>
                  <a:cubicBezTo>
                    <a:pt x="12076142" y="1320743"/>
                    <a:pt x="9772716" y="0"/>
                    <a:pt x="7285101" y="11125"/>
                  </a:cubicBezTo>
                  <a:close/>
                </a:path>
              </a:pathLst>
            </a:custGeom>
            <a:solidFill>
              <a:srgbClr val="53535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254486" y="73238"/>
              <a:ext cx="14393428" cy="13737980"/>
            </a:xfrm>
            <a:custGeom>
              <a:avLst/>
              <a:gdLst/>
              <a:ahLst/>
              <a:cxnLst/>
              <a:rect r="r" b="b" t="t" l="l"/>
              <a:pathLst>
                <a:path h="13737980" w="14393428">
                  <a:moveTo>
                    <a:pt x="7196713" y="10990"/>
                  </a:moveTo>
                  <a:cubicBezTo>
                    <a:pt x="4739280" y="0"/>
                    <a:pt x="2463801" y="1304718"/>
                    <a:pt x="1231900" y="3431105"/>
                  </a:cubicBezTo>
                  <a:cubicBezTo>
                    <a:pt x="0" y="5557493"/>
                    <a:pt x="0" y="8180486"/>
                    <a:pt x="1231900" y="10306873"/>
                  </a:cubicBezTo>
                  <a:cubicBezTo>
                    <a:pt x="2463801" y="12433261"/>
                    <a:pt x="4739280" y="13737979"/>
                    <a:pt x="7196713" y="13726989"/>
                  </a:cubicBezTo>
                  <a:cubicBezTo>
                    <a:pt x="9654147" y="13737979"/>
                    <a:pt x="11929626" y="12433261"/>
                    <a:pt x="13161527" y="10306873"/>
                  </a:cubicBezTo>
                  <a:cubicBezTo>
                    <a:pt x="14393428" y="8180486"/>
                    <a:pt x="14393428" y="5557493"/>
                    <a:pt x="13161527" y="3431105"/>
                  </a:cubicBezTo>
                  <a:cubicBezTo>
                    <a:pt x="11929626" y="1304718"/>
                    <a:pt x="9654147" y="0"/>
                    <a:pt x="7196713" y="10990"/>
                  </a:cubicBezTo>
                  <a:close/>
                </a:path>
              </a:pathLst>
            </a:custGeom>
            <a:blipFill>
              <a:blip r:embed="rId3"/>
              <a:stretch>
                <a:fillRect l="223" t="0" r="223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277883" y="3341839"/>
            <a:ext cx="2266652" cy="2266652"/>
            <a:chOff x="0" y="0"/>
            <a:chExt cx="13884457" cy="13884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342874" y="-11125"/>
              <a:ext cx="14570202" cy="13906705"/>
            </a:xfrm>
            <a:custGeom>
              <a:avLst/>
              <a:gdLst/>
              <a:ahLst/>
              <a:cxnLst/>
              <a:rect r="r" b="b" t="t" l="l"/>
              <a:pathLst>
                <a:path h="13906705" w="14570202">
                  <a:moveTo>
                    <a:pt x="7285101" y="11125"/>
                  </a:moveTo>
                  <a:cubicBezTo>
                    <a:pt x="4797487" y="0"/>
                    <a:pt x="2494061" y="1320743"/>
                    <a:pt x="1247030" y="3473245"/>
                  </a:cubicBezTo>
                  <a:cubicBezTo>
                    <a:pt x="0" y="5625748"/>
                    <a:pt x="0" y="8280957"/>
                    <a:pt x="1247030" y="10433459"/>
                  </a:cubicBezTo>
                  <a:cubicBezTo>
                    <a:pt x="2494061" y="12585962"/>
                    <a:pt x="4797487" y="13906705"/>
                    <a:pt x="7285101" y="13895580"/>
                  </a:cubicBezTo>
                  <a:cubicBezTo>
                    <a:pt x="9772716" y="13906705"/>
                    <a:pt x="12076142" y="12585962"/>
                    <a:pt x="13323172" y="10433459"/>
                  </a:cubicBezTo>
                  <a:cubicBezTo>
                    <a:pt x="14570202" y="8280957"/>
                    <a:pt x="14570202" y="5625748"/>
                    <a:pt x="13323172" y="3473245"/>
                  </a:cubicBezTo>
                  <a:cubicBezTo>
                    <a:pt x="12076142" y="1320743"/>
                    <a:pt x="9772716" y="0"/>
                    <a:pt x="7285101" y="11125"/>
                  </a:cubicBezTo>
                  <a:close/>
                </a:path>
              </a:pathLst>
            </a:custGeom>
            <a:solidFill>
              <a:srgbClr val="53535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-254486" y="73238"/>
              <a:ext cx="14393428" cy="13737980"/>
            </a:xfrm>
            <a:custGeom>
              <a:avLst/>
              <a:gdLst/>
              <a:ahLst/>
              <a:cxnLst/>
              <a:rect r="r" b="b" t="t" l="l"/>
              <a:pathLst>
                <a:path h="13737980" w="14393428">
                  <a:moveTo>
                    <a:pt x="7196713" y="10990"/>
                  </a:moveTo>
                  <a:cubicBezTo>
                    <a:pt x="4739280" y="0"/>
                    <a:pt x="2463801" y="1304718"/>
                    <a:pt x="1231900" y="3431105"/>
                  </a:cubicBezTo>
                  <a:cubicBezTo>
                    <a:pt x="0" y="5557493"/>
                    <a:pt x="0" y="8180486"/>
                    <a:pt x="1231900" y="10306873"/>
                  </a:cubicBezTo>
                  <a:cubicBezTo>
                    <a:pt x="2463801" y="12433261"/>
                    <a:pt x="4739280" y="13737979"/>
                    <a:pt x="7196713" y="13726989"/>
                  </a:cubicBezTo>
                  <a:cubicBezTo>
                    <a:pt x="9654147" y="13737979"/>
                    <a:pt x="11929626" y="12433261"/>
                    <a:pt x="13161527" y="10306873"/>
                  </a:cubicBezTo>
                  <a:cubicBezTo>
                    <a:pt x="14393428" y="8180486"/>
                    <a:pt x="14393428" y="5557493"/>
                    <a:pt x="13161527" y="3431105"/>
                  </a:cubicBezTo>
                  <a:cubicBezTo>
                    <a:pt x="11929626" y="1304718"/>
                    <a:pt x="9654147" y="0"/>
                    <a:pt x="7196713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t="0" r="223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297135" y="3341839"/>
            <a:ext cx="2266652" cy="2266652"/>
            <a:chOff x="0" y="0"/>
            <a:chExt cx="13884457" cy="13884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342874" y="-11125"/>
              <a:ext cx="14570202" cy="13906705"/>
            </a:xfrm>
            <a:custGeom>
              <a:avLst/>
              <a:gdLst/>
              <a:ahLst/>
              <a:cxnLst/>
              <a:rect r="r" b="b" t="t" l="l"/>
              <a:pathLst>
                <a:path h="13906705" w="14570202">
                  <a:moveTo>
                    <a:pt x="7285101" y="11125"/>
                  </a:moveTo>
                  <a:cubicBezTo>
                    <a:pt x="4797487" y="0"/>
                    <a:pt x="2494061" y="1320743"/>
                    <a:pt x="1247030" y="3473245"/>
                  </a:cubicBezTo>
                  <a:cubicBezTo>
                    <a:pt x="0" y="5625748"/>
                    <a:pt x="0" y="8280957"/>
                    <a:pt x="1247030" y="10433459"/>
                  </a:cubicBezTo>
                  <a:cubicBezTo>
                    <a:pt x="2494061" y="12585962"/>
                    <a:pt x="4797487" y="13906705"/>
                    <a:pt x="7285101" y="13895580"/>
                  </a:cubicBezTo>
                  <a:cubicBezTo>
                    <a:pt x="9772716" y="13906705"/>
                    <a:pt x="12076142" y="12585962"/>
                    <a:pt x="13323172" y="10433459"/>
                  </a:cubicBezTo>
                  <a:cubicBezTo>
                    <a:pt x="14570202" y="8280957"/>
                    <a:pt x="14570202" y="5625748"/>
                    <a:pt x="13323172" y="3473245"/>
                  </a:cubicBezTo>
                  <a:cubicBezTo>
                    <a:pt x="12076142" y="1320743"/>
                    <a:pt x="9772716" y="0"/>
                    <a:pt x="7285101" y="11125"/>
                  </a:cubicBezTo>
                  <a:close/>
                </a:path>
              </a:pathLst>
            </a:custGeom>
            <a:solidFill>
              <a:srgbClr val="53535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-254486" y="73238"/>
              <a:ext cx="14393428" cy="13737980"/>
            </a:xfrm>
            <a:custGeom>
              <a:avLst/>
              <a:gdLst/>
              <a:ahLst/>
              <a:cxnLst/>
              <a:rect r="r" b="b" t="t" l="l"/>
              <a:pathLst>
                <a:path h="13737980" w="14393428">
                  <a:moveTo>
                    <a:pt x="7196713" y="10990"/>
                  </a:moveTo>
                  <a:cubicBezTo>
                    <a:pt x="4739280" y="0"/>
                    <a:pt x="2463801" y="1304718"/>
                    <a:pt x="1231900" y="3431105"/>
                  </a:cubicBezTo>
                  <a:cubicBezTo>
                    <a:pt x="0" y="5557493"/>
                    <a:pt x="0" y="8180486"/>
                    <a:pt x="1231900" y="10306873"/>
                  </a:cubicBezTo>
                  <a:cubicBezTo>
                    <a:pt x="2463801" y="12433261"/>
                    <a:pt x="4739280" y="13737979"/>
                    <a:pt x="7196713" y="13726989"/>
                  </a:cubicBezTo>
                  <a:cubicBezTo>
                    <a:pt x="9654147" y="13737979"/>
                    <a:pt x="11929626" y="12433261"/>
                    <a:pt x="13161527" y="10306873"/>
                  </a:cubicBezTo>
                  <a:cubicBezTo>
                    <a:pt x="14393428" y="8180486"/>
                    <a:pt x="14393428" y="5557493"/>
                    <a:pt x="13161527" y="3431105"/>
                  </a:cubicBezTo>
                  <a:cubicBezTo>
                    <a:pt x="11929626" y="1304718"/>
                    <a:pt x="9654147" y="0"/>
                    <a:pt x="7196713" y="10990"/>
                  </a:cubicBezTo>
                  <a:close/>
                </a:path>
              </a:pathLst>
            </a:custGeom>
            <a:blipFill>
              <a:blip r:embed="rId5"/>
              <a:stretch>
                <a:fillRect l="223" t="0" r="223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2128017" y="3373350"/>
            <a:ext cx="2266652" cy="2266652"/>
            <a:chOff x="0" y="0"/>
            <a:chExt cx="13884457" cy="138844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342874" y="-11125"/>
              <a:ext cx="14570202" cy="13906705"/>
            </a:xfrm>
            <a:custGeom>
              <a:avLst/>
              <a:gdLst/>
              <a:ahLst/>
              <a:cxnLst/>
              <a:rect r="r" b="b" t="t" l="l"/>
              <a:pathLst>
                <a:path h="13906705" w="14570202">
                  <a:moveTo>
                    <a:pt x="7285101" y="11125"/>
                  </a:moveTo>
                  <a:cubicBezTo>
                    <a:pt x="4797487" y="0"/>
                    <a:pt x="2494061" y="1320743"/>
                    <a:pt x="1247030" y="3473245"/>
                  </a:cubicBezTo>
                  <a:cubicBezTo>
                    <a:pt x="0" y="5625748"/>
                    <a:pt x="0" y="8280957"/>
                    <a:pt x="1247030" y="10433459"/>
                  </a:cubicBezTo>
                  <a:cubicBezTo>
                    <a:pt x="2494061" y="12585962"/>
                    <a:pt x="4797487" y="13906705"/>
                    <a:pt x="7285101" y="13895580"/>
                  </a:cubicBezTo>
                  <a:cubicBezTo>
                    <a:pt x="9772716" y="13906705"/>
                    <a:pt x="12076142" y="12585962"/>
                    <a:pt x="13323172" y="10433459"/>
                  </a:cubicBezTo>
                  <a:cubicBezTo>
                    <a:pt x="14570202" y="8280957"/>
                    <a:pt x="14570202" y="5625748"/>
                    <a:pt x="13323172" y="3473245"/>
                  </a:cubicBezTo>
                  <a:cubicBezTo>
                    <a:pt x="12076142" y="1320743"/>
                    <a:pt x="9772716" y="0"/>
                    <a:pt x="7285101" y="11125"/>
                  </a:cubicBezTo>
                  <a:close/>
                </a:path>
              </a:pathLst>
            </a:custGeom>
            <a:solidFill>
              <a:srgbClr val="53535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-254486" y="73238"/>
              <a:ext cx="14393428" cy="13737980"/>
            </a:xfrm>
            <a:custGeom>
              <a:avLst/>
              <a:gdLst/>
              <a:ahLst/>
              <a:cxnLst/>
              <a:rect r="r" b="b" t="t" l="l"/>
              <a:pathLst>
                <a:path h="13737980" w="14393428">
                  <a:moveTo>
                    <a:pt x="7196713" y="10990"/>
                  </a:moveTo>
                  <a:cubicBezTo>
                    <a:pt x="4739280" y="0"/>
                    <a:pt x="2463801" y="1304718"/>
                    <a:pt x="1231900" y="3431105"/>
                  </a:cubicBezTo>
                  <a:cubicBezTo>
                    <a:pt x="0" y="5557493"/>
                    <a:pt x="0" y="8180486"/>
                    <a:pt x="1231900" y="10306873"/>
                  </a:cubicBezTo>
                  <a:cubicBezTo>
                    <a:pt x="2463801" y="12433261"/>
                    <a:pt x="4739280" y="13737979"/>
                    <a:pt x="7196713" y="13726989"/>
                  </a:cubicBezTo>
                  <a:cubicBezTo>
                    <a:pt x="9654147" y="13737979"/>
                    <a:pt x="11929626" y="12433261"/>
                    <a:pt x="13161527" y="10306873"/>
                  </a:cubicBezTo>
                  <a:cubicBezTo>
                    <a:pt x="14393428" y="8180486"/>
                    <a:pt x="14393428" y="5557493"/>
                    <a:pt x="13161527" y="3431105"/>
                  </a:cubicBezTo>
                  <a:cubicBezTo>
                    <a:pt x="11929626" y="1304718"/>
                    <a:pt x="9654147" y="0"/>
                    <a:pt x="7196713" y="10990"/>
                  </a:cubicBezTo>
                  <a:close/>
                </a:path>
              </a:pathLst>
            </a:custGeom>
            <a:blipFill>
              <a:blip r:embed="rId6"/>
              <a:stretch>
                <a:fillRect l="223" t="0" r="223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6197088" y="3310328"/>
            <a:ext cx="2329675" cy="2329675"/>
            <a:chOff x="0" y="0"/>
            <a:chExt cx="13884457" cy="138844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42874" y="-11125"/>
              <a:ext cx="14570202" cy="13906705"/>
            </a:xfrm>
            <a:custGeom>
              <a:avLst/>
              <a:gdLst/>
              <a:ahLst/>
              <a:cxnLst/>
              <a:rect r="r" b="b" t="t" l="l"/>
              <a:pathLst>
                <a:path h="13906705" w="14570202">
                  <a:moveTo>
                    <a:pt x="7285101" y="11125"/>
                  </a:moveTo>
                  <a:cubicBezTo>
                    <a:pt x="4797487" y="0"/>
                    <a:pt x="2494061" y="1320743"/>
                    <a:pt x="1247030" y="3473245"/>
                  </a:cubicBezTo>
                  <a:cubicBezTo>
                    <a:pt x="0" y="5625748"/>
                    <a:pt x="0" y="8280957"/>
                    <a:pt x="1247030" y="10433459"/>
                  </a:cubicBezTo>
                  <a:cubicBezTo>
                    <a:pt x="2494061" y="12585962"/>
                    <a:pt x="4797487" y="13906705"/>
                    <a:pt x="7285101" y="13895580"/>
                  </a:cubicBezTo>
                  <a:cubicBezTo>
                    <a:pt x="9772716" y="13906705"/>
                    <a:pt x="12076142" y="12585962"/>
                    <a:pt x="13323172" y="10433459"/>
                  </a:cubicBezTo>
                  <a:cubicBezTo>
                    <a:pt x="14570202" y="8280957"/>
                    <a:pt x="14570202" y="5625748"/>
                    <a:pt x="13323172" y="3473245"/>
                  </a:cubicBezTo>
                  <a:cubicBezTo>
                    <a:pt x="12076142" y="1320743"/>
                    <a:pt x="9772716" y="0"/>
                    <a:pt x="7285101" y="11125"/>
                  </a:cubicBezTo>
                  <a:close/>
                </a:path>
              </a:pathLst>
            </a:custGeom>
            <a:solidFill>
              <a:srgbClr val="535356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-254486" y="73238"/>
              <a:ext cx="14393428" cy="13737980"/>
            </a:xfrm>
            <a:custGeom>
              <a:avLst/>
              <a:gdLst/>
              <a:ahLst/>
              <a:cxnLst/>
              <a:rect r="r" b="b" t="t" l="l"/>
              <a:pathLst>
                <a:path h="13737980" w="14393428">
                  <a:moveTo>
                    <a:pt x="7196713" y="10990"/>
                  </a:moveTo>
                  <a:cubicBezTo>
                    <a:pt x="4739280" y="0"/>
                    <a:pt x="2463801" y="1304718"/>
                    <a:pt x="1231900" y="3431105"/>
                  </a:cubicBezTo>
                  <a:cubicBezTo>
                    <a:pt x="0" y="5557493"/>
                    <a:pt x="0" y="8180486"/>
                    <a:pt x="1231900" y="10306873"/>
                  </a:cubicBezTo>
                  <a:cubicBezTo>
                    <a:pt x="2463801" y="12433261"/>
                    <a:pt x="4739280" y="13737979"/>
                    <a:pt x="7196713" y="13726989"/>
                  </a:cubicBezTo>
                  <a:cubicBezTo>
                    <a:pt x="9654147" y="13737979"/>
                    <a:pt x="11929626" y="12433261"/>
                    <a:pt x="13161527" y="10306873"/>
                  </a:cubicBezTo>
                  <a:cubicBezTo>
                    <a:pt x="14393428" y="8180486"/>
                    <a:pt x="14393428" y="5557493"/>
                    <a:pt x="13161527" y="3431105"/>
                  </a:cubicBezTo>
                  <a:cubicBezTo>
                    <a:pt x="11929626" y="1304718"/>
                    <a:pt x="9654147" y="0"/>
                    <a:pt x="7196713" y="10990"/>
                  </a:cubicBezTo>
                  <a:close/>
                </a:path>
              </a:pathLst>
            </a:custGeom>
            <a:blipFill>
              <a:blip r:embed="rId7"/>
              <a:stretch>
                <a:fillRect l="223" t="0" r="223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32628" y="5716356"/>
            <a:ext cx="3057429" cy="74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5"/>
              </a:lnSpc>
            </a:pPr>
            <a:r>
              <a:rPr lang="en-US" b="true" sz="2899" spc="217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지민우(BE,기획)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97088" y="5724283"/>
            <a:ext cx="2292088" cy="74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5"/>
              </a:lnSpc>
            </a:pPr>
            <a:r>
              <a:rPr lang="en-US" b="true" sz="2899" spc="217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이경민(BE)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78876" y="5724283"/>
            <a:ext cx="2292088" cy="74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5"/>
              </a:lnSpc>
            </a:pPr>
            <a:r>
              <a:rPr lang="en-US" b="true" sz="2899" spc="217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최현서(BE)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61664" y="5716356"/>
            <a:ext cx="2292088" cy="74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5"/>
              </a:lnSpc>
            </a:pPr>
            <a:r>
              <a:rPr lang="en-US" b="true" sz="2899" spc="217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정회성(BE)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91982" y="9203670"/>
            <a:ext cx="2292088" cy="74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5"/>
              </a:lnSpc>
            </a:pPr>
            <a:r>
              <a:rPr lang="en-US" b="true" sz="2899" spc="217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정다연(FE)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10973" y="9213195"/>
            <a:ext cx="2292088" cy="74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5"/>
              </a:lnSpc>
            </a:pPr>
            <a:r>
              <a:rPr lang="en-US" b="true" sz="2899" spc="217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유지우(FE)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15020" y="9203670"/>
            <a:ext cx="2292088" cy="74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5"/>
              </a:lnSpc>
            </a:pPr>
            <a:r>
              <a:rPr lang="en-US" b="true" sz="2899" spc="217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조성민(FE)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2315020" y="7087953"/>
            <a:ext cx="2250940" cy="2250940"/>
            <a:chOff x="0" y="0"/>
            <a:chExt cx="13884457" cy="1388445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-342874" y="-11125"/>
              <a:ext cx="14570202" cy="13906705"/>
            </a:xfrm>
            <a:custGeom>
              <a:avLst/>
              <a:gdLst/>
              <a:ahLst/>
              <a:cxnLst/>
              <a:rect r="r" b="b" t="t" l="l"/>
              <a:pathLst>
                <a:path h="13906705" w="14570202">
                  <a:moveTo>
                    <a:pt x="7285101" y="11125"/>
                  </a:moveTo>
                  <a:cubicBezTo>
                    <a:pt x="4797487" y="0"/>
                    <a:pt x="2494061" y="1320743"/>
                    <a:pt x="1247030" y="3473245"/>
                  </a:cubicBezTo>
                  <a:cubicBezTo>
                    <a:pt x="0" y="5625748"/>
                    <a:pt x="0" y="8280957"/>
                    <a:pt x="1247030" y="10433459"/>
                  </a:cubicBezTo>
                  <a:cubicBezTo>
                    <a:pt x="2494061" y="12585962"/>
                    <a:pt x="4797487" y="13906705"/>
                    <a:pt x="7285101" y="13895580"/>
                  </a:cubicBezTo>
                  <a:cubicBezTo>
                    <a:pt x="9772716" y="13906705"/>
                    <a:pt x="12076142" y="12585962"/>
                    <a:pt x="13323172" y="10433459"/>
                  </a:cubicBezTo>
                  <a:cubicBezTo>
                    <a:pt x="14570202" y="8280957"/>
                    <a:pt x="14570202" y="5625748"/>
                    <a:pt x="13323172" y="3473245"/>
                  </a:cubicBezTo>
                  <a:cubicBezTo>
                    <a:pt x="12076142" y="1320743"/>
                    <a:pt x="9772716" y="0"/>
                    <a:pt x="7285101" y="11125"/>
                  </a:cubicBezTo>
                  <a:close/>
                </a:path>
              </a:pathLst>
            </a:custGeom>
            <a:solidFill>
              <a:srgbClr val="535356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-254486" y="73238"/>
              <a:ext cx="14393428" cy="13737980"/>
            </a:xfrm>
            <a:custGeom>
              <a:avLst/>
              <a:gdLst/>
              <a:ahLst/>
              <a:cxnLst/>
              <a:rect r="r" b="b" t="t" l="l"/>
              <a:pathLst>
                <a:path h="13737980" w="14393428">
                  <a:moveTo>
                    <a:pt x="7196713" y="10990"/>
                  </a:moveTo>
                  <a:cubicBezTo>
                    <a:pt x="4739280" y="0"/>
                    <a:pt x="2463801" y="1304718"/>
                    <a:pt x="1231900" y="3431105"/>
                  </a:cubicBezTo>
                  <a:cubicBezTo>
                    <a:pt x="0" y="5557493"/>
                    <a:pt x="0" y="8180486"/>
                    <a:pt x="1231900" y="10306873"/>
                  </a:cubicBezTo>
                  <a:cubicBezTo>
                    <a:pt x="2463801" y="12433261"/>
                    <a:pt x="4739280" y="13737979"/>
                    <a:pt x="7196713" y="13726989"/>
                  </a:cubicBezTo>
                  <a:cubicBezTo>
                    <a:pt x="9654147" y="13737979"/>
                    <a:pt x="11929626" y="12433261"/>
                    <a:pt x="13161527" y="10306873"/>
                  </a:cubicBezTo>
                  <a:cubicBezTo>
                    <a:pt x="14393428" y="8180486"/>
                    <a:pt x="14393428" y="5557493"/>
                    <a:pt x="13161527" y="3431105"/>
                  </a:cubicBezTo>
                  <a:cubicBezTo>
                    <a:pt x="11929626" y="1304718"/>
                    <a:pt x="9654147" y="0"/>
                    <a:pt x="7196713" y="10990"/>
                  </a:cubicBezTo>
                  <a:close/>
                </a:path>
              </a:pathLst>
            </a:custGeom>
            <a:blipFill>
              <a:blip r:embed="rId8"/>
              <a:stretch>
                <a:fillRect l="223" t="0" r="223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44562" y="419100"/>
            <a:ext cx="1396179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5499" spc="131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4562" y="1420443"/>
            <a:ext cx="5301543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5200" b="true">
                <a:solidFill>
                  <a:srgbClr val="252525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마무리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4562" y="2526948"/>
            <a:ext cx="5673412" cy="69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3070" spc="30" b="true">
                <a:solidFill>
                  <a:srgbClr val="6274CF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역할 분담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274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3197" y="3841114"/>
            <a:ext cx="9803018" cy="130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9"/>
              </a:lnSpc>
              <a:spcBef>
                <a:spcPct val="0"/>
              </a:spcBef>
            </a:pPr>
            <a:r>
              <a:rPr lang="en-US" b="true" sz="7599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343197" y="5417290"/>
            <a:ext cx="1560160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039752" y="6310842"/>
            <a:ext cx="6248248" cy="3976158"/>
          </a:xfrm>
          <a:custGeom>
            <a:avLst/>
            <a:gdLst/>
            <a:ahLst/>
            <a:cxnLst/>
            <a:rect r="r" b="b" t="t" l="l"/>
            <a:pathLst>
              <a:path h="3976158" w="6248248">
                <a:moveTo>
                  <a:pt x="0" y="0"/>
                </a:moveTo>
                <a:lnTo>
                  <a:pt x="6248248" y="0"/>
                </a:lnTo>
                <a:lnTo>
                  <a:pt x="6248248" y="3976158"/>
                </a:lnTo>
                <a:lnTo>
                  <a:pt x="0" y="39761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21038" y="3330575"/>
            <a:ext cx="512366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9FAF5"/>
                </a:solidFill>
                <a:latin typeface="Cabin"/>
                <a:ea typeface="Cabin"/>
                <a:cs typeface="Cabin"/>
                <a:sym typeface="Cabin"/>
              </a:rPr>
              <a:t>LG CNS INSPIRE CAMP 3TH  3조 금융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DAG3pKzdIOc</dc:identifier>
  <dcterms:modified xsi:type="dcterms:W3CDTF">2011-08-01T06:04:30Z</dcterms:modified>
  <cp:revision>1</cp:revision>
  <dc:title>LG CNS 해커톤 발표자료</dc:title>
</cp:coreProperties>
</file>