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0" r:id="rId3"/>
    <p:sldId id="264" r:id="rId4"/>
    <p:sldId id="272" r:id="rId5"/>
    <p:sldId id="257" r:id="rId6"/>
    <p:sldId id="277" r:id="rId7"/>
    <p:sldId id="282" r:id="rId8"/>
    <p:sldId id="278" r:id="rId9"/>
    <p:sldId id="280" r:id="rId10"/>
    <p:sldId id="281" r:id="rId11"/>
    <p:sldId id="274" r:id="rId12"/>
    <p:sldId id="286" r:id="rId13"/>
    <p:sldId id="284" r:id="rId14"/>
    <p:sldId id="279" r:id="rId15"/>
    <p:sldId id="285" r:id="rId16"/>
    <p:sldId id="275" r:id="rId17"/>
    <p:sldId id="263" r:id="rId18"/>
    <p:sldId id="268" r:id="rId19"/>
  </p:sldIdLst>
  <p:sldSz cx="24384000" cy="13716000"/>
  <p:notesSz cx="6858000" cy="9144000"/>
  <p:embeddedFontLst>
    <p:embeddedFont>
      <p:font typeface="Pretendard Bold" panose="020B0600000101010101" charset="-127"/>
      <p:bold r:id="rId20"/>
    </p:embeddedFont>
    <p:embeddedFont>
      <p:font typeface="Pretendard Light" panose="020B0600000101010101" charset="-127"/>
      <p:regular r:id="rId21"/>
    </p:embeddedFont>
    <p:embeddedFont>
      <p:font typeface="Pretendard Medium" panose="020B0600000101010101" charset="-127"/>
      <p:bold r:id="rId22"/>
    </p:embeddedFont>
    <p:embeddedFont>
      <p:font typeface="Pretendard Regular" panose="020B0600000101010101" charset="-127"/>
      <p:regular r:id="rId23"/>
    </p:embeddedFont>
    <p:embeddedFont>
      <p:font typeface="Pretendard SemiBold" panose="020B0600000101010101" charset="-127"/>
      <p:bold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8E4"/>
    <a:srgbClr val="FFFFFF"/>
    <a:srgbClr val="717171"/>
    <a:srgbClr val="B4B4B4"/>
    <a:srgbClr val="9B9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24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13.png"/><Relationship Id="rId1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12" Type="http://schemas.openxmlformats.org/officeDocument/2006/relationships/image" Target="../media/image2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jpeg"/><Relationship Id="rId5" Type="http://schemas.openxmlformats.org/officeDocument/2006/relationships/image" Target="../media/image20.png"/><Relationship Id="rId15" Type="http://schemas.openxmlformats.org/officeDocument/2006/relationships/image" Target="../media/image9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1.png"/><Relationship Id="rId18" Type="http://schemas.openxmlformats.org/officeDocument/2006/relationships/image" Target="../media/image34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12" Type="http://schemas.openxmlformats.org/officeDocument/2006/relationships/image" Target="../media/image30.png"/><Relationship Id="rId17" Type="http://schemas.openxmlformats.org/officeDocument/2006/relationships/image" Target="../media/image33.jpeg"/><Relationship Id="rId2" Type="http://schemas.openxmlformats.org/officeDocument/2006/relationships/image" Target="../media/image8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microsoft.com/office/2007/relationships/hdphoto" Target="../media/hdphoto4.wdp"/><Relationship Id="rId10" Type="http://schemas.openxmlformats.org/officeDocument/2006/relationships/image" Target="../media/image27.jpeg"/><Relationship Id="rId4" Type="http://schemas.openxmlformats.org/officeDocument/2006/relationships/image" Target="../media/image5.png"/><Relationship Id="rId9" Type="http://schemas.openxmlformats.org/officeDocument/2006/relationships/image" Target="../media/image26.jpeg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12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19.png"/><Relationship Id="rId5" Type="http://schemas.openxmlformats.org/officeDocument/2006/relationships/image" Target="../media/image9.png"/><Relationship Id="rId10" Type="http://schemas.openxmlformats.org/officeDocument/2006/relationships/image" Target="../media/image34.png"/><Relationship Id="rId4" Type="http://schemas.openxmlformats.org/officeDocument/2006/relationships/image" Target="../media/image5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1.jpe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12" Type="http://schemas.openxmlformats.org/officeDocument/2006/relationships/image" Target="../media/image4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35.png"/><Relationship Id="rId5" Type="http://schemas.openxmlformats.org/officeDocument/2006/relationships/image" Target="../media/image9.png"/><Relationship Id="rId10" Type="http://schemas.openxmlformats.org/officeDocument/2006/relationships/image" Target="../media/image39.png"/><Relationship Id="rId4" Type="http://schemas.openxmlformats.org/officeDocument/2006/relationships/image" Target="../media/image5.png"/><Relationship Id="rId9" Type="http://schemas.microsoft.com/office/2007/relationships/hdphoto" Target="../media/hdphoto5.wdp"/><Relationship Id="rId14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.png"/><Relationship Id="rId7" Type="http://schemas.openxmlformats.org/officeDocument/2006/relationships/hyperlink" Target="https://jiminu.shop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.png"/><Relationship Id="rId7" Type="http://schemas.openxmlformats.org/officeDocument/2006/relationships/image" Target="../media/image4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3.png"/><Relationship Id="rId7" Type="http://schemas.openxmlformats.org/officeDocument/2006/relationships/image" Target="../media/image5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3.png"/><Relationship Id="rId7" Type="http://schemas.openxmlformats.org/officeDocument/2006/relationships/image" Target="../media/image5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3.png"/><Relationship Id="rId7" Type="http://schemas.openxmlformats.org/officeDocument/2006/relationships/image" Target="../media/image5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9.png"/><Relationship Id="rId10" Type="http://schemas.openxmlformats.org/officeDocument/2006/relationships/image" Target="../media/image62.png"/><Relationship Id="rId4" Type="http://schemas.openxmlformats.org/officeDocument/2006/relationships/image" Target="../media/image5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15800" y="-10452100"/>
            <a:ext cx="139700" cy="2442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153900" y="571500"/>
            <a:ext cx="139700" cy="24422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527800" y="10401300"/>
            <a:ext cx="2616200" cy="469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sz="2666" b="0" i="0" u="none" strike="noStrike" spc="-133" dirty="0" err="1">
                <a:solidFill>
                  <a:srgbClr val="606060"/>
                </a:solidFill>
                <a:ea typeface="Pretendard Bold"/>
              </a:rPr>
              <a:t>ㅣ</a:t>
            </a:r>
            <a:r>
              <a:rPr lang="en-US" sz="2666" b="0" i="0" u="none" strike="noStrike" spc="-133" dirty="0">
                <a:solidFill>
                  <a:srgbClr val="606060"/>
                </a:solidFill>
                <a:latin typeface="Pretendard Bold"/>
              </a:rPr>
              <a:t> </a:t>
            </a:r>
            <a:r>
              <a:rPr lang="ko-KR" altLang="en-US" sz="2666" spc="-133" dirty="0">
                <a:solidFill>
                  <a:srgbClr val="606060"/>
                </a:solidFill>
                <a:latin typeface="Pretendard Bold"/>
                <a:ea typeface="Pretendard Bold"/>
              </a:rPr>
              <a:t>발표자 </a:t>
            </a:r>
            <a:r>
              <a:rPr lang="en-US" sz="2666" b="0" i="0" u="none" strike="noStrike" spc="-133" dirty="0">
                <a:solidFill>
                  <a:srgbClr val="606060"/>
                </a:solidFill>
                <a:latin typeface="Pretendard Regular"/>
              </a:rPr>
              <a:t> </a:t>
            </a:r>
            <a:r>
              <a:rPr lang="ko-KR" altLang="en-US" sz="2400" b="0" i="0" u="none" strike="noStrike" spc="-133" dirty="0">
                <a:solidFill>
                  <a:srgbClr val="606060"/>
                </a:solidFill>
                <a:ea typeface="Pretendard Regular"/>
              </a:rPr>
              <a:t>지민우</a:t>
            </a:r>
            <a:endParaRPr lang="ko-KR" sz="2666" b="0" i="0" u="none" strike="noStrike" spc="-133" dirty="0">
              <a:solidFill>
                <a:srgbClr val="606060"/>
              </a:solidFill>
              <a:ea typeface="Pretendard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769600" y="10401300"/>
            <a:ext cx="4318000" cy="469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sz="2666" b="0" i="0" u="none" strike="noStrike" spc="-133" dirty="0" err="1">
                <a:solidFill>
                  <a:srgbClr val="606060"/>
                </a:solidFill>
                <a:ea typeface="Pretendard Bold"/>
              </a:rPr>
              <a:t>ㅣ</a:t>
            </a:r>
            <a:r>
              <a:rPr lang="en-US" sz="2666" b="0" i="0" u="none" strike="noStrike" spc="-133" dirty="0">
                <a:solidFill>
                  <a:srgbClr val="606060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sz="2666" spc="-133" dirty="0">
                <a:solidFill>
                  <a:srgbClr val="606060"/>
                </a:solidFill>
                <a:latin typeface="Pretendard Bold" panose="020B0600000101010101" charset="-127"/>
                <a:ea typeface="Pretendard Bold" panose="020B0600000101010101" charset="-127"/>
              </a:rPr>
              <a:t>1</a:t>
            </a:r>
            <a:r>
              <a:rPr lang="ko-KR" altLang="en-US" sz="2666" b="0" i="0" u="none" strike="noStrike" spc="-133" dirty="0">
                <a:solidFill>
                  <a:srgbClr val="606060"/>
                </a:solidFill>
                <a:latin typeface="Pretendard Bold" panose="020B0600000101010101" charset="-127"/>
                <a:ea typeface="Pretendard Bold" panose="020B0600000101010101" charset="-127"/>
              </a:rPr>
              <a:t>조</a:t>
            </a:r>
            <a:endParaRPr lang="en-US" altLang="ko-KR" sz="2666" spc="-133" dirty="0">
              <a:solidFill>
                <a:srgbClr val="60606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770100" y="10401300"/>
            <a:ext cx="7632700" cy="469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sz="2666" b="0" i="0" u="none" strike="noStrike" spc="-133" dirty="0" err="1">
                <a:solidFill>
                  <a:srgbClr val="606060"/>
                </a:solidFill>
                <a:ea typeface="Pretendard Bold"/>
              </a:rPr>
              <a:t>ㅣ</a:t>
            </a:r>
            <a:r>
              <a:rPr lang="en-US" sz="2666" b="0" i="0" u="none" strike="noStrike" spc="-133" dirty="0">
                <a:solidFill>
                  <a:srgbClr val="606060"/>
                </a:solidFill>
                <a:latin typeface="Pretendard Bold"/>
              </a:rPr>
              <a:t> </a:t>
            </a:r>
            <a:r>
              <a:rPr lang="ko-KR" altLang="en-US" sz="2666" b="0" i="0" u="none" strike="noStrike" spc="-133" dirty="0">
                <a:solidFill>
                  <a:srgbClr val="606060"/>
                </a:solidFill>
                <a:latin typeface="Pretendard Bold"/>
                <a:ea typeface="Pretendard Bold"/>
              </a:rPr>
              <a:t>조원  </a:t>
            </a:r>
            <a:r>
              <a:rPr lang="ko-KR" altLang="en-US" sz="2400" b="0" i="0" u="none" strike="noStrike" spc="-133" dirty="0">
                <a:solidFill>
                  <a:srgbClr val="60606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이현진</a:t>
            </a:r>
            <a:r>
              <a:rPr lang="en-US" altLang="ko-KR" sz="2400" b="0" i="0" u="none" strike="noStrike" spc="-133" dirty="0">
                <a:solidFill>
                  <a:srgbClr val="606060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400" b="0" i="0" u="none" strike="noStrike" spc="-133" dirty="0" err="1">
                <a:solidFill>
                  <a:srgbClr val="60606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장준희</a:t>
            </a:r>
            <a:r>
              <a:rPr lang="en-US" altLang="ko-KR" sz="2400" spc="-133" dirty="0">
                <a:solidFill>
                  <a:srgbClr val="606060"/>
                </a:solidFill>
                <a:latin typeface="Pretendard Regular" panose="020B0600000101010101" charset="-127"/>
                <a:ea typeface="Pretendard Regular" panose="020B0600000101010101" charset="-127"/>
              </a:rPr>
              <a:t>,</a:t>
            </a:r>
            <a:r>
              <a:rPr lang="ko-KR" altLang="en-US" sz="2400" spc="-133" dirty="0">
                <a:solidFill>
                  <a:srgbClr val="606060"/>
                </a:solidFill>
                <a:latin typeface="Pretendard Regular" panose="020B0600000101010101" charset="-127"/>
                <a:ea typeface="Pretendard Regular" panose="020B0600000101010101" charset="-127"/>
              </a:rPr>
              <a:t> 정영호</a:t>
            </a:r>
            <a:r>
              <a:rPr lang="en-US" altLang="ko-KR" sz="2400" spc="-133" dirty="0">
                <a:solidFill>
                  <a:srgbClr val="606060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400" spc="-133" dirty="0">
                <a:solidFill>
                  <a:srgbClr val="60606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조성민</a:t>
            </a:r>
            <a:r>
              <a:rPr lang="en-US" altLang="ko-KR" sz="2400" spc="-133" dirty="0">
                <a:solidFill>
                  <a:srgbClr val="606060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400" spc="-133" dirty="0">
                <a:solidFill>
                  <a:srgbClr val="606060"/>
                </a:solidFill>
                <a:latin typeface="Pretendard Regular" panose="020B0600000101010101" charset="-127"/>
                <a:ea typeface="Pretendard Regular" panose="020B0600000101010101" charset="-127"/>
              </a:rPr>
              <a:t>지민우</a:t>
            </a:r>
            <a:r>
              <a:rPr lang="en-US" altLang="ko-KR" sz="2400" spc="-133" dirty="0">
                <a:solidFill>
                  <a:srgbClr val="606060"/>
                </a:solidFill>
                <a:latin typeface="Pretendard Regular" panose="020B0600000101010101" charset="-127"/>
                <a:ea typeface="Pretendard Regular" panose="020B0600000101010101" charset="-127"/>
              </a:rPr>
              <a:t>, </a:t>
            </a:r>
            <a:r>
              <a:rPr lang="ko-KR" altLang="en-US" sz="2400" spc="-133" dirty="0">
                <a:solidFill>
                  <a:srgbClr val="606060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하지현</a:t>
            </a:r>
            <a:endParaRPr lang="en" sz="2666" b="0" i="0" u="none" strike="noStrike" spc="-133" dirty="0">
              <a:solidFill>
                <a:srgbClr val="60606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073400" y="5461000"/>
            <a:ext cx="18224500" cy="1930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6000" b="0" i="0" u="none" strike="noStrike" dirty="0" err="1">
                <a:solidFill>
                  <a:srgbClr val="202020"/>
                </a:solidFill>
                <a:latin typeface="Pretendard Bold" panose="020B0600000101010101" charset="-127"/>
                <a:ea typeface="Pretendard Bold" panose="020B0600000101010101" charset="-127"/>
              </a:rPr>
              <a:t>Tmap</a:t>
            </a:r>
            <a:r>
              <a:rPr lang="en-US" altLang="ko-KR" sz="6000" b="0" i="0" u="none" strike="noStrike" dirty="0">
                <a:solidFill>
                  <a:srgbClr val="202020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6000" b="0" i="0" u="none" strike="noStrike" dirty="0" err="1">
                <a:solidFill>
                  <a:srgbClr val="202020"/>
                </a:solidFill>
                <a:latin typeface="Pretendard Bold" panose="020B0600000101010101" charset="-127"/>
                <a:ea typeface="Pretendard Bold" panose="020B0600000101010101" charset="-127"/>
              </a:rPr>
              <a:t>api</a:t>
            </a:r>
            <a:r>
              <a:rPr lang="ko-KR" altLang="en-US" sz="6000" b="0" i="0" u="none" strike="noStrike" dirty="0">
                <a:solidFill>
                  <a:srgbClr val="202020"/>
                </a:solidFill>
                <a:latin typeface="Pretendard Bold" panose="020B0600000101010101" charset="-127"/>
                <a:ea typeface="Pretendard Bold" panose="020B0600000101010101" charset="-127"/>
              </a:rPr>
              <a:t>를 활용한 경로 탐색 기반 휴게소 커뮤니티 시스템</a:t>
            </a:r>
            <a:endParaRPr lang="en-US" altLang="ko-KR" sz="6000" b="0" i="0" u="none" strike="noStrike" dirty="0">
              <a:solidFill>
                <a:srgbClr val="202020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116199"/>
              </a:lnSpc>
            </a:pPr>
            <a:r>
              <a:rPr lang="en-US" altLang="ko-KR" sz="6000" dirty="0">
                <a:solidFill>
                  <a:srgbClr val="202020"/>
                </a:solidFill>
                <a:latin typeface="Pretendard Bold" panose="020B0600000101010101" charset="-127"/>
                <a:ea typeface="Pretendard Bold" panose="020B0600000101010101" charset="-127"/>
              </a:rPr>
              <a:t>- MSA </a:t>
            </a:r>
            <a:r>
              <a:rPr lang="ko-KR" altLang="en-US" sz="6000" dirty="0">
                <a:solidFill>
                  <a:srgbClr val="202020"/>
                </a:solidFill>
                <a:latin typeface="Pretendard Bold" panose="020B0600000101010101" charset="-127"/>
                <a:ea typeface="Pretendard Bold" panose="020B0600000101010101" charset="-127"/>
              </a:rPr>
              <a:t>전환 및 </a:t>
            </a:r>
            <a:r>
              <a:rPr lang="en-US" altLang="ko-KR" sz="6000" dirty="0">
                <a:solidFill>
                  <a:srgbClr val="202020"/>
                </a:solidFill>
                <a:latin typeface="Pretendard Bold" panose="020B0600000101010101" charset="-127"/>
                <a:ea typeface="Pretendard Bold" panose="020B0600000101010101" charset="-127"/>
              </a:rPr>
              <a:t>Cloud CI/CD </a:t>
            </a:r>
            <a:r>
              <a:rPr lang="ko-KR" altLang="en-US" sz="6000" dirty="0">
                <a:solidFill>
                  <a:srgbClr val="202020"/>
                </a:solidFill>
                <a:latin typeface="Pretendard Bold" panose="020B0600000101010101" charset="-127"/>
                <a:ea typeface="Pretendard Bold" panose="020B0600000101010101" charset="-127"/>
              </a:rPr>
              <a:t>구축</a:t>
            </a:r>
            <a:endParaRPr lang="en" sz="6000" dirty="0">
              <a:solidFill>
                <a:srgbClr val="202020"/>
              </a:solidFill>
              <a:ea typeface="Pretendard Bold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9E085E56-93A3-15FB-DEBF-48488CAAE544}"/>
              </a:ext>
            </a:extLst>
          </p:cNvPr>
          <p:cNvSpPr txBox="1"/>
          <p:nvPr/>
        </p:nvSpPr>
        <p:spPr>
          <a:xfrm>
            <a:off x="22402800" y="12026900"/>
            <a:ext cx="1612900" cy="469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-US" altLang="ko-KR" sz="2666" b="0" i="0" u="none" strike="noStrike" spc="-133" dirty="0">
                <a:solidFill>
                  <a:srgbClr val="606060"/>
                </a:solidFill>
                <a:ea typeface="Pretendard Bold"/>
              </a:rPr>
              <a:t>2025.10.29</a:t>
            </a:r>
            <a:endParaRPr lang="en" sz="2666" b="0" i="0" u="none" strike="noStrike" spc="-133" dirty="0">
              <a:solidFill>
                <a:srgbClr val="60606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3556000" y="660400"/>
            <a:ext cx="34036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787400" y="330199"/>
            <a:ext cx="4648200" cy="804481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600" dirty="0">
                <a:solidFill>
                  <a:srgbClr val="202020"/>
                </a:solidFill>
                <a:ea typeface="Pretendard Medium"/>
              </a:rPr>
              <a:t>목차</a:t>
            </a:r>
            <a:endParaRPr lang="ko-KR" sz="3600" b="0" i="0" u="none" strike="noStrike" dirty="0">
              <a:solidFill>
                <a:srgbClr val="202020"/>
              </a:solidFill>
              <a:ea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dirty="0">
                <a:solidFill>
                  <a:srgbClr val="202020"/>
                </a:solidFill>
                <a:latin typeface="Pretendard Bold"/>
              </a:rPr>
              <a:t>1</a:t>
            </a:r>
            <a:endParaRPr lang="en" sz="2266" b="0" i="0" u="none" strike="noStrike" dirty="0">
              <a:solidFill>
                <a:srgbClr val="202020"/>
              </a:solidFill>
              <a:latin typeface="Pretendard Bold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0C989A45-735D-8769-409D-25BB2E79F946}"/>
              </a:ext>
            </a:extLst>
          </p:cNvPr>
          <p:cNvGrpSpPr/>
          <p:nvPr/>
        </p:nvGrpSpPr>
        <p:grpSpPr>
          <a:xfrm>
            <a:off x="1219200" y="1943100"/>
            <a:ext cx="21932900" cy="3086100"/>
            <a:chOff x="1219200" y="1943100"/>
            <a:chExt cx="21932900" cy="308610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6">
              <a:alphaModFix amt="26000"/>
            </a:blip>
            <a:stretch>
              <a:fillRect/>
            </a:stretch>
          </p:blipFill>
          <p:spPr>
            <a:xfrm>
              <a:off x="1219200" y="2895600"/>
              <a:ext cx="21932900" cy="508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1282700" y="1943100"/>
              <a:ext cx="6388100" cy="14097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800" b="0" i="0" u="none" strike="noStrike" dirty="0">
                  <a:solidFill>
                    <a:srgbClr val="202020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1</a:t>
              </a:r>
              <a:r>
                <a:rPr lang="en-US" altLang="ko-KR" sz="4800" dirty="0">
                  <a:solidFill>
                    <a:srgbClr val="202020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.</a:t>
              </a:r>
              <a:r>
                <a:rPr lang="ko-KR" altLang="en-US" sz="4800" dirty="0">
                  <a:solidFill>
                    <a:srgbClr val="202020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 이전 프로젝트 리뷰</a:t>
              </a:r>
              <a:endParaRPr lang="ko-KR" sz="4800" b="0" i="0" u="none" strike="noStrike" dirty="0">
                <a:solidFill>
                  <a:srgbClr val="202020"/>
                </a:solidFill>
                <a:ea typeface="Pretendard Bold"/>
              </a:endParaRPr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F4A8700E-DD10-AEDB-BC67-2CA930E6F7F4}"/>
                </a:ext>
              </a:extLst>
            </p:cNvPr>
            <p:cNvSpPr txBox="1"/>
            <p:nvPr/>
          </p:nvSpPr>
          <p:spPr>
            <a:xfrm>
              <a:off x="2260600" y="2915411"/>
              <a:ext cx="9702800" cy="2113789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32800"/>
                </a:lnSpc>
              </a:pPr>
              <a:r>
                <a:rPr lang="en-US" altLang="ko-KR" sz="3200" b="0" i="0" u="none" strike="noStrike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1.1   </a:t>
              </a:r>
              <a:r>
                <a:rPr lang="ko-KR" altLang="en-US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아이디어</a:t>
              </a:r>
              <a:endParaRPr lang="en-US" altLang="ko-KR" sz="3200" spc="-147" dirty="0">
                <a:solidFill>
                  <a:srgbClr val="C4A784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lvl="0" algn="l">
                <a:lnSpc>
                  <a:spcPct val="132800"/>
                </a:lnSpc>
              </a:pPr>
              <a:r>
                <a:rPr lang="en-US" altLang="ko-KR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1.2  </a:t>
              </a:r>
              <a:r>
                <a:rPr lang="ko-KR" altLang="en-US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프로젝트 목표</a:t>
              </a:r>
              <a:endParaRPr lang="en-US" altLang="ko-KR" sz="3200" spc="-147" dirty="0">
                <a:solidFill>
                  <a:srgbClr val="C4A784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lvl="0" algn="l">
                <a:lnSpc>
                  <a:spcPct val="132800"/>
                </a:lnSpc>
              </a:pPr>
              <a:r>
                <a:rPr lang="en-US" altLang="ko-KR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1.3 </a:t>
              </a:r>
              <a:r>
                <a:rPr lang="ko-KR" altLang="en-US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시스템 구성도</a:t>
              </a:r>
              <a:endParaRPr lang="en-US" altLang="ko-KR" sz="3200" spc="-147" dirty="0">
                <a:solidFill>
                  <a:srgbClr val="C4A784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F6E7BF75-6E00-F3F9-DE22-13CD962F3658}"/>
              </a:ext>
            </a:extLst>
          </p:cNvPr>
          <p:cNvGrpSpPr/>
          <p:nvPr/>
        </p:nvGrpSpPr>
        <p:grpSpPr>
          <a:xfrm>
            <a:off x="1219200" y="5181600"/>
            <a:ext cx="21932900" cy="3086100"/>
            <a:chOff x="1219200" y="4555617"/>
            <a:chExt cx="21932900" cy="3086100"/>
          </a:xfrm>
        </p:grpSpPr>
        <p:pic>
          <p:nvPicPr>
            <p:cNvPr id="60" name="Picture 7">
              <a:extLst>
                <a:ext uri="{FF2B5EF4-FFF2-40B4-BE49-F238E27FC236}">
                  <a16:creationId xmlns:a16="http://schemas.microsoft.com/office/drawing/2014/main" id="{22B7435B-7643-2C84-8FCF-E4956C414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26000"/>
            </a:blip>
            <a:stretch>
              <a:fillRect/>
            </a:stretch>
          </p:blipFill>
          <p:spPr>
            <a:xfrm>
              <a:off x="1219200" y="5508117"/>
              <a:ext cx="21932900" cy="50800"/>
            </a:xfrm>
            <a:prstGeom prst="rect">
              <a:avLst/>
            </a:prstGeom>
          </p:spPr>
        </p:pic>
        <p:sp>
          <p:nvSpPr>
            <p:cNvPr id="61" name="TextBox 10">
              <a:extLst>
                <a:ext uri="{FF2B5EF4-FFF2-40B4-BE49-F238E27FC236}">
                  <a16:creationId xmlns:a16="http://schemas.microsoft.com/office/drawing/2014/main" id="{EB454217-2348-DFD8-7E19-1047C90AD27D}"/>
                </a:ext>
              </a:extLst>
            </p:cNvPr>
            <p:cNvSpPr txBox="1"/>
            <p:nvPr/>
          </p:nvSpPr>
          <p:spPr>
            <a:xfrm>
              <a:off x="1282700" y="4555617"/>
              <a:ext cx="4991100" cy="14097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800" dirty="0">
                  <a:solidFill>
                    <a:srgbClr val="202020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2. </a:t>
              </a:r>
              <a:r>
                <a:rPr lang="ko-KR" altLang="en-US" sz="4800" dirty="0" err="1">
                  <a:solidFill>
                    <a:srgbClr val="202020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변경점</a:t>
              </a:r>
              <a:endParaRPr lang="ko-KR" sz="4800" b="0" i="0" u="none" strike="noStrike" dirty="0">
                <a:solidFill>
                  <a:srgbClr val="202020"/>
                </a:solidFill>
                <a:ea typeface="Pretendard Bold"/>
              </a:endParaRPr>
            </a:p>
          </p:txBody>
        </p:sp>
        <p:sp>
          <p:nvSpPr>
            <p:cNvPr id="62" name="TextBox 15">
              <a:extLst>
                <a:ext uri="{FF2B5EF4-FFF2-40B4-BE49-F238E27FC236}">
                  <a16:creationId xmlns:a16="http://schemas.microsoft.com/office/drawing/2014/main" id="{8C2C576B-429E-10C2-F233-C922F7854A03}"/>
                </a:ext>
              </a:extLst>
            </p:cNvPr>
            <p:cNvSpPr txBox="1"/>
            <p:nvPr/>
          </p:nvSpPr>
          <p:spPr>
            <a:xfrm>
              <a:off x="2260600" y="5527928"/>
              <a:ext cx="9702800" cy="2113789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32800"/>
                </a:lnSpc>
              </a:pPr>
              <a:r>
                <a:rPr lang="en-US" altLang="ko-KR" sz="3200" b="0" i="0" u="none" strike="noStrike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2.1   </a:t>
              </a:r>
              <a:r>
                <a:rPr lang="ko-KR" altLang="en-US" sz="3200" b="0" i="0" u="none" strike="noStrike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시스템 구성도</a:t>
              </a:r>
              <a:endParaRPr lang="en-US" altLang="ko-KR" sz="3200" b="0" i="0" u="none" strike="noStrike" spc="-147" dirty="0">
                <a:solidFill>
                  <a:srgbClr val="C4A784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lvl="0" algn="l">
                <a:lnSpc>
                  <a:spcPct val="132800"/>
                </a:lnSpc>
              </a:pPr>
              <a:r>
                <a:rPr lang="en-US" altLang="ko-KR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2.2  CI/CD</a:t>
              </a:r>
              <a:endParaRPr lang="en-US" altLang="ko-KR" sz="3200" b="0" i="0" u="none" strike="noStrike" spc="-147" dirty="0">
                <a:solidFill>
                  <a:srgbClr val="C4A784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lvl="0" algn="l">
                <a:lnSpc>
                  <a:spcPct val="132800"/>
                </a:lnSpc>
              </a:pPr>
              <a:r>
                <a:rPr lang="en-US" altLang="ko-KR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2.3  </a:t>
              </a:r>
              <a:r>
                <a:rPr lang="ko-KR" altLang="en-US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시연</a:t>
              </a:r>
              <a:endParaRPr lang="en-US" altLang="ko-KR" sz="3200" spc="-147" dirty="0">
                <a:solidFill>
                  <a:srgbClr val="C4A784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5CC1AEAC-2111-6773-D1FD-ADDD387C595D}"/>
              </a:ext>
            </a:extLst>
          </p:cNvPr>
          <p:cNvGrpSpPr/>
          <p:nvPr/>
        </p:nvGrpSpPr>
        <p:grpSpPr>
          <a:xfrm>
            <a:off x="1219200" y="8458200"/>
            <a:ext cx="21932900" cy="3048000"/>
            <a:chOff x="1219200" y="7074853"/>
            <a:chExt cx="21932900" cy="3048000"/>
          </a:xfrm>
        </p:grpSpPr>
        <p:pic>
          <p:nvPicPr>
            <p:cNvPr id="63" name="Picture 7">
              <a:extLst>
                <a:ext uri="{FF2B5EF4-FFF2-40B4-BE49-F238E27FC236}">
                  <a16:creationId xmlns:a16="http://schemas.microsoft.com/office/drawing/2014/main" id="{E03BA055-7C31-A71E-E9C4-86901710A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26000"/>
            </a:blip>
            <a:stretch>
              <a:fillRect/>
            </a:stretch>
          </p:blipFill>
          <p:spPr>
            <a:xfrm>
              <a:off x="1219200" y="7989253"/>
              <a:ext cx="21932900" cy="50800"/>
            </a:xfrm>
            <a:prstGeom prst="rect">
              <a:avLst/>
            </a:prstGeom>
          </p:spPr>
        </p:pic>
        <p:sp>
          <p:nvSpPr>
            <p:cNvPr id="64" name="TextBox 10">
              <a:extLst>
                <a:ext uri="{FF2B5EF4-FFF2-40B4-BE49-F238E27FC236}">
                  <a16:creationId xmlns:a16="http://schemas.microsoft.com/office/drawing/2014/main" id="{BF2F5083-1C1E-69AF-91E3-864DF3508CAA}"/>
                </a:ext>
              </a:extLst>
            </p:cNvPr>
            <p:cNvSpPr txBox="1"/>
            <p:nvPr/>
          </p:nvSpPr>
          <p:spPr>
            <a:xfrm>
              <a:off x="1282700" y="7074853"/>
              <a:ext cx="4991100" cy="14097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800" dirty="0">
                  <a:solidFill>
                    <a:srgbClr val="202020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3. </a:t>
              </a:r>
              <a:r>
                <a:rPr lang="ko-KR" altLang="en-US" sz="4800" dirty="0">
                  <a:solidFill>
                    <a:srgbClr val="202020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테스트</a:t>
              </a:r>
              <a:endParaRPr lang="ko-KR" sz="4800" b="0" i="0" u="none" strike="noStrike" dirty="0">
                <a:solidFill>
                  <a:srgbClr val="202020"/>
                </a:solidFill>
                <a:ea typeface="Pretendard Bold"/>
              </a:endParaRPr>
            </a:p>
          </p:txBody>
        </p:sp>
        <p:sp>
          <p:nvSpPr>
            <p:cNvPr id="65" name="TextBox 15">
              <a:extLst>
                <a:ext uri="{FF2B5EF4-FFF2-40B4-BE49-F238E27FC236}">
                  <a16:creationId xmlns:a16="http://schemas.microsoft.com/office/drawing/2014/main" id="{D843057D-F7EF-5950-F4A4-763889F3B631}"/>
                </a:ext>
              </a:extLst>
            </p:cNvPr>
            <p:cNvSpPr txBox="1"/>
            <p:nvPr/>
          </p:nvSpPr>
          <p:spPr>
            <a:xfrm>
              <a:off x="2260600" y="8009064"/>
              <a:ext cx="9702800" cy="2113789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32800"/>
                </a:lnSpc>
              </a:pPr>
              <a:r>
                <a:rPr lang="en-US" altLang="ko-KR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3.1   CPU </a:t>
              </a:r>
              <a:r>
                <a:rPr lang="ko-KR" altLang="en-US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제한 실험</a:t>
              </a:r>
              <a:endParaRPr lang="en-US" altLang="ko-KR" sz="3200" spc="-147" dirty="0">
                <a:solidFill>
                  <a:srgbClr val="C4A784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  <a:p>
              <a:pPr lvl="0" algn="l">
                <a:lnSpc>
                  <a:spcPct val="132800"/>
                </a:lnSpc>
              </a:pPr>
              <a:r>
                <a:rPr lang="en-US" altLang="ko-KR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3.2  REPLICA</a:t>
              </a:r>
              <a:r>
                <a:rPr lang="ko-KR" altLang="en-US" sz="3200" spc="-147" dirty="0">
                  <a:solidFill>
                    <a:srgbClr val="C4A784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 실험</a:t>
              </a:r>
              <a:endParaRPr lang="en-US" altLang="ko-KR" sz="3200" spc="-147" dirty="0">
                <a:solidFill>
                  <a:srgbClr val="C4A784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FD66BAF-9FAD-FBF4-CB42-C9E0A86B9D15}"/>
              </a:ext>
            </a:extLst>
          </p:cNvPr>
          <p:cNvGrpSpPr/>
          <p:nvPr/>
        </p:nvGrpSpPr>
        <p:grpSpPr>
          <a:xfrm>
            <a:off x="1219200" y="11391900"/>
            <a:ext cx="21932900" cy="3086100"/>
            <a:chOff x="1219200" y="9867900"/>
            <a:chExt cx="21932900" cy="3086100"/>
          </a:xfrm>
        </p:grpSpPr>
        <p:pic>
          <p:nvPicPr>
            <p:cNvPr id="66" name="Picture 7">
              <a:extLst>
                <a:ext uri="{FF2B5EF4-FFF2-40B4-BE49-F238E27FC236}">
                  <a16:creationId xmlns:a16="http://schemas.microsoft.com/office/drawing/2014/main" id="{D6CFBF3A-14EE-350F-C9FC-AF4D23FCB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26000"/>
            </a:blip>
            <a:stretch>
              <a:fillRect/>
            </a:stretch>
          </p:blipFill>
          <p:spPr>
            <a:xfrm>
              <a:off x="1219200" y="10820400"/>
              <a:ext cx="21932900" cy="50800"/>
            </a:xfrm>
            <a:prstGeom prst="rect">
              <a:avLst/>
            </a:prstGeom>
          </p:spPr>
        </p:pic>
        <p:sp>
          <p:nvSpPr>
            <p:cNvPr id="67" name="TextBox 10">
              <a:extLst>
                <a:ext uri="{FF2B5EF4-FFF2-40B4-BE49-F238E27FC236}">
                  <a16:creationId xmlns:a16="http://schemas.microsoft.com/office/drawing/2014/main" id="{AE3FEB2C-89A8-8CA2-7F36-BCC5D82ACD39}"/>
                </a:ext>
              </a:extLst>
            </p:cNvPr>
            <p:cNvSpPr txBox="1"/>
            <p:nvPr/>
          </p:nvSpPr>
          <p:spPr>
            <a:xfrm>
              <a:off x="1282700" y="9867900"/>
              <a:ext cx="4991100" cy="14097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altLang="ko-KR" sz="4800" dirty="0">
                  <a:solidFill>
                    <a:srgbClr val="202020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4. </a:t>
              </a:r>
              <a:r>
                <a:rPr lang="ko-KR" altLang="en-US" sz="4800" dirty="0">
                  <a:solidFill>
                    <a:srgbClr val="202020"/>
                  </a:solidFill>
                  <a:latin typeface="Pretendard Bold" panose="020B0600000101010101" charset="-127"/>
                  <a:ea typeface="Pretendard Bold" panose="020B0600000101010101" charset="-127"/>
                </a:rPr>
                <a:t>마무리</a:t>
              </a:r>
              <a:endParaRPr lang="ko-KR" sz="4800" b="0" i="0" u="none" strike="noStrike" dirty="0">
                <a:solidFill>
                  <a:srgbClr val="202020"/>
                </a:solidFill>
                <a:ea typeface="Pretendard Bold"/>
              </a:endParaRPr>
            </a:p>
          </p:txBody>
        </p:sp>
        <p:sp>
          <p:nvSpPr>
            <p:cNvPr id="68" name="TextBox 15">
              <a:extLst>
                <a:ext uri="{FF2B5EF4-FFF2-40B4-BE49-F238E27FC236}">
                  <a16:creationId xmlns:a16="http://schemas.microsoft.com/office/drawing/2014/main" id="{5F536E06-DD1F-69A9-EA21-0572402377C6}"/>
                </a:ext>
              </a:extLst>
            </p:cNvPr>
            <p:cNvSpPr txBox="1"/>
            <p:nvPr/>
          </p:nvSpPr>
          <p:spPr>
            <a:xfrm>
              <a:off x="2260600" y="10840211"/>
              <a:ext cx="9702800" cy="2113789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32800"/>
                </a:lnSpc>
              </a:pPr>
              <a:endParaRPr lang="en-US" altLang="ko-KR" sz="3200" spc="-147" dirty="0">
                <a:solidFill>
                  <a:srgbClr val="C4A784"/>
                </a:solidFill>
                <a:latin typeface="Pretendard Bold" panose="020B0600000101010101" charset="-127"/>
                <a:ea typeface="Pretendard Bold" panose="020B0600000101010101" charset="-127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BF0B0-09AD-7915-F7C5-5C64B658F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47BA5E1-83D6-9507-AF32-D23680AEA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28CFA59-A6D6-0F40-975E-1D4D40177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0AF1C67-C51C-7334-96CB-83C0B5F90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B7A8875-A5DD-BB7C-33D6-89FB44A0D91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0649798A-62C6-C552-BF91-7DA46264CEF4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b="0" i="0" u="none" strike="noStrike" dirty="0">
                <a:solidFill>
                  <a:srgbClr val="202020"/>
                </a:solidFill>
                <a:latin typeface="Pretendard Bold"/>
              </a:rPr>
              <a:t>2</a:t>
            </a:r>
          </a:p>
        </p:txBody>
      </p:sp>
      <p:pic>
        <p:nvPicPr>
          <p:cNvPr id="7" name="그림 6" descr="텍스트, 지도, 스크린샷, 아틀라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14FBE4-4E87-25D1-2DF5-8608DE10342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3978276"/>
            <a:ext cx="4098406" cy="8572500"/>
          </a:xfrm>
          <a:prstGeom prst="rect">
            <a:avLst/>
          </a:prstGeom>
        </p:spPr>
      </p:pic>
      <p:pic>
        <p:nvPicPr>
          <p:cNvPr id="9" name="그림 8" descr="텍스트, 지도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D07AFF-2A7D-E7F9-2B82-B2936025065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0"/>
          <a:stretch>
            <a:fillRect/>
          </a:stretch>
        </p:blipFill>
        <p:spPr>
          <a:xfrm>
            <a:off x="7076682" y="4012059"/>
            <a:ext cx="4118242" cy="8504934"/>
          </a:xfrm>
          <a:prstGeom prst="rect">
            <a:avLst/>
          </a:prstGeom>
        </p:spPr>
      </p:pic>
      <p:pic>
        <p:nvPicPr>
          <p:cNvPr id="13" name="그림 12" descr="텍스트, 지도, 아틀라스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4F6B1A-4279-0288-2235-4E106DE0E48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0" y="3956052"/>
            <a:ext cx="4119657" cy="8616948"/>
          </a:xfrm>
          <a:prstGeom prst="rect">
            <a:avLst/>
          </a:prstGeom>
        </p:spPr>
      </p:pic>
      <p:pic>
        <p:nvPicPr>
          <p:cNvPr id="1026" name="Picture 2" descr="네이버 지도 (Naver Map) - 다른: 서비스 비교를 한 곳에서">
            <a:extLst>
              <a:ext uri="{FF2B5EF4-FFF2-40B4-BE49-F238E27FC236}">
                <a16:creationId xmlns:a16="http://schemas.microsoft.com/office/drawing/2014/main" id="{6723A941-5C66-3B8A-E10B-89B935A86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Blur radius="1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203" y="2023058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카카오맵 | Kakao Developers 도구">
            <a:extLst>
              <a:ext uri="{FF2B5EF4-FFF2-40B4-BE49-F238E27FC236}">
                <a16:creationId xmlns:a16="http://schemas.microsoft.com/office/drawing/2014/main" id="{AEDA5793-72E1-83AE-2FCF-0F3548FF0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Blur radius="1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9028" y="2023058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 descr="그래픽, 다채로움, 그래픽 디자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7DEC55-F53A-6034-2F1A-1BE235BC6FE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Blur radius="1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115" y="2023058"/>
            <a:ext cx="1800000" cy="1800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0966404-D08D-BD8A-1444-BECB48568CA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526000" y="4495800"/>
            <a:ext cx="6058746" cy="7125694"/>
          </a:xfrm>
          <a:prstGeom prst="rect">
            <a:avLst/>
          </a:prstGeom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2E73BCF1-2487-2970-BC1C-EEDC08DDF5DC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600" dirty="0">
                <a:solidFill>
                  <a:srgbClr val="202020"/>
                </a:solidFill>
                <a:ea typeface="Pretendard Medium"/>
              </a:rPr>
              <a:t>아이디어</a:t>
            </a:r>
            <a:endParaRPr lang="ko-KR" sz="3600" b="0" i="0" u="none" strike="noStrike" dirty="0">
              <a:solidFill>
                <a:srgbClr val="202020"/>
              </a:solidFill>
              <a:ea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5893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EB75D-9F00-C7E4-1828-B6A18408C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1A8556C-7D54-1F49-1B33-95C33F921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DF04564-E219-63BD-8546-5BF296FC8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8F33482-1DE3-6580-7F03-D0A646B75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EAF5B5F-DEE7-D1CF-B650-7C724D65B9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A84C8CD3-C877-0FA6-A227-9AFF83C4EBD7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b="0" i="0" u="none" strike="noStrike" dirty="0">
                <a:solidFill>
                  <a:srgbClr val="202020"/>
                </a:solidFill>
                <a:latin typeface="Pretendard Bold"/>
              </a:rPr>
              <a:t>3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4AAA47F0-C433-139A-F9D6-FAC652254E38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600" dirty="0">
                <a:solidFill>
                  <a:srgbClr val="202020"/>
                </a:solidFill>
                <a:ea typeface="Pretendard Medium"/>
              </a:rPr>
              <a:t>프로젝트 목표</a:t>
            </a:r>
            <a:endParaRPr lang="ko-KR" sz="3600" b="0" i="0" u="none" strike="noStrike" dirty="0">
              <a:solidFill>
                <a:srgbClr val="202020"/>
              </a:solidFill>
              <a:ea typeface="Pretendard Medium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13095A07-5D29-E862-18E9-2D937EEF85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115800" y="-10452100"/>
            <a:ext cx="139700" cy="24422100"/>
          </a:xfrm>
          <a:prstGeom prst="rect">
            <a:avLst/>
          </a:prstGeom>
        </p:spPr>
      </p:pic>
      <p:pic>
        <p:nvPicPr>
          <p:cNvPr id="35" name="Picture 8">
            <a:extLst>
              <a:ext uri="{FF2B5EF4-FFF2-40B4-BE49-F238E27FC236}">
                <a16:creationId xmlns:a16="http://schemas.microsoft.com/office/drawing/2014/main" id="{C40AE417-48B9-BD4D-757F-89803798F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785600" y="-5956300"/>
            <a:ext cx="800100" cy="20650200"/>
          </a:xfrm>
          <a:prstGeom prst="rect">
            <a:avLst/>
          </a:prstGeom>
        </p:spPr>
      </p:pic>
      <p:pic>
        <p:nvPicPr>
          <p:cNvPr id="36" name="Picture 9">
            <a:extLst>
              <a:ext uri="{FF2B5EF4-FFF2-40B4-BE49-F238E27FC236}">
                <a16:creationId xmlns:a16="http://schemas.microsoft.com/office/drawing/2014/main" id="{3285B2CC-0EEB-A401-4BD3-F2DAA742D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785600" y="-2984500"/>
            <a:ext cx="800100" cy="20650200"/>
          </a:xfrm>
          <a:prstGeom prst="rect">
            <a:avLst/>
          </a:prstGeom>
        </p:spPr>
      </p:pic>
      <p:pic>
        <p:nvPicPr>
          <p:cNvPr id="37" name="Picture 10">
            <a:extLst>
              <a:ext uri="{FF2B5EF4-FFF2-40B4-BE49-F238E27FC236}">
                <a16:creationId xmlns:a16="http://schemas.microsoft.com/office/drawing/2014/main" id="{BF33F250-CC51-A76B-9F46-B89D13ECB6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785600" y="38100"/>
            <a:ext cx="800100" cy="20650200"/>
          </a:xfrm>
          <a:prstGeom prst="rect">
            <a:avLst/>
          </a:prstGeom>
        </p:spPr>
      </p:pic>
      <p:sp>
        <p:nvSpPr>
          <p:cNvPr id="38" name="TextBox 11">
            <a:extLst>
              <a:ext uri="{FF2B5EF4-FFF2-40B4-BE49-F238E27FC236}">
                <a16:creationId xmlns:a16="http://schemas.microsoft.com/office/drawing/2014/main" id="{271F74AC-9CEF-5823-A4D9-11E21C4DC487}"/>
              </a:ext>
            </a:extLst>
          </p:cNvPr>
          <p:cNvSpPr txBox="1"/>
          <p:nvPr/>
        </p:nvSpPr>
        <p:spPr>
          <a:xfrm>
            <a:off x="6477000" y="2374900"/>
            <a:ext cx="114300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altLang="en-US" sz="7333" b="0" i="0" u="none" strike="noStrike" dirty="0">
                <a:solidFill>
                  <a:srgbClr val="202020"/>
                </a:solidFill>
                <a:ea typeface="Pretendard Bold"/>
              </a:rPr>
              <a:t>목표</a:t>
            </a:r>
            <a:endParaRPr lang="en" sz="7333" b="0" i="0" u="none" strike="noStrike" dirty="0">
              <a:solidFill>
                <a:srgbClr val="C4A784"/>
              </a:solidFill>
              <a:ea typeface="Pretendard Bold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F11BB6F2-51FA-5409-AA10-B534408611BE}"/>
              </a:ext>
            </a:extLst>
          </p:cNvPr>
          <p:cNvSpPr txBox="1"/>
          <p:nvPr/>
        </p:nvSpPr>
        <p:spPr>
          <a:xfrm>
            <a:off x="3073400" y="4013200"/>
            <a:ext cx="9677400" cy="7112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altLang="en-US" sz="4000" b="0" i="0" u="none" strike="noStrike" spc="-200" dirty="0">
                <a:solidFill>
                  <a:srgbClr val="FFFFFF"/>
                </a:solidFill>
                <a:ea typeface="Pretendard SemiBold"/>
              </a:rPr>
              <a:t>서비스</a:t>
            </a:r>
            <a:endParaRPr lang="ko-KR" sz="4000" b="0" i="0" u="none" strike="noStrike" spc="-200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9360FB65-FBBD-1859-B4FB-D2DE1072F063}"/>
              </a:ext>
            </a:extLst>
          </p:cNvPr>
          <p:cNvSpPr txBox="1"/>
          <p:nvPr/>
        </p:nvSpPr>
        <p:spPr>
          <a:xfrm>
            <a:off x="3238500" y="5041900"/>
            <a:ext cx="17703800" cy="1397000"/>
          </a:xfrm>
          <a:prstGeom prst="rect">
            <a:avLst/>
          </a:prstGeom>
        </p:spPr>
        <p:txBody>
          <a:bodyPr rtlCol="0" anchor="t"/>
          <a:lstStyle/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spc="-120" dirty="0" err="1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Tmap</a:t>
            </a:r>
            <a:r>
              <a:rPr 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 API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를 활용하여 유저에게 경로와 주변 휴게소를 제공하고</a:t>
            </a:r>
            <a:r>
              <a:rPr lang="en-US" altLang="ko-KR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, Open API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로 자세한 휴게소 정보를 제공</a:t>
            </a:r>
            <a:endParaRPr lang="en-US" altLang="ko-KR" sz="2400" spc="-120" dirty="0">
              <a:solidFill>
                <a:srgbClr val="2E2E2E"/>
              </a:solidFill>
              <a:latin typeface="Pretendard Light" panose="020B0600000101010101" charset="-127"/>
              <a:ea typeface="Pretendard Light" panose="020B0600000101010101" charset="-127"/>
            </a:endParaRPr>
          </a:p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유저는 휴게소에 리뷰를 남길 수 있고 맘에 드는 휴게소를 </a:t>
            </a:r>
            <a:r>
              <a:rPr lang="ko-KR" altLang="en-US" sz="2400" spc="-120" dirty="0" err="1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즐겨찾기하여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 관리</a:t>
            </a:r>
            <a:endParaRPr lang="en-US" sz="2400" b="0" i="0" u="none" strike="noStrike" spc="-120" dirty="0">
              <a:solidFill>
                <a:srgbClr val="2E2E2E"/>
              </a:solidFill>
              <a:latin typeface="Pretendard Light" panose="020B0600000101010101" charset="-127"/>
              <a:ea typeface="Pretendard Light" panose="020B0600000101010101" charset="-127"/>
            </a:endParaRPr>
          </a:p>
        </p:txBody>
      </p:sp>
      <p:sp>
        <p:nvSpPr>
          <p:cNvPr id="41" name="TextBox 17">
            <a:extLst>
              <a:ext uri="{FF2B5EF4-FFF2-40B4-BE49-F238E27FC236}">
                <a16:creationId xmlns:a16="http://schemas.microsoft.com/office/drawing/2014/main" id="{1594FAE8-563D-3B93-064F-F986F1B1C5C0}"/>
              </a:ext>
            </a:extLst>
          </p:cNvPr>
          <p:cNvSpPr txBox="1"/>
          <p:nvPr/>
        </p:nvSpPr>
        <p:spPr>
          <a:xfrm>
            <a:off x="3073400" y="6985000"/>
            <a:ext cx="9677400" cy="7112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altLang="en-US" sz="4000" b="0" i="0" u="none" strike="noStrike" spc="-200" dirty="0">
                <a:solidFill>
                  <a:srgbClr val="FFFFFF"/>
                </a:solidFill>
                <a:ea typeface="Pretendard SemiBold"/>
              </a:rPr>
              <a:t>기술</a:t>
            </a:r>
            <a:endParaRPr lang="ko-KR" sz="4000" b="0" i="0" u="none" strike="noStrike" spc="-200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A544493F-744F-51FB-BE81-35FDC2086F6E}"/>
              </a:ext>
            </a:extLst>
          </p:cNvPr>
          <p:cNvSpPr txBox="1"/>
          <p:nvPr/>
        </p:nvSpPr>
        <p:spPr>
          <a:xfrm>
            <a:off x="3238500" y="8013700"/>
            <a:ext cx="17551400" cy="1397000"/>
          </a:xfrm>
          <a:prstGeom prst="rect">
            <a:avLst/>
          </a:prstGeom>
        </p:spPr>
        <p:txBody>
          <a:bodyPr rtlCol="0" anchor="t"/>
          <a:lstStyle/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React, Spring, </a:t>
            </a:r>
            <a:r>
              <a:rPr lang="en-US" sz="2400" b="0" i="0" u="none" strike="noStrike" spc="-120" dirty="0" err="1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Mariadb</a:t>
            </a:r>
            <a:r>
              <a:rPr lang="en-US" sz="2400" b="0" i="0" u="none" strike="noStrike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, Redis, Docker </a:t>
            </a:r>
            <a:r>
              <a:rPr lang="ko-KR" altLang="en-US" sz="2400" b="0" i="0" u="none" strike="noStrike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등을 사용하여 실제 서비스를 할 수 있는</a:t>
            </a:r>
            <a:r>
              <a:rPr lang="en-US" altLang="ko-KR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 </a:t>
            </a:r>
            <a:r>
              <a:rPr lang="ko-KR" altLang="en-US" sz="2400" b="0" i="0" u="none" strike="noStrike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수준의 </a:t>
            </a:r>
            <a:r>
              <a:rPr lang="ko-KR" altLang="en-US" sz="2400" b="0" i="0" u="none" strike="noStrike" spc="-120" dirty="0" err="1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아키텍쳐를</a:t>
            </a:r>
            <a:r>
              <a:rPr lang="ko-KR" altLang="en-US" sz="2400" b="0" i="0" u="none" strike="noStrike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 구현</a:t>
            </a:r>
            <a:endParaRPr lang="en-US" altLang="ko-KR" sz="2400" b="0" i="0" u="none" strike="noStrike" spc="-120" dirty="0">
              <a:solidFill>
                <a:srgbClr val="2E2E2E"/>
              </a:solidFill>
              <a:latin typeface="Pretendard Light" panose="020B0600000101010101" charset="-127"/>
              <a:ea typeface="Pretendard Light" panose="020B0600000101010101" charset="-127"/>
            </a:endParaRPr>
          </a:p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API 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연동을 통해 변화하는 데이터를 처리</a:t>
            </a:r>
            <a:endParaRPr lang="en-US" sz="2400" b="0" i="0" u="none" strike="noStrike" spc="-120" dirty="0">
              <a:solidFill>
                <a:srgbClr val="2E2E2E"/>
              </a:solidFill>
              <a:latin typeface="Pretendard Light" panose="020B0600000101010101" charset="-127"/>
              <a:ea typeface="Pretendard Light" panose="020B0600000101010101" charset="-127"/>
            </a:endParaRPr>
          </a:p>
        </p:txBody>
      </p:sp>
      <p:sp>
        <p:nvSpPr>
          <p:cNvPr id="43" name="TextBox 19">
            <a:extLst>
              <a:ext uri="{FF2B5EF4-FFF2-40B4-BE49-F238E27FC236}">
                <a16:creationId xmlns:a16="http://schemas.microsoft.com/office/drawing/2014/main" id="{08246C0F-098D-707C-F964-2722AE7E8C6B}"/>
              </a:ext>
            </a:extLst>
          </p:cNvPr>
          <p:cNvSpPr txBox="1"/>
          <p:nvPr/>
        </p:nvSpPr>
        <p:spPr>
          <a:xfrm>
            <a:off x="3073400" y="9994900"/>
            <a:ext cx="9677400" cy="7112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ko-KR" altLang="en-US" sz="4000" b="0" i="0" u="none" strike="noStrike" spc="-200" dirty="0">
                <a:solidFill>
                  <a:srgbClr val="FFFFFF"/>
                </a:solidFill>
                <a:ea typeface="Pretendard SemiBold"/>
              </a:rPr>
              <a:t>경험</a:t>
            </a:r>
            <a:endParaRPr lang="ko-KR" sz="4000" b="0" i="0" u="none" strike="noStrike" spc="-200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44" name="TextBox 20">
            <a:extLst>
              <a:ext uri="{FF2B5EF4-FFF2-40B4-BE49-F238E27FC236}">
                <a16:creationId xmlns:a16="http://schemas.microsoft.com/office/drawing/2014/main" id="{10EA0423-E29E-3906-EF21-866BB8CD3061}"/>
              </a:ext>
            </a:extLst>
          </p:cNvPr>
          <p:cNvSpPr txBox="1"/>
          <p:nvPr/>
        </p:nvSpPr>
        <p:spPr>
          <a:xfrm>
            <a:off x="3238500" y="11023600"/>
            <a:ext cx="17551400" cy="1397000"/>
          </a:xfrm>
          <a:prstGeom prst="rect">
            <a:avLst/>
          </a:prstGeom>
        </p:spPr>
        <p:txBody>
          <a:bodyPr rtlCol="0" anchor="t"/>
          <a:lstStyle/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ko-KR" altLang="en-US" sz="2400" spc="-120" dirty="0" err="1">
                <a:solidFill>
                  <a:srgbClr val="2E2E2E"/>
                </a:solidFill>
                <a:latin typeface="Pretendard Light"/>
                <a:ea typeface="Pretendard Light"/>
              </a:rPr>
              <a:t>실무같은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/>
                <a:ea typeface="Pretendard Light"/>
              </a:rPr>
              <a:t> 상황에서 다양한 사람과 협업하며 생기는 이슈들을 직접 경험해보고 해결</a:t>
            </a:r>
            <a:endParaRPr lang="en-US" sz="2400" b="0" i="0" u="none" strike="noStrike" spc="-120" dirty="0">
              <a:solidFill>
                <a:srgbClr val="2E2E2E"/>
              </a:solidFill>
              <a:latin typeface="Pretendard Light"/>
            </a:endParaRPr>
          </a:p>
        </p:txBody>
      </p:sp>
    </p:spTree>
    <p:extLst>
      <p:ext uri="{BB962C8B-B14F-4D97-AF65-F5344CB8AC3E}">
        <p14:creationId xmlns:p14="http://schemas.microsoft.com/office/powerpoint/2010/main" val="3566876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11F2ACF9-8399-A6C9-978E-CC62F889A55C}"/>
              </a:ext>
            </a:extLst>
          </p:cNvPr>
          <p:cNvSpPr/>
          <p:nvPr/>
        </p:nvSpPr>
        <p:spPr>
          <a:xfrm>
            <a:off x="9525685" y="6128618"/>
            <a:ext cx="3118971" cy="4485625"/>
          </a:xfrm>
          <a:prstGeom prst="rect">
            <a:avLst/>
          </a:prstGeom>
          <a:solidFill>
            <a:srgbClr val="E9F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onsolas" panose="020B0609020204030204" pitchFamily="49" charset="0"/>
            </a:endParaRPr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A65D816-1F36-CF99-E835-129BB171ADC9}"/>
              </a:ext>
            </a:extLst>
          </p:cNvPr>
          <p:cNvSpPr/>
          <p:nvPr/>
        </p:nvSpPr>
        <p:spPr>
          <a:xfrm>
            <a:off x="13444909" y="6128618"/>
            <a:ext cx="5697615" cy="4485625"/>
          </a:xfrm>
          <a:prstGeom prst="rect">
            <a:avLst/>
          </a:prstGeom>
          <a:solidFill>
            <a:srgbClr val="E9F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Consolas" panose="020B0609020204030204" pitchFamily="49" charset="0"/>
            </a:endParaRPr>
          </a:p>
        </p:txBody>
      </p:sp>
      <p:pic>
        <p:nvPicPr>
          <p:cNvPr id="20" name="Picture 2" descr="Docker Icon SVG Vector &amp; PNG Free Download | UXWing">
            <a:extLst>
              <a:ext uri="{FF2B5EF4-FFF2-40B4-BE49-F238E27FC236}">
                <a16:creationId xmlns:a16="http://schemas.microsoft.com/office/drawing/2014/main" id="{A0F5F6D0-1CA6-FAB4-33B3-CA2109862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621" y="433020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8" descr="Client Generic Basic Outline icon | Freepik">
            <a:extLst>
              <a:ext uri="{FF2B5EF4-FFF2-40B4-BE49-F238E27FC236}">
                <a16:creationId xmlns:a16="http://schemas.microsoft.com/office/drawing/2014/main" id="{9FE00AFA-F284-ACD2-6015-C902C2ECC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600" y="9249000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52F42CF-9966-C039-7D8B-EFCD611BD006}"/>
              </a:ext>
            </a:extLst>
          </p:cNvPr>
          <p:cNvSpPr/>
          <p:nvPr/>
        </p:nvSpPr>
        <p:spPr>
          <a:xfrm>
            <a:off x="13568983" y="7239000"/>
            <a:ext cx="2420464" cy="2259343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Spring</a:t>
            </a:r>
            <a:endParaRPr lang="ko-KR" altLang="en-US" sz="40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7" name="Picture 28" descr="Client Generic Basic Outline icon | Freepik">
            <a:extLst>
              <a:ext uri="{FF2B5EF4-FFF2-40B4-BE49-F238E27FC236}">
                <a16:creationId xmlns:a16="http://schemas.microsoft.com/office/drawing/2014/main" id="{2CA86D78-0CCF-415D-7250-C152BFC4A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7047660"/>
            <a:ext cx="252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8" descr="Client Generic Basic Outline icon | Freepik">
            <a:extLst>
              <a:ext uri="{FF2B5EF4-FFF2-40B4-BE49-F238E27FC236}">
                <a16:creationId xmlns:a16="http://schemas.microsoft.com/office/drawing/2014/main" id="{A5F5A9FB-5B8C-D36E-DDEC-D9D2727858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600" y="5566320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654405B-D50D-0ABC-3260-90C225FA2AEF}"/>
              </a:ext>
            </a:extLst>
          </p:cNvPr>
          <p:cNvSpPr/>
          <p:nvPr/>
        </p:nvSpPr>
        <p:spPr>
          <a:xfrm>
            <a:off x="8658585" y="4947070"/>
            <a:ext cx="11229615" cy="6553109"/>
          </a:xfrm>
          <a:prstGeom prst="rect">
            <a:avLst/>
          </a:prstGeom>
          <a:noFill/>
          <a:ln w="28575">
            <a:solidFill>
              <a:srgbClr val="0091E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44378A-209C-DA2B-1C74-4803B736B359}"/>
              </a:ext>
            </a:extLst>
          </p:cNvPr>
          <p:cNvSpPr txBox="1"/>
          <p:nvPr/>
        </p:nvSpPr>
        <p:spPr>
          <a:xfrm>
            <a:off x="15121205" y="5843745"/>
            <a:ext cx="2345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Pretendard Bold" panose="020B0600000101010101" charset="-127"/>
                <a:ea typeface="Pretendard Bold" panose="020B0600000101010101" charset="-127"/>
              </a:rPr>
              <a:t>Backend</a:t>
            </a:r>
            <a:endParaRPr lang="ko-KR" altLang="en-US" sz="3200" b="1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551ABB7-165E-0A86-DF11-E5627FB62E84}"/>
              </a:ext>
            </a:extLst>
          </p:cNvPr>
          <p:cNvCxnSpPr>
            <a:cxnSpLocks/>
          </p:cNvCxnSpPr>
          <p:nvPr/>
        </p:nvCxnSpPr>
        <p:spPr>
          <a:xfrm>
            <a:off x="6019800" y="8368671"/>
            <a:ext cx="3573821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4" name="Picture 22" descr="Official MariaDB Logos | MariaDB">
            <a:extLst>
              <a:ext uri="{FF2B5EF4-FFF2-40B4-BE49-F238E27FC236}">
                <a16:creationId xmlns:a16="http://schemas.microsoft.com/office/drawing/2014/main" id="{6ABD7EE3-D53D-520E-131F-1D525F9C53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463"/>
          <a:stretch>
            <a:fillRect/>
          </a:stretch>
        </p:blipFill>
        <p:spPr bwMode="auto">
          <a:xfrm>
            <a:off x="18257279" y="6829743"/>
            <a:ext cx="1124729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2" descr="Spring boot 아이콘, 로고, 기호 – PNG, SVG 무료 다운로드">
            <a:extLst>
              <a:ext uri="{FF2B5EF4-FFF2-40B4-BE49-F238E27FC236}">
                <a16:creationId xmlns:a16="http://schemas.microsoft.com/office/drawing/2014/main" id="{23D2494B-E136-F079-6C04-9F3C6BBD7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8600" y="693420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4">
            <a:extLst>
              <a:ext uri="{FF2B5EF4-FFF2-40B4-BE49-F238E27FC236}">
                <a16:creationId xmlns:a16="http://schemas.microsoft.com/office/drawing/2014/main" id="{1C7B9EDE-C6EE-3CFA-2EBC-B0857D686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1719" y="6983444"/>
            <a:ext cx="809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34994CAC-EC09-E0EC-A5E4-A73AEC3C9821}"/>
              </a:ext>
            </a:extLst>
          </p:cNvPr>
          <p:cNvSpPr/>
          <p:nvPr/>
        </p:nvSpPr>
        <p:spPr>
          <a:xfrm>
            <a:off x="10580675" y="1854729"/>
            <a:ext cx="8561928" cy="1879071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9FEEEA4-5664-4C0B-74FF-2D38AECD06D1}"/>
              </a:ext>
            </a:extLst>
          </p:cNvPr>
          <p:cNvSpPr/>
          <p:nvPr/>
        </p:nvSpPr>
        <p:spPr>
          <a:xfrm>
            <a:off x="16625723" y="7239001"/>
            <a:ext cx="2420464" cy="928886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 err="1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Mariadb</a:t>
            </a:r>
            <a:endParaRPr lang="ko-KR" altLang="en-US" sz="40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2AFB2D5-DCA0-EE17-E985-4953B690AF65}"/>
              </a:ext>
            </a:extLst>
          </p:cNvPr>
          <p:cNvSpPr/>
          <p:nvPr/>
        </p:nvSpPr>
        <p:spPr>
          <a:xfrm>
            <a:off x="16625723" y="8574362"/>
            <a:ext cx="2420464" cy="928886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Redis</a:t>
            </a:r>
            <a:endParaRPr lang="ko-KR" altLang="en-US" sz="40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35" name="Picture 20" descr="Redis icon - Free download on Iconfinder">
            <a:extLst>
              <a:ext uri="{FF2B5EF4-FFF2-40B4-BE49-F238E27FC236}">
                <a16:creationId xmlns:a16="http://schemas.microsoft.com/office/drawing/2014/main" id="{EE1611E5-FEE9-D68F-C020-28FE0C948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0868" y="8257347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DC24D09-C8ED-64F0-5521-CB2377190AC4}"/>
              </a:ext>
            </a:extLst>
          </p:cNvPr>
          <p:cNvSpPr/>
          <p:nvPr/>
        </p:nvSpPr>
        <p:spPr>
          <a:xfrm>
            <a:off x="9848033" y="7239000"/>
            <a:ext cx="2420464" cy="2259343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React</a:t>
            </a:r>
            <a:endParaRPr lang="ko-KR" altLang="en-US" sz="40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9E65E0-4A4C-7C8F-7AEC-ACED3EBB590A}"/>
              </a:ext>
            </a:extLst>
          </p:cNvPr>
          <p:cNvSpPr txBox="1"/>
          <p:nvPr/>
        </p:nvSpPr>
        <p:spPr>
          <a:xfrm>
            <a:off x="9912659" y="5843745"/>
            <a:ext cx="2345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Pretendard Bold" panose="020B0600000101010101" charset="-127"/>
                <a:ea typeface="Pretendard Bold" panose="020B0600000101010101" charset="-127"/>
              </a:rPr>
              <a:t>Frontend</a:t>
            </a:r>
            <a:endParaRPr lang="ko-KR" altLang="en-US" sz="3200" b="1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187CBD-B503-3D21-FE70-A8D8B338F6E5}"/>
              </a:ext>
            </a:extLst>
          </p:cNvPr>
          <p:cNvSpPr txBox="1"/>
          <p:nvPr/>
        </p:nvSpPr>
        <p:spPr>
          <a:xfrm>
            <a:off x="2926702" y="5057388"/>
            <a:ext cx="2345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Pretendard Bold" panose="020B0600000101010101" charset="-127"/>
                <a:ea typeface="Pretendard Bold" panose="020B0600000101010101" charset="-127"/>
              </a:rPr>
              <a:t>Client</a:t>
            </a:r>
            <a:endParaRPr lang="ko-KR" altLang="en-US" sz="3200" b="1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1489F21-3F70-3359-5862-791C7BE36D53}"/>
              </a:ext>
            </a:extLst>
          </p:cNvPr>
          <p:cNvSpPr/>
          <p:nvPr/>
        </p:nvSpPr>
        <p:spPr>
          <a:xfrm>
            <a:off x="10760603" y="2492423"/>
            <a:ext cx="2420464" cy="928886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 err="1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Tmap</a:t>
            </a:r>
            <a:endParaRPr lang="ko-KR" altLang="en-US" sz="28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CA762283-912A-6535-4975-512B26798FB1}"/>
              </a:ext>
            </a:extLst>
          </p:cNvPr>
          <p:cNvSpPr/>
          <p:nvPr/>
        </p:nvSpPr>
        <p:spPr>
          <a:xfrm>
            <a:off x="13453847" y="2492423"/>
            <a:ext cx="2622612" cy="928886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 err="1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공공데이터포털</a:t>
            </a:r>
            <a:endParaRPr lang="ko-KR" altLang="en-US" sz="28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7199D09C-E262-6636-E07D-A3E85BF364EA}"/>
              </a:ext>
            </a:extLst>
          </p:cNvPr>
          <p:cNvSpPr/>
          <p:nvPr/>
        </p:nvSpPr>
        <p:spPr>
          <a:xfrm>
            <a:off x="16291391" y="2489644"/>
            <a:ext cx="2622612" cy="928886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 err="1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openai</a:t>
            </a:r>
            <a:endParaRPr lang="ko-KR" altLang="en-US" sz="28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22" name="그림 21" descr="그래픽, 다채로움, 그래픽 디자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558F39-7C29-A305-AB5B-5DC8D3FD0FE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646" y="2237158"/>
            <a:ext cx="540000" cy="540000"/>
          </a:xfrm>
          <a:prstGeom prst="rect">
            <a:avLst/>
          </a:prstGeom>
        </p:spPr>
      </p:pic>
      <p:pic>
        <p:nvPicPr>
          <p:cNvPr id="23" name="Picture 40" descr="공공데이터포털">
            <a:extLst>
              <a:ext uri="{FF2B5EF4-FFF2-40B4-BE49-F238E27FC236}">
                <a16:creationId xmlns:a16="http://schemas.microsoft.com/office/drawing/2014/main" id="{24A33A58-1060-F535-177A-D4FEF307D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509" y="2198167"/>
            <a:ext cx="5062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2" descr="OpenAI Icon SVG Vector &amp; PNG Free Download | UXWing">
            <a:extLst>
              <a:ext uri="{FF2B5EF4-FFF2-40B4-BE49-F238E27FC236}">
                <a16:creationId xmlns:a16="http://schemas.microsoft.com/office/drawing/2014/main" id="{C55713DF-08E2-282E-4B7F-F22549828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2622" y="2255819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8DEEE33B-8957-5815-1E09-FA4F05D866A9}"/>
              </a:ext>
            </a:extLst>
          </p:cNvPr>
          <p:cNvCxnSpPr>
            <a:cxnSpLocks/>
          </p:cNvCxnSpPr>
          <p:nvPr/>
        </p:nvCxnSpPr>
        <p:spPr>
          <a:xfrm>
            <a:off x="14779215" y="3581400"/>
            <a:ext cx="0" cy="3402044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31EDDBD9-5805-E172-FFE7-75B5C85C4C79}"/>
              </a:ext>
            </a:extLst>
          </p:cNvPr>
          <p:cNvCxnSpPr>
            <a:cxnSpLocks/>
            <a:stCxn id="58" idx="3"/>
            <a:endCxn id="18" idx="1"/>
          </p:cNvCxnSpPr>
          <p:nvPr/>
        </p:nvCxnSpPr>
        <p:spPr>
          <a:xfrm>
            <a:off x="12644656" y="8371431"/>
            <a:ext cx="800253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8B0D4D55-F417-1B2A-1A25-443C60A1C6BA}"/>
              </a:ext>
            </a:extLst>
          </p:cNvPr>
          <p:cNvCxnSpPr>
            <a:cxnSpLocks/>
          </p:cNvCxnSpPr>
          <p:nvPr/>
        </p:nvCxnSpPr>
        <p:spPr>
          <a:xfrm>
            <a:off x="16076459" y="7721450"/>
            <a:ext cx="45894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A20EF8DA-9BB5-006D-EA29-7B2F2930B4B8}"/>
              </a:ext>
            </a:extLst>
          </p:cNvPr>
          <p:cNvCxnSpPr>
            <a:cxnSpLocks/>
          </p:cNvCxnSpPr>
          <p:nvPr/>
        </p:nvCxnSpPr>
        <p:spPr>
          <a:xfrm>
            <a:off x="16076459" y="9038805"/>
            <a:ext cx="45894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" name="Picture 5">
            <a:extLst>
              <a:ext uri="{FF2B5EF4-FFF2-40B4-BE49-F238E27FC236}">
                <a16:creationId xmlns:a16="http://schemas.microsoft.com/office/drawing/2014/main" id="{BCCD7783-88EC-1A03-F00A-E4BE241E99A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FD2BDB41-55C0-8E70-D9DF-5BC9737EFC54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738D0DA5-3B81-9BD0-9636-BA09FD9D8A67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b="0" i="0" u="none" strike="noStrike" dirty="0">
                <a:solidFill>
                  <a:srgbClr val="202020"/>
                </a:solidFill>
                <a:latin typeface="Pretendard Bold"/>
              </a:rPr>
              <a:t>4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D3844B81-66AC-AE96-6430-BC90B13C4A43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600" b="0" i="0" u="none" strike="noStrike" dirty="0">
                <a:solidFill>
                  <a:srgbClr val="202020"/>
                </a:solidFill>
                <a:ea typeface="Pretendard Medium"/>
              </a:rPr>
              <a:t>시스템 구성도</a:t>
            </a:r>
            <a:endParaRPr lang="ko-KR" sz="3600" b="0" i="0" u="none" strike="noStrike" dirty="0">
              <a:solidFill>
                <a:srgbClr val="202020"/>
              </a:solidFill>
              <a:ea typeface="Pretendard Medium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83AF476-A7C3-4EDE-F2FE-1F285A953C76}"/>
              </a:ext>
            </a:extLst>
          </p:cNvPr>
          <p:cNvSpPr/>
          <p:nvPr/>
        </p:nvSpPr>
        <p:spPr>
          <a:xfrm>
            <a:off x="13358682" y="6830659"/>
            <a:ext cx="2874133" cy="3131508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85D5B476-77C0-079C-123A-46655D010FB3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17168320" y="7589595"/>
            <a:ext cx="1061334" cy="5806477"/>
          </a:xfrm>
          <a:prstGeom prst="bentConnector2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1BFDF2E-9B50-BD9B-DD68-B70E83D883FA}"/>
              </a:ext>
            </a:extLst>
          </p:cNvPr>
          <p:cNvSpPr txBox="1"/>
          <p:nvPr/>
        </p:nvSpPr>
        <p:spPr>
          <a:xfrm>
            <a:off x="20602226" y="10703682"/>
            <a:ext cx="3095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Pretendard Bold" panose="020B0600000101010101" charset="-127"/>
                <a:ea typeface="Pretendard Bold" panose="020B0600000101010101" charset="-127"/>
              </a:rPr>
              <a:t>MSA</a:t>
            </a:r>
            <a:r>
              <a:rPr lang="ko-KR" altLang="en-US" sz="3200" b="1" dirty="0">
                <a:latin typeface="Pretendard Bold" panose="020B0600000101010101" charset="-127"/>
                <a:ea typeface="Pretendard Bold" panose="020B0600000101010101" charset="-127"/>
              </a:rPr>
              <a:t>로 변경 예정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95DD1-8281-DD1C-8C2A-63164DB6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4C177E5-1824-09FE-0CE8-28418704D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C7B74E8-4147-8024-96BE-3DB806C8A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F2653653-9A18-BEFF-4322-1AC14D7C3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B59D0A9B-7996-1CD3-BD19-5F2657AD56D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B1954274-8D01-1EA3-B1C6-22CE71F8016A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b="0" i="0" u="none" strike="noStrike" dirty="0">
                <a:solidFill>
                  <a:srgbClr val="202020"/>
                </a:solidFill>
                <a:latin typeface="Pretendard Bold"/>
              </a:rPr>
              <a:t>5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C78B69F-6043-E81A-3193-235316834F30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600" dirty="0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DB</a:t>
            </a:r>
            <a:endParaRPr lang="ko-KR" sz="3600" b="0" i="0" u="none" strike="noStrike" dirty="0">
              <a:solidFill>
                <a:srgbClr val="20202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DC1F34-5750-B19C-6D17-0C05A2852D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2320636"/>
            <a:ext cx="17678400" cy="964276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808D153-CC4F-716B-21CB-1C33C79E34CF}"/>
              </a:ext>
            </a:extLst>
          </p:cNvPr>
          <p:cNvSpPr/>
          <p:nvPr/>
        </p:nvSpPr>
        <p:spPr>
          <a:xfrm>
            <a:off x="20497800" y="2286000"/>
            <a:ext cx="3533738" cy="2222499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9BB47A4-0C4E-5936-2DC9-7EDF615A9210}"/>
              </a:ext>
            </a:extLst>
          </p:cNvPr>
          <p:cNvSpPr/>
          <p:nvPr/>
        </p:nvSpPr>
        <p:spPr>
          <a:xfrm>
            <a:off x="20891657" y="3026587"/>
            <a:ext cx="2622612" cy="928886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 err="1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공공데이터포털</a:t>
            </a:r>
            <a:endParaRPr lang="ko-KR" altLang="en-US" sz="28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7" name="Picture 40" descr="공공데이터포털">
            <a:extLst>
              <a:ext uri="{FF2B5EF4-FFF2-40B4-BE49-F238E27FC236}">
                <a16:creationId xmlns:a16="http://schemas.microsoft.com/office/drawing/2014/main" id="{E3D797C9-B416-6A30-241E-8C4EE66B2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2319" y="2732331"/>
            <a:ext cx="5062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1BA7C9-4A67-293E-5B68-5544064494E5}"/>
              </a:ext>
            </a:extLst>
          </p:cNvPr>
          <p:cNvSpPr txBox="1"/>
          <p:nvPr/>
        </p:nvSpPr>
        <p:spPr>
          <a:xfrm>
            <a:off x="20438778" y="1980625"/>
            <a:ext cx="2345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Pretendard Bold" panose="020B0600000101010101" charset="-127"/>
                <a:ea typeface="Pretendard Bold" panose="020B0600000101010101" charset="-127"/>
              </a:rPr>
              <a:t>API</a:t>
            </a:r>
            <a:endParaRPr lang="ko-KR" altLang="en-US" sz="3200" b="1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D2F31C-0A3B-88DA-588C-B2C3ED204812}"/>
              </a:ext>
            </a:extLst>
          </p:cNvPr>
          <p:cNvSpPr/>
          <p:nvPr/>
        </p:nvSpPr>
        <p:spPr>
          <a:xfrm>
            <a:off x="8048985" y="4487163"/>
            <a:ext cx="11077215" cy="511403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3B4C8310-4504-ABD5-A0D9-E94C00B750CB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19550196" y="4143526"/>
            <a:ext cx="2349501" cy="3079447"/>
          </a:xfrm>
          <a:prstGeom prst="bentConnector2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88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95DD1-8281-DD1C-8C2A-63164DB6A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ABAE586-1CB8-7342-96E2-20DF5EE53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320636"/>
            <a:ext cx="17678400" cy="9642764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A4C177E5-1824-09FE-0CE8-28418704D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C7B74E8-4147-8024-96BE-3DB806C8A2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F2653653-9A18-BEFF-4322-1AC14D7C3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B59D0A9B-7996-1CD3-BD19-5F2657AD56D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B1954274-8D01-1EA3-B1C6-22CE71F8016A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b="0" i="0" u="none" strike="noStrike" dirty="0">
                <a:solidFill>
                  <a:srgbClr val="202020"/>
                </a:solidFill>
                <a:latin typeface="Pretendard Bold"/>
              </a:rPr>
              <a:t>6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C78B69F-6043-E81A-3193-235316834F30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600" dirty="0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DB</a:t>
            </a:r>
            <a:endParaRPr lang="ko-KR" sz="3600" b="0" i="0" u="none" strike="noStrike" dirty="0">
              <a:solidFill>
                <a:srgbClr val="20202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D2F31C-0A3B-88DA-588C-B2C3ED204812}"/>
              </a:ext>
            </a:extLst>
          </p:cNvPr>
          <p:cNvSpPr/>
          <p:nvPr/>
        </p:nvSpPr>
        <p:spPr>
          <a:xfrm>
            <a:off x="13739993" y="4419600"/>
            <a:ext cx="5310008" cy="5181600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D2F31C-0A3B-88DA-588C-B2C3ED204812}"/>
              </a:ext>
            </a:extLst>
          </p:cNvPr>
          <p:cNvSpPr/>
          <p:nvPr/>
        </p:nvSpPr>
        <p:spPr>
          <a:xfrm>
            <a:off x="8001000" y="2057400"/>
            <a:ext cx="5181600" cy="23622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D2F31C-0A3B-88DA-588C-B2C3ED204812}"/>
              </a:ext>
            </a:extLst>
          </p:cNvPr>
          <p:cNvSpPr/>
          <p:nvPr/>
        </p:nvSpPr>
        <p:spPr>
          <a:xfrm>
            <a:off x="8001000" y="8763000"/>
            <a:ext cx="5181600" cy="31242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BFDF2E-9B50-BD9B-DD68-B70E83D883FA}"/>
              </a:ext>
            </a:extLst>
          </p:cNvPr>
          <p:cNvSpPr txBox="1"/>
          <p:nvPr/>
        </p:nvSpPr>
        <p:spPr>
          <a:xfrm>
            <a:off x="15726819" y="9636967"/>
            <a:ext cx="3564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 err="1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</a:rPr>
              <a:t>restarea</a:t>
            </a:r>
            <a:r>
              <a:rPr lang="en-US" altLang="ko-KR" sz="32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</a:rPr>
              <a:t>-unit</a:t>
            </a:r>
            <a:endParaRPr lang="ko-KR" altLang="en-US" sz="3200" b="1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BFDF2E-9B50-BD9B-DD68-B70E83D883FA}"/>
              </a:ext>
            </a:extLst>
          </p:cNvPr>
          <p:cNvSpPr txBox="1"/>
          <p:nvPr/>
        </p:nvSpPr>
        <p:spPr>
          <a:xfrm>
            <a:off x="12344400" y="10972800"/>
            <a:ext cx="3564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Pretendard Bold" panose="020B0600000101010101" charset="-127"/>
                <a:ea typeface="Pretendard Bold" panose="020B0600000101010101" charset="-127"/>
              </a:rPr>
              <a:t>content</a:t>
            </a:r>
            <a:endParaRPr lang="ko-KR" altLang="en-US" sz="3200" b="1" dirty="0">
              <a:solidFill>
                <a:schemeClr val="bg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965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7" grpId="0" animBg="1"/>
      <p:bldP spid="18" grpId="0" animBg="1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EFE4D-B280-9DA1-797E-F3284250E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DA02B41-DFA7-7F83-4B91-3693DC7D0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D25836E-7528-F9C6-5159-02B496987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39EA762B-4B8F-DE11-2256-C95C57085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71358720-C36C-6F57-D31C-C5B2B5DED5A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510679FB-67A9-4435-6201-C89E3942D019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b="0" i="0" u="none" strike="noStrike" dirty="0">
                <a:solidFill>
                  <a:srgbClr val="202020"/>
                </a:solidFill>
                <a:latin typeface="Pretendard Bold"/>
              </a:rPr>
              <a:t>7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109436EB-60EC-0FC1-5155-889CA3FBEB35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600" b="0" i="0" u="none" strike="noStrike" dirty="0">
                <a:solidFill>
                  <a:srgbClr val="202020"/>
                </a:solidFill>
                <a:ea typeface="Pretendard Medium"/>
              </a:rPr>
              <a:t>시스템 구성도</a:t>
            </a:r>
            <a:endParaRPr lang="ko-KR" sz="3600" b="0" i="0" u="none" strike="noStrike" dirty="0">
              <a:solidFill>
                <a:srgbClr val="202020"/>
              </a:solidFill>
              <a:ea typeface="Pretendard Medium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ADC8A56-BD27-1F86-16AA-26C45AC6208B}"/>
              </a:ext>
            </a:extLst>
          </p:cNvPr>
          <p:cNvSpPr/>
          <p:nvPr/>
        </p:nvSpPr>
        <p:spPr>
          <a:xfrm>
            <a:off x="9792010" y="6239532"/>
            <a:ext cx="2880000" cy="2880000"/>
          </a:xfrm>
          <a:prstGeom prst="rect">
            <a:avLst/>
          </a:prstGeom>
          <a:solidFill>
            <a:srgbClr val="E9F8E4"/>
          </a:solidFill>
          <a:ln w="19050" cap="flat" cmpd="sng" algn="ctr">
            <a:solidFill>
              <a:srgbClr val="D4F1CA"/>
            </a:solidFill>
            <a:prstDash val="solid"/>
            <a:round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4000" b="1" dirty="0" err="1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nGrinder</a:t>
            </a:r>
            <a:endParaRPr lang="en-US" altLang="ko-KR" sz="20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3179B2-BB22-19F4-26BC-1939216526C5}"/>
              </a:ext>
            </a:extLst>
          </p:cNvPr>
          <p:cNvSpPr/>
          <p:nvPr/>
        </p:nvSpPr>
        <p:spPr>
          <a:xfrm>
            <a:off x="4883619" y="5486742"/>
            <a:ext cx="3118971" cy="4485625"/>
          </a:xfrm>
          <a:prstGeom prst="rect">
            <a:avLst/>
          </a:prstGeom>
          <a:solidFill>
            <a:srgbClr val="E9F8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Consolas" panose="020B0609020204030204" pitchFamily="49" charset="0"/>
            </a:endParaRPr>
          </a:p>
        </p:txBody>
      </p:sp>
      <p:pic>
        <p:nvPicPr>
          <p:cNvPr id="6" name="Picture 28" descr="Client Generic Basic Outline icon | Freepik">
            <a:extLst>
              <a:ext uri="{FF2B5EF4-FFF2-40B4-BE49-F238E27FC236}">
                <a16:creationId xmlns:a16="http://schemas.microsoft.com/office/drawing/2014/main" id="{D03B6E50-294F-ECB3-46DA-8DDD7338E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000" y="8663939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8" descr="Client Generic Basic Outline icon | Freepik">
            <a:extLst>
              <a:ext uri="{FF2B5EF4-FFF2-40B4-BE49-F238E27FC236}">
                <a16:creationId xmlns:a16="http://schemas.microsoft.com/office/drawing/2014/main" id="{E8818B89-61B8-CCED-795E-813FA2A96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0" y="6462599"/>
            <a:ext cx="252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8" descr="Client Generic Basic Outline icon | Freepik">
            <a:extLst>
              <a:ext uri="{FF2B5EF4-FFF2-40B4-BE49-F238E27FC236}">
                <a16:creationId xmlns:a16="http://schemas.microsoft.com/office/drawing/2014/main" id="{50918424-2C7A-68CF-3273-242D2FEAC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000" y="4981259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3F659EC-C970-B1D0-388C-80DADF61F60D}"/>
              </a:ext>
            </a:extLst>
          </p:cNvPr>
          <p:cNvSpPr/>
          <p:nvPr/>
        </p:nvSpPr>
        <p:spPr>
          <a:xfrm>
            <a:off x="4509524" y="5018864"/>
            <a:ext cx="3872476" cy="5523971"/>
          </a:xfrm>
          <a:prstGeom prst="rect">
            <a:avLst/>
          </a:prstGeom>
          <a:noFill/>
          <a:ln w="28575">
            <a:solidFill>
              <a:srgbClr val="0091E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24B5A39-3C35-1AD8-1EEB-989D590D2AD5}"/>
              </a:ext>
            </a:extLst>
          </p:cNvPr>
          <p:cNvCxnSpPr>
            <a:cxnSpLocks/>
          </p:cNvCxnSpPr>
          <p:nvPr/>
        </p:nvCxnSpPr>
        <p:spPr>
          <a:xfrm>
            <a:off x="3286091" y="7783610"/>
            <a:ext cx="939800" cy="2760"/>
          </a:xfrm>
          <a:prstGeom prst="straightConnector1">
            <a:avLst/>
          </a:prstGeom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Picture 24">
            <a:extLst>
              <a:ext uri="{FF2B5EF4-FFF2-40B4-BE49-F238E27FC236}">
                <a16:creationId xmlns:a16="http://schemas.microsoft.com/office/drawing/2014/main" id="{1384A87E-210D-7799-DDBB-41FF0FEE3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9653" y="6341568"/>
            <a:ext cx="809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7977DC-E7F0-1597-028F-EDFA14BF6BE8}"/>
              </a:ext>
            </a:extLst>
          </p:cNvPr>
          <p:cNvSpPr/>
          <p:nvPr/>
        </p:nvSpPr>
        <p:spPr>
          <a:xfrm>
            <a:off x="14148313" y="1828800"/>
            <a:ext cx="8561928" cy="1879071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5F12296-88F7-BEA3-0681-5265091B1BF5}"/>
              </a:ext>
            </a:extLst>
          </p:cNvPr>
          <p:cNvSpPr/>
          <p:nvPr/>
        </p:nvSpPr>
        <p:spPr>
          <a:xfrm>
            <a:off x="5205967" y="6597124"/>
            <a:ext cx="2420464" cy="2259343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React</a:t>
            </a:r>
            <a:endParaRPr lang="ko-KR" altLang="en-US" sz="40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C9BF89-57EB-DF47-A52B-54245774EDFA}"/>
              </a:ext>
            </a:extLst>
          </p:cNvPr>
          <p:cNvSpPr txBox="1"/>
          <p:nvPr/>
        </p:nvSpPr>
        <p:spPr>
          <a:xfrm>
            <a:off x="5270593" y="5201869"/>
            <a:ext cx="2345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Pretendard Bold" panose="020B0600000101010101" charset="-127"/>
                <a:ea typeface="Pretendard Bold" panose="020B0600000101010101" charset="-127"/>
              </a:rPr>
              <a:t>Frontend</a:t>
            </a:r>
            <a:endParaRPr lang="ko-KR" altLang="en-US" sz="3200" b="1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BB648C-EB75-8D51-F16A-8A1D366C7888}"/>
              </a:ext>
            </a:extLst>
          </p:cNvPr>
          <p:cNvSpPr txBox="1"/>
          <p:nvPr/>
        </p:nvSpPr>
        <p:spPr>
          <a:xfrm>
            <a:off x="940102" y="4472327"/>
            <a:ext cx="23450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latin typeface="Pretendard Bold" panose="020B0600000101010101" charset="-127"/>
                <a:ea typeface="Pretendard Bold" panose="020B0600000101010101" charset="-127"/>
              </a:rPr>
              <a:t>Client</a:t>
            </a:r>
            <a:endParaRPr lang="ko-KR" altLang="en-US" sz="3200" b="1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82F91BF-E193-5043-A861-1F25083561A3}"/>
              </a:ext>
            </a:extLst>
          </p:cNvPr>
          <p:cNvSpPr/>
          <p:nvPr/>
        </p:nvSpPr>
        <p:spPr>
          <a:xfrm>
            <a:off x="14328241" y="2466494"/>
            <a:ext cx="2420464" cy="928886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 err="1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Tmap</a:t>
            </a:r>
            <a:endParaRPr lang="ko-KR" altLang="en-US" sz="28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6F138C7-D0FB-69EA-C84C-302B7747A36D}"/>
              </a:ext>
            </a:extLst>
          </p:cNvPr>
          <p:cNvSpPr/>
          <p:nvPr/>
        </p:nvSpPr>
        <p:spPr>
          <a:xfrm>
            <a:off x="17021485" y="2466494"/>
            <a:ext cx="2622612" cy="928886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 err="1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공공데이터포털</a:t>
            </a:r>
            <a:endParaRPr lang="ko-KR" altLang="en-US" sz="28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C5EFD21-A7D8-469E-F134-61F36BE448FC}"/>
              </a:ext>
            </a:extLst>
          </p:cNvPr>
          <p:cNvSpPr/>
          <p:nvPr/>
        </p:nvSpPr>
        <p:spPr>
          <a:xfrm>
            <a:off x="19859029" y="2463715"/>
            <a:ext cx="2622612" cy="928886"/>
          </a:xfrm>
          <a:prstGeom prst="roundRect">
            <a:avLst>
              <a:gd name="adj" fmla="val 17568"/>
            </a:avLst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b="1" dirty="0" err="1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openai</a:t>
            </a:r>
            <a:endParaRPr lang="ko-KR" altLang="en-US" sz="28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37" name="그림 36" descr="그래픽, 다채로움, 그래픽 디자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B176C4-F24A-A6FC-32F2-ABDCCEA1572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0284" y="2211229"/>
            <a:ext cx="540000" cy="540000"/>
          </a:xfrm>
          <a:prstGeom prst="rect">
            <a:avLst/>
          </a:prstGeom>
        </p:spPr>
      </p:pic>
      <p:pic>
        <p:nvPicPr>
          <p:cNvPr id="39" name="Picture 40" descr="공공데이터포털">
            <a:extLst>
              <a:ext uri="{FF2B5EF4-FFF2-40B4-BE49-F238E27FC236}">
                <a16:creationId xmlns:a16="http://schemas.microsoft.com/office/drawing/2014/main" id="{CC069EDC-0240-2949-72E9-2BEF5B5B8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2147" y="2172238"/>
            <a:ext cx="50625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42" descr="OpenAI Icon SVG Vector &amp; PNG Free Download | UXWing">
            <a:extLst>
              <a:ext uri="{FF2B5EF4-FFF2-40B4-BE49-F238E27FC236}">
                <a16:creationId xmlns:a16="http://schemas.microsoft.com/office/drawing/2014/main" id="{B9BDF8C4-0094-171A-5EFF-DEABD561B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0260" y="222989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0" descr="Vercel icon - Free Download PNG &amp; SVG | Streamline">
            <a:extLst>
              <a:ext uri="{FF2B5EF4-FFF2-40B4-BE49-F238E27FC236}">
                <a16:creationId xmlns:a16="http://schemas.microsoft.com/office/drawing/2014/main" id="{CBF8A1B4-EE99-B0B7-73DD-39D503BA4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48" y="4085085"/>
            <a:ext cx="1396139" cy="1396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id="{5BCAB796-C294-ECBD-0A29-D624E8FE7531}"/>
              </a:ext>
            </a:extLst>
          </p:cNvPr>
          <p:cNvSpPr/>
          <p:nvPr/>
        </p:nvSpPr>
        <p:spPr>
          <a:xfrm>
            <a:off x="9432010" y="5879532"/>
            <a:ext cx="3600000" cy="3600000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45" name="가로 글상자 9">
            <a:extLst>
              <a:ext uri="{FF2B5EF4-FFF2-40B4-BE49-F238E27FC236}">
                <a16:creationId xmlns:a16="http://schemas.microsoft.com/office/drawing/2014/main" id="{97D89DE5-D35D-9579-47CA-8F86D111E157}"/>
              </a:ext>
            </a:extLst>
          </p:cNvPr>
          <p:cNvSpPr txBox="1"/>
          <p:nvPr/>
        </p:nvSpPr>
        <p:spPr>
          <a:xfrm>
            <a:off x="9589462" y="5369200"/>
            <a:ext cx="32883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 b="1" dirty="0">
                <a:latin typeface="Pretendard Bold" panose="020B0600000101010101" charset="-127"/>
                <a:ea typeface="Pretendard Bold" panose="020B0600000101010101" charset="-127"/>
              </a:rPr>
              <a:t>AWS instance 1</a:t>
            </a:r>
          </a:p>
        </p:txBody>
      </p:sp>
      <p:sp>
        <p:nvSpPr>
          <p:cNvPr id="46" name="가로 글상자 34">
            <a:extLst>
              <a:ext uri="{FF2B5EF4-FFF2-40B4-BE49-F238E27FC236}">
                <a16:creationId xmlns:a16="http://schemas.microsoft.com/office/drawing/2014/main" id="{DB79B762-9C29-6FA3-10F7-9B3A130BDFAE}"/>
              </a:ext>
            </a:extLst>
          </p:cNvPr>
          <p:cNvSpPr txBox="1"/>
          <p:nvPr/>
        </p:nvSpPr>
        <p:spPr>
          <a:xfrm>
            <a:off x="17565783" y="6802065"/>
            <a:ext cx="13910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ko-KR" b="0" i="0" u="none" strike="noStrike" kern="1200" cap="none" spc="0" normalizeH="0" baseline="0" dirty="0">
                <a:solidFill>
                  <a:srgbClr val="000000"/>
                </a:solidFill>
                <a:latin typeface="Pretendard Medium" panose="020B0600000101010101" charset="-127"/>
                <a:ea typeface="Pretendard Medium" panose="020B0600000101010101" charset="-127"/>
                <a:cs typeface="Calibri"/>
              </a:rPr>
              <a:t> 8081</a:t>
            </a:r>
          </a:p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dirty="0">
                <a:solidFill>
                  <a:srgbClr val="000000"/>
                </a:solidFill>
                <a:latin typeface="Pretendard Medium" panose="020B0600000101010101" charset="-127"/>
                <a:ea typeface="Pretendard Medium" panose="020B0600000101010101" charset="-127"/>
                <a:cs typeface="Calibri"/>
              </a:rPr>
              <a:t>-</a:t>
            </a:r>
            <a:r>
              <a:rPr kumimoji="0" lang="en-US" altLang="ko-KR" b="0" i="0" u="none" strike="noStrike" kern="1200" cap="none" spc="0" normalizeH="0" baseline="0" dirty="0">
                <a:solidFill>
                  <a:srgbClr val="000000"/>
                </a:solidFill>
                <a:latin typeface="Pretendard Medium" panose="020B0600000101010101" charset="-127"/>
                <a:ea typeface="Pretendard Medium" panose="020B0600000101010101" charset="-127"/>
                <a:cs typeface="Calibri"/>
              </a:rPr>
              <a:t>8087</a:t>
            </a:r>
          </a:p>
        </p:txBody>
      </p:sp>
      <p:sp>
        <p:nvSpPr>
          <p:cNvPr id="47" name="직사각형 11">
            <a:extLst>
              <a:ext uri="{FF2B5EF4-FFF2-40B4-BE49-F238E27FC236}">
                <a16:creationId xmlns:a16="http://schemas.microsoft.com/office/drawing/2014/main" id="{95DE457A-D025-9E7F-2D85-ABD6809A78ED}"/>
              </a:ext>
            </a:extLst>
          </p:cNvPr>
          <p:cNvSpPr/>
          <p:nvPr/>
        </p:nvSpPr>
        <p:spPr>
          <a:xfrm>
            <a:off x="8847759" y="4064861"/>
            <a:ext cx="14509421" cy="7150207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>
              <a:latin typeface="Consolas" panose="020B0609020204030204" pitchFamily="49" charset="0"/>
            </a:endParaRPr>
          </a:p>
        </p:txBody>
      </p:sp>
      <p:pic>
        <p:nvPicPr>
          <p:cNvPr id="48" name="Picture 4" descr="Spring] nGrinder 사용법 정리">
            <a:extLst>
              <a:ext uri="{FF2B5EF4-FFF2-40B4-BE49-F238E27FC236}">
                <a16:creationId xmlns:a16="http://schemas.microsoft.com/office/drawing/2014/main" id="{5F4D97E5-F789-7DA7-E90E-12B630D63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5321" y="6068528"/>
            <a:ext cx="660670" cy="41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가로 글상자 34">
            <a:extLst>
              <a:ext uri="{FF2B5EF4-FFF2-40B4-BE49-F238E27FC236}">
                <a16:creationId xmlns:a16="http://schemas.microsoft.com/office/drawing/2014/main" id="{0969E5F6-F6D7-0675-6945-6B57F97FF3B8}"/>
              </a:ext>
            </a:extLst>
          </p:cNvPr>
          <p:cNvSpPr txBox="1"/>
          <p:nvPr/>
        </p:nvSpPr>
        <p:spPr>
          <a:xfrm>
            <a:off x="17600773" y="8162632"/>
            <a:ext cx="13910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ko-KR" b="0" i="0" u="none" strike="noStrike" kern="1200" cap="none" spc="0" normalizeH="0" baseline="0" dirty="0">
                <a:solidFill>
                  <a:srgbClr val="000000"/>
                </a:solidFill>
                <a:latin typeface="Pretendard Medium" panose="020B0600000101010101" charset="-127"/>
                <a:ea typeface="Pretendard Medium" panose="020B0600000101010101" charset="-127"/>
                <a:cs typeface="Calibri"/>
              </a:rPr>
              <a:t>8765</a:t>
            </a:r>
          </a:p>
        </p:txBody>
      </p:sp>
      <p:sp>
        <p:nvSpPr>
          <p:cNvPr id="50" name="가로 글상자 34">
            <a:extLst>
              <a:ext uri="{FF2B5EF4-FFF2-40B4-BE49-F238E27FC236}">
                <a16:creationId xmlns:a16="http://schemas.microsoft.com/office/drawing/2014/main" id="{F13E6316-B863-A2B3-0447-7D902EEAC612}"/>
              </a:ext>
            </a:extLst>
          </p:cNvPr>
          <p:cNvSpPr txBox="1"/>
          <p:nvPr/>
        </p:nvSpPr>
        <p:spPr>
          <a:xfrm>
            <a:off x="12876178" y="7238167"/>
            <a:ext cx="13910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kumimoji="0" lang="en-US" altLang="ko-KR" b="0" i="0" u="none" strike="noStrike" kern="1200" cap="none" spc="0" normalizeH="0" baseline="0" dirty="0">
                <a:solidFill>
                  <a:srgbClr val="000000"/>
                </a:solidFill>
                <a:latin typeface="Pretendard Medium" panose="020B0600000101010101" charset="-127"/>
                <a:ea typeface="Pretendard Medium" panose="020B0600000101010101" charset="-127"/>
                <a:cs typeface="Calibri"/>
              </a:rPr>
              <a:t>9000</a:t>
            </a:r>
          </a:p>
        </p:txBody>
      </p:sp>
      <p:cxnSp>
        <p:nvCxnSpPr>
          <p:cNvPr id="51" name="선 32">
            <a:extLst>
              <a:ext uri="{FF2B5EF4-FFF2-40B4-BE49-F238E27FC236}">
                <a16:creationId xmlns:a16="http://schemas.microsoft.com/office/drawing/2014/main" id="{4549E16F-6D5F-4D63-7219-D7184736AE3F}"/>
              </a:ext>
            </a:extLst>
          </p:cNvPr>
          <p:cNvCxnSpPr>
            <a:cxnSpLocks/>
          </p:cNvCxnSpPr>
          <p:nvPr/>
        </p:nvCxnSpPr>
        <p:spPr>
          <a:xfrm flipV="1">
            <a:off x="15980944" y="9565048"/>
            <a:ext cx="17178" cy="1833528"/>
          </a:xfrm>
          <a:prstGeom prst="line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가로 글상자 34">
            <a:extLst>
              <a:ext uri="{FF2B5EF4-FFF2-40B4-BE49-F238E27FC236}">
                <a16:creationId xmlns:a16="http://schemas.microsoft.com/office/drawing/2014/main" id="{F931AD0F-53E4-EAA5-4778-52E7C0E4B4B4}"/>
              </a:ext>
            </a:extLst>
          </p:cNvPr>
          <p:cNvSpPr txBox="1"/>
          <p:nvPr/>
        </p:nvSpPr>
        <p:spPr>
          <a:xfrm>
            <a:off x="15134919" y="11447828"/>
            <a:ext cx="17092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 dirty="0">
                <a:solidFill>
                  <a:srgbClr val="000000"/>
                </a:solidFill>
                <a:latin typeface="Pretendard Medium" panose="020B0600000101010101" charset="-127"/>
                <a:ea typeface="Pretendard Medium" panose="020B0600000101010101" charset="-127"/>
                <a:cs typeface="Calibri"/>
              </a:rPr>
              <a:t>9000</a:t>
            </a:r>
            <a:endParaRPr kumimoji="0" lang="en-US" altLang="ko-KR" sz="2000" b="0" i="0" u="none" strike="noStrike" kern="1200" cap="none" spc="0" normalizeH="0" baseline="0" dirty="0">
              <a:solidFill>
                <a:srgbClr val="000000"/>
              </a:solidFill>
              <a:latin typeface="Pretendard Medium" panose="020B0600000101010101" charset="-127"/>
              <a:ea typeface="Pretendard Medium" panose="020B0600000101010101" charset="-127"/>
              <a:cs typeface="Calibri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01AB0E5C-8440-CFEF-7818-E1FE02FA31D7}"/>
              </a:ext>
            </a:extLst>
          </p:cNvPr>
          <p:cNvCxnSpPr>
            <a:cxnSpLocks/>
          </p:cNvCxnSpPr>
          <p:nvPr/>
        </p:nvCxnSpPr>
        <p:spPr>
          <a:xfrm flipH="1">
            <a:off x="6400800" y="11643984"/>
            <a:ext cx="9067800" cy="3915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284A45A-5E44-05FA-63ED-6F0AF50438B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6445762" y="10542835"/>
            <a:ext cx="0" cy="114030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22D982B-033F-8594-55C7-A5DF7E409D0C}"/>
              </a:ext>
            </a:extLst>
          </p:cNvPr>
          <p:cNvSpPr/>
          <p:nvPr/>
        </p:nvSpPr>
        <p:spPr>
          <a:xfrm>
            <a:off x="14508313" y="6239532"/>
            <a:ext cx="2880000" cy="2880000"/>
          </a:xfrm>
          <a:prstGeom prst="rect">
            <a:avLst/>
          </a:prstGeom>
          <a:solidFill>
            <a:srgbClr val="E9F8E4"/>
          </a:solidFill>
          <a:ln w="19050" cap="flat" cmpd="sng" algn="ctr">
            <a:solidFill>
              <a:srgbClr val="D4F1CA"/>
            </a:solidFill>
            <a:prstDash val="solid"/>
            <a:round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Gateway</a:t>
            </a:r>
          </a:p>
          <a:p>
            <a:pPr lvl="0" algn="ctr"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&amp;</a:t>
            </a:r>
          </a:p>
          <a:p>
            <a:pPr lvl="0" algn="ctr"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Eureka</a:t>
            </a:r>
            <a:endParaRPr lang="en-US" altLang="ko-KR" sz="20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D1E0416-E3D9-9648-04A2-1160AD877923}"/>
              </a:ext>
            </a:extLst>
          </p:cNvPr>
          <p:cNvSpPr/>
          <p:nvPr/>
        </p:nvSpPr>
        <p:spPr>
          <a:xfrm>
            <a:off x="14148313" y="5879532"/>
            <a:ext cx="3600000" cy="3600000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>
              <a:latin typeface="Consolas" panose="020B0609020204030204" pitchFamily="49" charset="0"/>
            </a:endParaRPr>
          </a:p>
        </p:txBody>
      </p:sp>
      <p:pic>
        <p:nvPicPr>
          <p:cNvPr id="69" name="Picture 2" descr="Contents | 토리맘의 한글라이즈 프로젝트">
            <a:extLst>
              <a:ext uri="{FF2B5EF4-FFF2-40B4-BE49-F238E27FC236}">
                <a16:creationId xmlns:a16="http://schemas.microsoft.com/office/drawing/2014/main" id="{47801E8C-4A6B-CA33-548F-9FBE78DF4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10000" b="90000" l="8250" r="91750">
                        <a14:foregroundMark x1="8250" y1="57250" x2="8250" y2="57250"/>
                        <a14:foregroundMark x1="91750" y1="58000" x2="91750" y2="58000"/>
                        <a14:foregroundMark x1="34750" y1="70500" x2="34750" y2="70500"/>
                        <a14:foregroundMark x1="57000" y1="52250" x2="57000" y2="52250"/>
                        <a14:foregroundMark x1="71250" y1="40250" x2="71250" y2="40250"/>
                        <a14:foregroundMark x1="75250" y1="43250" x2="61000" y2="45500"/>
                        <a14:foregroundMark x1="61000" y1="45500" x2="62500" y2="47750"/>
                        <a14:foregroundMark x1="71500" y1="59500" x2="59250" y2="53000"/>
                        <a14:foregroundMark x1="59250" y1="53000" x2="63500" y2="55500"/>
                        <a14:foregroundMark x1="50500" y1="45500" x2="39000" y2="56000"/>
                        <a14:foregroundMark x1="64500" y1="38500" x2="40250" y2="63000"/>
                        <a14:foregroundMark x1="58500" y1="40000" x2="39250" y2="58250"/>
                        <a14:foregroundMark x1="60750" y1="35500" x2="55000" y2="53250"/>
                        <a14:foregroundMark x1="70250" y1="30750" x2="72500" y2="44250"/>
                        <a14:foregroundMark x1="71250" y1="35500" x2="74250" y2="48250"/>
                        <a14:foregroundMark x1="73250" y1="45750" x2="69750" y2="59750"/>
                        <a14:foregroundMark x1="73250" y1="49250" x2="67500" y2="65500"/>
                        <a14:foregroundMark x1="70750" y1="55000" x2="53250" y2="68500"/>
                        <a14:foregroundMark x1="60000" y1="64750" x2="48250" y2="7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6334" y="5875256"/>
            <a:ext cx="705960" cy="7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직사각형 69">
            <a:extLst>
              <a:ext uri="{FF2B5EF4-FFF2-40B4-BE49-F238E27FC236}">
                <a16:creationId xmlns:a16="http://schemas.microsoft.com/office/drawing/2014/main" id="{05D44432-CEEE-BC8C-C06C-94594C9194C2}"/>
              </a:ext>
            </a:extLst>
          </p:cNvPr>
          <p:cNvSpPr/>
          <p:nvPr/>
        </p:nvSpPr>
        <p:spPr>
          <a:xfrm>
            <a:off x="19156513" y="5068607"/>
            <a:ext cx="3288338" cy="5221850"/>
          </a:xfrm>
          <a:prstGeom prst="rect">
            <a:avLst/>
          </a:prstGeom>
          <a:solidFill>
            <a:srgbClr val="E9F8E4"/>
          </a:solidFill>
          <a:ln w="19050" cap="flat" cmpd="sng" algn="ctr">
            <a:solidFill>
              <a:srgbClr val="D4F1CA"/>
            </a:solidFill>
            <a:prstDash val="solid"/>
            <a:round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sz="20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AE42971-CAF8-1399-36AC-779908BCF64A}"/>
              </a:ext>
            </a:extLst>
          </p:cNvPr>
          <p:cNvSpPr/>
          <p:nvPr/>
        </p:nvSpPr>
        <p:spPr>
          <a:xfrm>
            <a:off x="18796512" y="4608236"/>
            <a:ext cx="4032675" cy="61425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>
              <a:latin typeface="Consolas" panose="020B0609020204030204" pitchFamily="49" charset="0"/>
            </a:endParaRPr>
          </a:p>
        </p:txBody>
      </p:sp>
      <p:pic>
        <p:nvPicPr>
          <p:cNvPr id="75" name="Picture 12" descr="Spring boot 아이콘, 로고, 기호 – PNG, SVG 무료 다운로드">
            <a:extLst>
              <a:ext uri="{FF2B5EF4-FFF2-40B4-BE49-F238E27FC236}">
                <a16:creationId xmlns:a16="http://schemas.microsoft.com/office/drawing/2014/main" id="{C1CA6E39-EC3D-0804-8201-345F0E0E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2005" y="4816032"/>
            <a:ext cx="538182" cy="53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" name="직사각형 11">
            <a:extLst>
              <a:ext uri="{FF2B5EF4-FFF2-40B4-BE49-F238E27FC236}">
                <a16:creationId xmlns:a16="http://schemas.microsoft.com/office/drawing/2014/main" id="{E0BBD799-690F-D682-2F66-6708FE405E3F}"/>
              </a:ext>
            </a:extLst>
          </p:cNvPr>
          <p:cNvSpPr/>
          <p:nvPr/>
        </p:nvSpPr>
        <p:spPr>
          <a:xfrm>
            <a:off x="20044121" y="5487104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user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77" name="직사각형 11">
            <a:extLst>
              <a:ext uri="{FF2B5EF4-FFF2-40B4-BE49-F238E27FC236}">
                <a16:creationId xmlns:a16="http://schemas.microsoft.com/office/drawing/2014/main" id="{C91EB0F2-16A3-61F9-695D-133320224993}"/>
              </a:ext>
            </a:extLst>
          </p:cNvPr>
          <p:cNvSpPr/>
          <p:nvPr/>
        </p:nvSpPr>
        <p:spPr>
          <a:xfrm>
            <a:off x="20044121" y="6069085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78" name="직사각형 11">
            <a:extLst>
              <a:ext uri="{FF2B5EF4-FFF2-40B4-BE49-F238E27FC236}">
                <a16:creationId xmlns:a16="http://schemas.microsoft.com/office/drawing/2014/main" id="{BE4F4A31-2EDE-4B20-AFB7-8F24E636241D}"/>
              </a:ext>
            </a:extLst>
          </p:cNvPr>
          <p:cNvSpPr/>
          <p:nvPr/>
        </p:nvSpPr>
        <p:spPr>
          <a:xfrm>
            <a:off x="20044121" y="6651066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-unit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79" name="직사각형 11">
            <a:extLst>
              <a:ext uri="{FF2B5EF4-FFF2-40B4-BE49-F238E27FC236}">
                <a16:creationId xmlns:a16="http://schemas.microsoft.com/office/drawing/2014/main" id="{3973FF3D-8D15-768D-09F8-A15606ABEAF1}"/>
              </a:ext>
            </a:extLst>
          </p:cNvPr>
          <p:cNvSpPr/>
          <p:nvPr/>
        </p:nvSpPr>
        <p:spPr>
          <a:xfrm>
            <a:off x="20044121" y="7233047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content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80" name="직사각형 11">
            <a:extLst>
              <a:ext uri="{FF2B5EF4-FFF2-40B4-BE49-F238E27FC236}">
                <a16:creationId xmlns:a16="http://schemas.microsoft.com/office/drawing/2014/main" id="{D969778F-4778-4D4E-6370-41DA21C7DE15}"/>
              </a:ext>
            </a:extLst>
          </p:cNvPr>
          <p:cNvSpPr/>
          <p:nvPr/>
        </p:nvSpPr>
        <p:spPr>
          <a:xfrm>
            <a:off x="20044121" y="7815028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openapi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81" name="직사각형 11">
            <a:extLst>
              <a:ext uri="{FF2B5EF4-FFF2-40B4-BE49-F238E27FC236}">
                <a16:creationId xmlns:a16="http://schemas.microsoft.com/office/drawing/2014/main" id="{51B2923B-6986-0005-CA27-C3D2942CEF61}"/>
              </a:ext>
            </a:extLst>
          </p:cNvPr>
          <p:cNvSpPr/>
          <p:nvPr/>
        </p:nvSpPr>
        <p:spPr>
          <a:xfrm>
            <a:off x="20044121" y="8397009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tmapapi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82" name="직사각형 11">
            <a:extLst>
              <a:ext uri="{FF2B5EF4-FFF2-40B4-BE49-F238E27FC236}">
                <a16:creationId xmlns:a16="http://schemas.microsoft.com/office/drawing/2014/main" id="{8EA08983-0394-D301-0487-8488B8FDFF7C}"/>
              </a:ext>
            </a:extLst>
          </p:cNvPr>
          <p:cNvSpPr/>
          <p:nvPr/>
        </p:nvSpPr>
        <p:spPr>
          <a:xfrm>
            <a:off x="20044121" y="8978990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openai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83" name="직사각형 11">
            <a:extLst>
              <a:ext uri="{FF2B5EF4-FFF2-40B4-BE49-F238E27FC236}">
                <a16:creationId xmlns:a16="http://schemas.microsoft.com/office/drawing/2014/main" id="{489133BC-EBB5-839A-5675-C20A2A411CB4}"/>
              </a:ext>
            </a:extLst>
          </p:cNvPr>
          <p:cNvSpPr/>
          <p:nvPr/>
        </p:nvSpPr>
        <p:spPr>
          <a:xfrm>
            <a:off x="20044121" y="9560972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mariadb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D1BF84A9-95A3-8B96-D9C2-700D8C3102B9}"/>
              </a:ext>
            </a:extLst>
          </p:cNvPr>
          <p:cNvCxnSpPr>
            <a:cxnSpLocks/>
          </p:cNvCxnSpPr>
          <p:nvPr/>
        </p:nvCxnSpPr>
        <p:spPr>
          <a:xfrm>
            <a:off x="17904919" y="7583634"/>
            <a:ext cx="718557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ACBFCAB2-0D85-722B-F7E8-77EE197B10CF}"/>
              </a:ext>
            </a:extLst>
          </p:cNvPr>
          <p:cNvCxnSpPr>
            <a:cxnSpLocks/>
          </p:cNvCxnSpPr>
          <p:nvPr/>
        </p:nvCxnSpPr>
        <p:spPr>
          <a:xfrm flipH="1">
            <a:off x="17904919" y="8006255"/>
            <a:ext cx="718557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1042E57A-EEBA-5F81-BBCA-52FB58951D7B}"/>
              </a:ext>
            </a:extLst>
          </p:cNvPr>
          <p:cNvCxnSpPr>
            <a:cxnSpLocks/>
          </p:cNvCxnSpPr>
          <p:nvPr/>
        </p:nvCxnSpPr>
        <p:spPr>
          <a:xfrm>
            <a:off x="13221634" y="7679532"/>
            <a:ext cx="718557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BB13C2EB-FA3A-4211-259B-B8FBD8176306}"/>
              </a:ext>
            </a:extLst>
          </p:cNvPr>
          <p:cNvCxnSpPr>
            <a:cxnSpLocks/>
          </p:cNvCxnSpPr>
          <p:nvPr/>
        </p:nvCxnSpPr>
        <p:spPr>
          <a:xfrm flipH="1" flipV="1">
            <a:off x="22287861" y="8591084"/>
            <a:ext cx="1666402" cy="19516"/>
          </a:xfrm>
          <a:prstGeom prst="straightConnector1">
            <a:avLst/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5FBBBFA4-2C06-2B0D-824D-E617C766207B}"/>
              </a:ext>
            </a:extLst>
          </p:cNvPr>
          <p:cNvCxnSpPr/>
          <p:nvPr/>
        </p:nvCxnSpPr>
        <p:spPr>
          <a:xfrm rot="16200000" flipV="1">
            <a:off x="22233658" y="8060458"/>
            <a:ext cx="604345" cy="495939"/>
          </a:xfrm>
          <a:prstGeom prst="bentConnector3">
            <a:avLst>
              <a:gd name="adj1" fmla="val 99909"/>
            </a:avLst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EAA52264-01AB-655E-9C1F-26B6E2F3AB36}"/>
              </a:ext>
            </a:extLst>
          </p:cNvPr>
          <p:cNvCxnSpPr>
            <a:cxnSpLocks/>
          </p:cNvCxnSpPr>
          <p:nvPr/>
        </p:nvCxnSpPr>
        <p:spPr>
          <a:xfrm rot="5400000">
            <a:off x="22233658" y="8664803"/>
            <a:ext cx="604345" cy="495939"/>
          </a:xfrm>
          <a:prstGeom prst="bentConnector3">
            <a:avLst>
              <a:gd name="adj1" fmla="val 99909"/>
            </a:avLst>
          </a:prstGeom>
          <a:ln w="381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35D107F8-AC62-8D15-2AE7-3EA5FCF1775C}"/>
              </a:ext>
            </a:extLst>
          </p:cNvPr>
          <p:cNvCxnSpPr>
            <a:cxnSpLocks/>
            <a:endCxn id="12" idx="3"/>
          </p:cNvCxnSpPr>
          <p:nvPr/>
        </p:nvCxnSpPr>
        <p:spPr>
          <a:xfrm rot="16200000" flipV="1">
            <a:off x="20414295" y="5064282"/>
            <a:ext cx="5842264" cy="1250372"/>
          </a:xfrm>
          <a:prstGeom prst="bentConnector2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그림 6">
            <a:extLst>
              <a:ext uri="{FF2B5EF4-FFF2-40B4-BE49-F238E27FC236}">
                <a16:creationId xmlns:a16="http://schemas.microsoft.com/office/drawing/2014/main" id="{80E78AA7-B87F-E7AB-0C25-4BA98B7C6156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6030" r="43260" b="47540"/>
          <a:stretch>
            <a:fillRect/>
          </a:stretch>
        </p:blipFill>
        <p:spPr>
          <a:xfrm>
            <a:off x="8847759" y="3193298"/>
            <a:ext cx="990600" cy="815924"/>
          </a:xfrm>
          <a:prstGeom prst="rect">
            <a:avLst/>
          </a:prstGeom>
        </p:spPr>
      </p:pic>
      <p:sp>
        <p:nvSpPr>
          <p:cNvPr id="92" name="가로 글상자 9">
            <a:extLst>
              <a:ext uri="{FF2B5EF4-FFF2-40B4-BE49-F238E27FC236}">
                <a16:creationId xmlns:a16="http://schemas.microsoft.com/office/drawing/2014/main" id="{DB517ED4-73E6-D082-4A43-34DC05FBF252}"/>
              </a:ext>
            </a:extLst>
          </p:cNvPr>
          <p:cNvSpPr txBox="1"/>
          <p:nvPr/>
        </p:nvSpPr>
        <p:spPr>
          <a:xfrm>
            <a:off x="14313862" y="5369200"/>
            <a:ext cx="32883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 b="1" dirty="0">
                <a:latin typeface="Pretendard Bold" panose="020B0600000101010101" charset="-127"/>
                <a:ea typeface="Pretendard Bold" panose="020B0600000101010101" charset="-127"/>
              </a:rPr>
              <a:t>AWS instance 2</a:t>
            </a:r>
          </a:p>
        </p:txBody>
      </p:sp>
      <p:sp>
        <p:nvSpPr>
          <p:cNvPr id="93" name="가로 글상자 9">
            <a:extLst>
              <a:ext uri="{FF2B5EF4-FFF2-40B4-BE49-F238E27FC236}">
                <a16:creationId xmlns:a16="http://schemas.microsoft.com/office/drawing/2014/main" id="{B4F91F34-2E42-EC36-2256-1DE0161F036E}"/>
              </a:ext>
            </a:extLst>
          </p:cNvPr>
          <p:cNvSpPr txBox="1"/>
          <p:nvPr/>
        </p:nvSpPr>
        <p:spPr>
          <a:xfrm>
            <a:off x="19202400" y="4114800"/>
            <a:ext cx="32883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FF0000"/>
                </a:solidFill>
                <a:latin typeface="Pretendard Bold" panose="020B0600000101010101" charset="-127"/>
                <a:ea typeface="Pretendard Bold" panose="020B0600000101010101" charset="-127"/>
              </a:rPr>
              <a:t>AWS instance 3</a:t>
            </a:r>
          </a:p>
        </p:txBody>
      </p:sp>
      <p:pic>
        <p:nvPicPr>
          <p:cNvPr id="1026" name="Picture 2" descr="Git] GitHub Actions 사용 방법">
            <a:extLst>
              <a:ext uri="{FF2B5EF4-FFF2-40B4-BE49-F238E27FC236}">
                <a16:creationId xmlns:a16="http://schemas.microsoft.com/office/drawing/2014/main" id="{DF2F5026-3DA7-23FF-73C0-B77C8A013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3800" y="4750635"/>
            <a:ext cx="619207" cy="619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11">
            <a:extLst>
              <a:ext uri="{FF2B5EF4-FFF2-40B4-BE49-F238E27FC236}">
                <a16:creationId xmlns:a16="http://schemas.microsoft.com/office/drawing/2014/main" id="{27F248B9-0493-0968-F6DA-860E3329DDE4}"/>
              </a:ext>
            </a:extLst>
          </p:cNvPr>
          <p:cNvSpPr/>
          <p:nvPr/>
        </p:nvSpPr>
        <p:spPr>
          <a:xfrm>
            <a:off x="19278600" y="5481224"/>
            <a:ext cx="427345" cy="3880037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Rtl" anchor="ctr"/>
          <a:lstStyle/>
          <a:p>
            <a:pPr lvl="0" algn="ctr">
              <a:defRPr/>
            </a:pPr>
            <a:r>
              <a:rPr lang="en-US" altLang="ko-KR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nginx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FBA20AD-3985-B401-B9F8-9380AAEA5931}"/>
              </a:ext>
            </a:extLst>
          </p:cNvPr>
          <p:cNvCxnSpPr>
            <a:cxnSpLocks/>
          </p:cNvCxnSpPr>
          <p:nvPr/>
        </p:nvCxnSpPr>
        <p:spPr>
          <a:xfrm>
            <a:off x="19759927" y="5689468"/>
            <a:ext cx="236322" cy="3298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9F554A1-E5EF-3125-E203-D2567C657ED0}"/>
              </a:ext>
            </a:extLst>
          </p:cNvPr>
          <p:cNvCxnSpPr>
            <a:cxnSpLocks/>
          </p:cNvCxnSpPr>
          <p:nvPr/>
        </p:nvCxnSpPr>
        <p:spPr>
          <a:xfrm>
            <a:off x="19759927" y="6274987"/>
            <a:ext cx="236322" cy="3298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4E0A636-68A2-65B4-FAF4-584A004B5051}"/>
              </a:ext>
            </a:extLst>
          </p:cNvPr>
          <p:cNvCxnSpPr>
            <a:cxnSpLocks/>
          </p:cNvCxnSpPr>
          <p:nvPr/>
        </p:nvCxnSpPr>
        <p:spPr>
          <a:xfrm>
            <a:off x="19759927" y="6858000"/>
            <a:ext cx="236322" cy="3298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7C33FF4-4B10-5720-5FF7-EB5595CCE276}"/>
              </a:ext>
            </a:extLst>
          </p:cNvPr>
          <p:cNvCxnSpPr>
            <a:cxnSpLocks/>
          </p:cNvCxnSpPr>
          <p:nvPr/>
        </p:nvCxnSpPr>
        <p:spPr>
          <a:xfrm>
            <a:off x="19759927" y="7437715"/>
            <a:ext cx="236322" cy="3298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19D6E20-A3E8-BD34-2F4B-83412D8B2DF9}"/>
              </a:ext>
            </a:extLst>
          </p:cNvPr>
          <p:cNvCxnSpPr>
            <a:cxnSpLocks/>
          </p:cNvCxnSpPr>
          <p:nvPr/>
        </p:nvCxnSpPr>
        <p:spPr>
          <a:xfrm>
            <a:off x="19759927" y="8025645"/>
            <a:ext cx="236322" cy="3298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9C031C9-24C5-1CEC-3DFE-014CC0811414}"/>
              </a:ext>
            </a:extLst>
          </p:cNvPr>
          <p:cNvCxnSpPr>
            <a:cxnSpLocks/>
          </p:cNvCxnSpPr>
          <p:nvPr/>
        </p:nvCxnSpPr>
        <p:spPr>
          <a:xfrm>
            <a:off x="19759927" y="8572147"/>
            <a:ext cx="236322" cy="3298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415DD6F-ECEB-20BF-3D9B-977684E5D513}"/>
              </a:ext>
            </a:extLst>
          </p:cNvPr>
          <p:cNvCxnSpPr>
            <a:cxnSpLocks/>
          </p:cNvCxnSpPr>
          <p:nvPr/>
        </p:nvCxnSpPr>
        <p:spPr>
          <a:xfrm>
            <a:off x="19759927" y="9169767"/>
            <a:ext cx="236322" cy="3298"/>
          </a:xfrm>
          <a:prstGeom prst="straightConnector1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9513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8CB2C-05A8-5E03-5EA4-EB99BDF5B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478AB1E-A86E-D787-0999-CC4FB5BE0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C865073-B149-7C88-DEE5-8E803C53D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B4123983-BB89-BDE4-4B11-5D59E91CC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21D3240A-8A5A-868B-6000-453F05B404F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21556EAB-084E-CCDB-8ABE-679C9DEBA4EA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dirty="0">
                <a:solidFill>
                  <a:srgbClr val="202020"/>
                </a:solidFill>
                <a:latin typeface="Pretendard Bold"/>
              </a:rPr>
              <a:t>8</a:t>
            </a:r>
            <a:endParaRPr lang="en" sz="2266" b="0" i="0" u="none" strike="noStrike" dirty="0">
              <a:solidFill>
                <a:srgbClr val="202020"/>
              </a:solidFill>
              <a:latin typeface="Pretendard Bold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B22B98FE-75D8-B22D-440F-58D006A6EA98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600" dirty="0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CI/CD </a:t>
            </a:r>
            <a:r>
              <a:rPr lang="ko-KR" altLang="en-US" sz="3600" dirty="0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구성</a:t>
            </a:r>
            <a:endParaRPr lang="ko-KR" sz="3600" b="0" i="0" u="none" strike="noStrike" dirty="0">
              <a:solidFill>
                <a:srgbClr val="20202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90C372-2618-D744-EC3A-D3F7D31EFA4B}"/>
              </a:ext>
            </a:extLst>
          </p:cNvPr>
          <p:cNvSpPr/>
          <p:nvPr/>
        </p:nvSpPr>
        <p:spPr>
          <a:xfrm>
            <a:off x="2239651" y="5844864"/>
            <a:ext cx="2880000" cy="2880000"/>
          </a:xfrm>
          <a:prstGeom prst="rect">
            <a:avLst/>
          </a:prstGeom>
          <a:solidFill>
            <a:srgbClr val="E9F8E4"/>
          </a:solidFill>
          <a:ln w="19050" cap="flat" cmpd="sng" algn="ctr">
            <a:solidFill>
              <a:srgbClr val="D4F1CA"/>
            </a:solidFill>
            <a:prstDash val="solid"/>
            <a:round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40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nGrinder</a:t>
            </a:r>
            <a:endParaRPr lang="en-US" altLang="ko-KR" sz="20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8E0DA5-6E8C-BD38-C465-111033218408}"/>
              </a:ext>
            </a:extLst>
          </p:cNvPr>
          <p:cNvSpPr/>
          <p:nvPr/>
        </p:nvSpPr>
        <p:spPr>
          <a:xfrm>
            <a:off x="1879651" y="5484864"/>
            <a:ext cx="3600000" cy="3600000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7" name="가로 글상자 9">
            <a:extLst>
              <a:ext uri="{FF2B5EF4-FFF2-40B4-BE49-F238E27FC236}">
                <a16:creationId xmlns:a16="http://schemas.microsoft.com/office/drawing/2014/main" id="{6A217D67-D5E9-4D42-6D93-89E7DF2AFFCC}"/>
              </a:ext>
            </a:extLst>
          </p:cNvPr>
          <p:cNvSpPr txBox="1"/>
          <p:nvPr/>
        </p:nvSpPr>
        <p:spPr>
          <a:xfrm>
            <a:off x="2014566" y="4974532"/>
            <a:ext cx="32883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 b="1" dirty="0">
                <a:latin typeface="Pretendard Bold" panose="020B0600000101010101" charset="-127"/>
                <a:ea typeface="Pretendard Bold" panose="020B0600000101010101" charset="-127"/>
              </a:rPr>
              <a:t>AWS instance 1</a:t>
            </a:r>
          </a:p>
        </p:txBody>
      </p:sp>
      <p:sp>
        <p:nvSpPr>
          <p:cNvPr id="9" name="직사각형 11">
            <a:extLst>
              <a:ext uri="{FF2B5EF4-FFF2-40B4-BE49-F238E27FC236}">
                <a16:creationId xmlns:a16="http://schemas.microsoft.com/office/drawing/2014/main" id="{BE354975-4364-591D-BD2A-BD2D00B7941D}"/>
              </a:ext>
            </a:extLst>
          </p:cNvPr>
          <p:cNvSpPr/>
          <p:nvPr/>
        </p:nvSpPr>
        <p:spPr>
          <a:xfrm>
            <a:off x="1295400" y="3670193"/>
            <a:ext cx="13841941" cy="7150207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>
              <a:latin typeface="Consolas" panose="020B0609020204030204" pitchFamily="49" charset="0"/>
            </a:endParaRPr>
          </a:p>
        </p:txBody>
      </p:sp>
      <p:pic>
        <p:nvPicPr>
          <p:cNvPr id="10" name="Picture 4" descr="Spring] nGrinder 사용법 정리">
            <a:extLst>
              <a:ext uri="{FF2B5EF4-FFF2-40B4-BE49-F238E27FC236}">
                <a16:creationId xmlns:a16="http://schemas.microsoft.com/office/drawing/2014/main" id="{01DF1D5E-BA8D-6468-FF4D-D9BA0BB1F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962" y="5673860"/>
            <a:ext cx="660670" cy="41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43F8EC6B-1DE8-C1EA-1DFF-7180C62A544F}"/>
              </a:ext>
            </a:extLst>
          </p:cNvPr>
          <p:cNvSpPr/>
          <p:nvPr/>
        </p:nvSpPr>
        <p:spPr>
          <a:xfrm>
            <a:off x="6955954" y="5844864"/>
            <a:ext cx="2880000" cy="2880000"/>
          </a:xfrm>
          <a:prstGeom prst="rect">
            <a:avLst/>
          </a:prstGeom>
          <a:solidFill>
            <a:srgbClr val="E9F8E4"/>
          </a:solidFill>
          <a:ln w="19050" cap="flat" cmpd="sng" algn="ctr">
            <a:solidFill>
              <a:srgbClr val="D4F1CA"/>
            </a:solidFill>
            <a:prstDash val="solid"/>
            <a:round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Consolas" panose="020B0609020204030204" pitchFamily="49" charset="0"/>
              </a:rPr>
              <a:t>Gateway</a:t>
            </a:r>
          </a:p>
          <a:p>
            <a:pPr lvl="0" algn="ctr"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Consolas" panose="020B0609020204030204" pitchFamily="49" charset="0"/>
              </a:rPr>
              <a:t>&amp;</a:t>
            </a:r>
          </a:p>
          <a:p>
            <a:pPr lvl="0" algn="ctr"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Consolas" panose="020B0609020204030204" pitchFamily="49" charset="0"/>
              </a:rPr>
              <a:t>Eureka</a:t>
            </a:r>
            <a:endParaRPr lang="en-US" altLang="ko-KR" sz="20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E127EB-FBAC-A7DF-1390-DAF77F8EC69E}"/>
              </a:ext>
            </a:extLst>
          </p:cNvPr>
          <p:cNvSpPr/>
          <p:nvPr/>
        </p:nvSpPr>
        <p:spPr>
          <a:xfrm>
            <a:off x="6595954" y="5484864"/>
            <a:ext cx="3600000" cy="3600000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>
              <a:latin typeface="Consolas" panose="020B0609020204030204" pitchFamily="49" charset="0"/>
            </a:endParaRPr>
          </a:p>
        </p:txBody>
      </p:sp>
      <p:pic>
        <p:nvPicPr>
          <p:cNvPr id="20" name="Picture 2" descr="Contents | 토리맘의 한글라이즈 프로젝트">
            <a:extLst>
              <a:ext uri="{FF2B5EF4-FFF2-40B4-BE49-F238E27FC236}">
                <a16:creationId xmlns:a16="http://schemas.microsoft.com/office/drawing/2014/main" id="{7115D72D-6401-8A8C-980E-287819103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8250" r="91750">
                        <a14:foregroundMark x1="8250" y1="57250" x2="8250" y2="57250"/>
                        <a14:foregroundMark x1="91750" y1="58000" x2="91750" y2="58000"/>
                        <a14:foregroundMark x1="34750" y1="70500" x2="34750" y2="70500"/>
                        <a14:foregroundMark x1="57000" y1="52250" x2="57000" y2="52250"/>
                        <a14:foregroundMark x1="71250" y1="40250" x2="71250" y2="40250"/>
                        <a14:foregroundMark x1="75250" y1="43250" x2="61000" y2="45500"/>
                        <a14:foregroundMark x1="61000" y1="45500" x2="62500" y2="47750"/>
                        <a14:foregroundMark x1="71500" y1="59500" x2="59250" y2="53000"/>
                        <a14:foregroundMark x1="59250" y1="53000" x2="63500" y2="55500"/>
                        <a14:foregroundMark x1="50500" y1="45500" x2="39000" y2="56000"/>
                        <a14:foregroundMark x1="64500" y1="38500" x2="40250" y2="63000"/>
                        <a14:foregroundMark x1="58500" y1="40000" x2="39250" y2="58250"/>
                        <a14:foregroundMark x1="60750" y1="35500" x2="55000" y2="53250"/>
                        <a14:foregroundMark x1="70250" y1="30750" x2="72500" y2="44250"/>
                        <a14:foregroundMark x1="71250" y1="35500" x2="74250" y2="48250"/>
                        <a14:foregroundMark x1="73250" y1="45750" x2="69750" y2="59750"/>
                        <a14:foregroundMark x1="73250" y1="49250" x2="67500" y2="65500"/>
                        <a14:foregroundMark x1="70750" y1="55000" x2="53250" y2="68500"/>
                        <a14:foregroundMark x1="60000" y1="64750" x2="48250" y2="73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975" y="5480588"/>
            <a:ext cx="705960" cy="7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F2EC76D6-220B-DEEB-0FE1-E2E3BAB52949}"/>
              </a:ext>
            </a:extLst>
          </p:cNvPr>
          <p:cNvSpPr/>
          <p:nvPr/>
        </p:nvSpPr>
        <p:spPr>
          <a:xfrm>
            <a:off x="11604154" y="4673939"/>
            <a:ext cx="2880000" cy="5221850"/>
          </a:xfrm>
          <a:prstGeom prst="rect">
            <a:avLst/>
          </a:prstGeom>
          <a:solidFill>
            <a:srgbClr val="E9F8E4"/>
          </a:solidFill>
          <a:ln w="19050" cap="flat" cmpd="sng" algn="ctr">
            <a:solidFill>
              <a:srgbClr val="D4F1CA"/>
            </a:solidFill>
            <a:prstDash val="solid"/>
            <a:round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sz="20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3B17423-F831-6476-7444-7437E41286C2}"/>
              </a:ext>
            </a:extLst>
          </p:cNvPr>
          <p:cNvSpPr/>
          <p:nvPr/>
        </p:nvSpPr>
        <p:spPr>
          <a:xfrm>
            <a:off x="11244154" y="4213568"/>
            <a:ext cx="3600000" cy="6142592"/>
          </a:xfrm>
          <a:prstGeom prst="rect">
            <a:avLst/>
          </a:prstGeom>
          <a:noFill/>
          <a:ln w="38100">
            <a:solidFill>
              <a:srgbClr val="0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>
              <a:latin typeface="Consolas" panose="020B0609020204030204" pitchFamily="49" charset="0"/>
            </a:endParaRPr>
          </a:p>
        </p:txBody>
      </p:sp>
      <p:pic>
        <p:nvPicPr>
          <p:cNvPr id="23" name="Picture 12" descr="Spring boot 아이콘, 로고, 기호 – PNG, SVG 무료 다운로드">
            <a:extLst>
              <a:ext uri="{FF2B5EF4-FFF2-40B4-BE49-F238E27FC236}">
                <a16:creationId xmlns:a16="http://schemas.microsoft.com/office/drawing/2014/main" id="{A200F3C1-759F-7427-BCEA-9A7FC9693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8598" y="4404848"/>
            <a:ext cx="538182" cy="538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직사각형 11">
            <a:extLst>
              <a:ext uri="{FF2B5EF4-FFF2-40B4-BE49-F238E27FC236}">
                <a16:creationId xmlns:a16="http://schemas.microsoft.com/office/drawing/2014/main" id="{17D27047-E24F-1FAC-4B54-13518CCEEA6D}"/>
              </a:ext>
            </a:extLst>
          </p:cNvPr>
          <p:cNvSpPr/>
          <p:nvPr/>
        </p:nvSpPr>
        <p:spPr>
          <a:xfrm>
            <a:off x="12003451" y="5092436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user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직사각형 11">
            <a:extLst>
              <a:ext uri="{FF2B5EF4-FFF2-40B4-BE49-F238E27FC236}">
                <a16:creationId xmlns:a16="http://schemas.microsoft.com/office/drawing/2014/main" id="{4A5AC795-1FA7-4BB2-DB3F-7C6A00FF45C1}"/>
              </a:ext>
            </a:extLst>
          </p:cNvPr>
          <p:cNvSpPr/>
          <p:nvPr/>
        </p:nvSpPr>
        <p:spPr>
          <a:xfrm>
            <a:off x="12003451" y="5674417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6" name="직사각형 11">
            <a:extLst>
              <a:ext uri="{FF2B5EF4-FFF2-40B4-BE49-F238E27FC236}">
                <a16:creationId xmlns:a16="http://schemas.microsoft.com/office/drawing/2014/main" id="{5311AE22-1B69-6B0C-1F56-B8AA537A77AC}"/>
              </a:ext>
            </a:extLst>
          </p:cNvPr>
          <p:cNvSpPr/>
          <p:nvPr/>
        </p:nvSpPr>
        <p:spPr>
          <a:xfrm>
            <a:off x="12003451" y="6256398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-unit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7" name="직사각형 11">
            <a:extLst>
              <a:ext uri="{FF2B5EF4-FFF2-40B4-BE49-F238E27FC236}">
                <a16:creationId xmlns:a16="http://schemas.microsoft.com/office/drawing/2014/main" id="{6D56EAFE-0A56-1EFD-4692-55429B3A6453}"/>
              </a:ext>
            </a:extLst>
          </p:cNvPr>
          <p:cNvSpPr/>
          <p:nvPr/>
        </p:nvSpPr>
        <p:spPr>
          <a:xfrm>
            <a:off x="12003451" y="6838379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content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8" name="직사각형 11">
            <a:extLst>
              <a:ext uri="{FF2B5EF4-FFF2-40B4-BE49-F238E27FC236}">
                <a16:creationId xmlns:a16="http://schemas.microsoft.com/office/drawing/2014/main" id="{79A78464-6CB6-22B8-104F-6A788F617248}"/>
              </a:ext>
            </a:extLst>
          </p:cNvPr>
          <p:cNvSpPr/>
          <p:nvPr/>
        </p:nvSpPr>
        <p:spPr>
          <a:xfrm>
            <a:off x="12003451" y="7420360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openapi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9" name="직사각형 11">
            <a:extLst>
              <a:ext uri="{FF2B5EF4-FFF2-40B4-BE49-F238E27FC236}">
                <a16:creationId xmlns:a16="http://schemas.microsoft.com/office/drawing/2014/main" id="{B580855E-7542-D78A-1D1A-88D09842E4DA}"/>
              </a:ext>
            </a:extLst>
          </p:cNvPr>
          <p:cNvSpPr/>
          <p:nvPr/>
        </p:nvSpPr>
        <p:spPr>
          <a:xfrm>
            <a:off x="12003451" y="8002341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tmapapi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0" name="직사각형 11">
            <a:extLst>
              <a:ext uri="{FF2B5EF4-FFF2-40B4-BE49-F238E27FC236}">
                <a16:creationId xmlns:a16="http://schemas.microsoft.com/office/drawing/2014/main" id="{DEA21D14-EE57-1692-3B18-810826270FB0}"/>
              </a:ext>
            </a:extLst>
          </p:cNvPr>
          <p:cNvSpPr/>
          <p:nvPr/>
        </p:nvSpPr>
        <p:spPr>
          <a:xfrm>
            <a:off x="12003451" y="8584322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openai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8" name="가로 글상자 9">
            <a:extLst>
              <a:ext uri="{FF2B5EF4-FFF2-40B4-BE49-F238E27FC236}">
                <a16:creationId xmlns:a16="http://schemas.microsoft.com/office/drawing/2014/main" id="{90B17C1E-926F-8FF7-022B-6A7CA594B08C}"/>
              </a:ext>
            </a:extLst>
          </p:cNvPr>
          <p:cNvSpPr txBox="1"/>
          <p:nvPr/>
        </p:nvSpPr>
        <p:spPr>
          <a:xfrm>
            <a:off x="6723672" y="4974532"/>
            <a:ext cx="32883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 b="1" dirty="0">
                <a:latin typeface="Pretendard Bold" panose="020B0600000101010101" charset="-127"/>
                <a:ea typeface="Pretendard Bold" panose="020B0600000101010101" charset="-127"/>
              </a:rPr>
              <a:t>AWS instance 2</a:t>
            </a:r>
          </a:p>
        </p:txBody>
      </p:sp>
      <p:sp>
        <p:nvSpPr>
          <p:cNvPr id="39" name="가로 글상자 9">
            <a:extLst>
              <a:ext uri="{FF2B5EF4-FFF2-40B4-BE49-F238E27FC236}">
                <a16:creationId xmlns:a16="http://schemas.microsoft.com/office/drawing/2014/main" id="{5329BF48-98BB-3DAC-F9C3-EA3BAB970823}"/>
              </a:ext>
            </a:extLst>
          </p:cNvPr>
          <p:cNvSpPr txBox="1"/>
          <p:nvPr/>
        </p:nvSpPr>
        <p:spPr>
          <a:xfrm>
            <a:off x="11421441" y="3720132"/>
            <a:ext cx="32883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 b="1" dirty="0">
                <a:latin typeface="Pretendard Bold" panose="020B0600000101010101" charset="-127"/>
                <a:ea typeface="Pretendard Bold" panose="020B0600000101010101" charset="-127"/>
              </a:rPr>
              <a:t>AWS instance 3</a:t>
            </a:r>
          </a:p>
        </p:txBody>
      </p:sp>
      <p:pic>
        <p:nvPicPr>
          <p:cNvPr id="40" name="Picture 2" descr="Git] GitHub Actions 사용 방법">
            <a:extLst>
              <a:ext uri="{FF2B5EF4-FFF2-40B4-BE49-F238E27FC236}">
                <a16:creationId xmlns:a16="http://schemas.microsoft.com/office/drawing/2014/main" id="{9E88CCCD-6A5B-584F-4B67-CD5ADEAF8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1441" y="4355967"/>
            <a:ext cx="619207" cy="619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74D3ED5D-9764-8297-A00E-AFA61AB8EFF5}"/>
              </a:ext>
            </a:extLst>
          </p:cNvPr>
          <p:cNvSpPr/>
          <p:nvPr/>
        </p:nvSpPr>
        <p:spPr>
          <a:xfrm>
            <a:off x="1598676" y="4404848"/>
            <a:ext cx="9279908" cy="5691545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Picture 2" descr="Docker Icon SVG Vector &amp; PNG Free Download | UXWing">
            <a:extLst>
              <a:ext uri="{FF2B5EF4-FFF2-40B4-BE49-F238E27FC236}">
                <a16:creationId xmlns:a16="http://schemas.microsoft.com/office/drawing/2014/main" id="{F10822E4-499B-8247-C05A-1810F280A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2185" y="2918167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FB5C5D6-1B2D-47A2-39DC-5DE774DB0EDB}"/>
              </a:ext>
            </a:extLst>
          </p:cNvPr>
          <p:cNvCxnSpPr>
            <a:cxnSpLocks/>
          </p:cNvCxnSpPr>
          <p:nvPr/>
        </p:nvCxnSpPr>
        <p:spPr>
          <a:xfrm>
            <a:off x="14844154" y="7226530"/>
            <a:ext cx="1692219" cy="0"/>
          </a:xfrm>
          <a:prstGeom prst="straightConnector1">
            <a:avLst/>
          </a:prstGeom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728DB78-234D-04C1-AA77-783414E5BF0F}"/>
              </a:ext>
            </a:extLst>
          </p:cNvPr>
          <p:cNvSpPr/>
          <p:nvPr/>
        </p:nvSpPr>
        <p:spPr>
          <a:xfrm>
            <a:off x="17048421" y="3670193"/>
            <a:ext cx="5278179" cy="7150204"/>
          </a:xfrm>
          <a:prstGeom prst="rect">
            <a:avLst/>
          </a:prstGeom>
          <a:noFill/>
          <a:ln w="28575">
            <a:solidFill>
              <a:srgbClr val="0091E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050" name="Picture 2" descr="Dockerfile] 도커 파일 - 원일이의 블로그">
            <a:extLst>
              <a:ext uri="{FF2B5EF4-FFF2-40B4-BE49-F238E27FC236}">
                <a16:creationId xmlns:a16="http://schemas.microsoft.com/office/drawing/2014/main" id="{B36E8418-CB4C-6251-59C4-FEF1CFACA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7705" y="4026238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가로 글상자 9">
            <a:extLst>
              <a:ext uri="{FF2B5EF4-FFF2-40B4-BE49-F238E27FC236}">
                <a16:creationId xmlns:a16="http://schemas.microsoft.com/office/drawing/2014/main" id="{6B73328F-618C-A3CA-0359-3724B2458936}"/>
              </a:ext>
            </a:extLst>
          </p:cNvPr>
          <p:cNvSpPr txBox="1"/>
          <p:nvPr/>
        </p:nvSpPr>
        <p:spPr>
          <a:xfrm>
            <a:off x="17532602" y="3048000"/>
            <a:ext cx="430981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3200" b="1" dirty="0">
                <a:latin typeface="Pretendard Bold" panose="020B0600000101010101" charset="-127"/>
                <a:ea typeface="Pretendard Bold" panose="020B0600000101010101" charset="-127"/>
              </a:rPr>
              <a:t>docker compose</a:t>
            </a:r>
          </a:p>
        </p:txBody>
      </p:sp>
      <p:pic>
        <p:nvPicPr>
          <p:cNvPr id="49" name="Picture 2" descr="Dockerfile] 도커 파일 - 원일이의 블로그">
            <a:extLst>
              <a:ext uri="{FF2B5EF4-FFF2-40B4-BE49-F238E27FC236}">
                <a16:creationId xmlns:a16="http://schemas.microsoft.com/office/drawing/2014/main" id="{773515C8-7A32-C01E-9704-097DB6540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7152" y="4026238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직사각형 11">
            <a:extLst>
              <a:ext uri="{FF2B5EF4-FFF2-40B4-BE49-F238E27FC236}">
                <a16:creationId xmlns:a16="http://schemas.microsoft.com/office/drawing/2014/main" id="{365BF9F4-7367-D828-E8AE-31833A884D3C}"/>
              </a:ext>
            </a:extLst>
          </p:cNvPr>
          <p:cNvSpPr/>
          <p:nvPr/>
        </p:nvSpPr>
        <p:spPr>
          <a:xfrm>
            <a:off x="17585650" y="5148702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user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57" name="직사각형 11">
            <a:extLst>
              <a:ext uri="{FF2B5EF4-FFF2-40B4-BE49-F238E27FC236}">
                <a16:creationId xmlns:a16="http://schemas.microsoft.com/office/drawing/2014/main" id="{86C46723-D255-CC24-B4A9-DF4CC9BF6248}"/>
              </a:ext>
            </a:extLst>
          </p:cNvPr>
          <p:cNvSpPr/>
          <p:nvPr/>
        </p:nvSpPr>
        <p:spPr>
          <a:xfrm>
            <a:off x="19727285" y="5148702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58" name="Picture 2" descr="Dockerfile] 도커 파일 - 원일이의 블로그">
            <a:extLst>
              <a:ext uri="{FF2B5EF4-FFF2-40B4-BE49-F238E27FC236}">
                <a16:creationId xmlns:a16="http://schemas.microsoft.com/office/drawing/2014/main" id="{0801B7D5-73C7-9963-6AE6-3519E10EB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7705" y="5637119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9" name="Picture 2" descr="Dockerfile] 도커 파일 - 원일이의 블로그">
            <a:extLst>
              <a:ext uri="{FF2B5EF4-FFF2-40B4-BE49-F238E27FC236}">
                <a16:creationId xmlns:a16="http://schemas.microsoft.com/office/drawing/2014/main" id="{B75B18B9-0841-E39E-B079-E30F8C9C9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7152" y="5637119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직사각형 11">
            <a:extLst>
              <a:ext uri="{FF2B5EF4-FFF2-40B4-BE49-F238E27FC236}">
                <a16:creationId xmlns:a16="http://schemas.microsoft.com/office/drawing/2014/main" id="{79C5B088-E7D3-0B58-8565-29F44071F9BA}"/>
              </a:ext>
            </a:extLst>
          </p:cNvPr>
          <p:cNvSpPr/>
          <p:nvPr/>
        </p:nvSpPr>
        <p:spPr>
          <a:xfrm>
            <a:off x="17149281" y="6759584"/>
            <a:ext cx="2987872" cy="388150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-unit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61" name="직사각형 11">
            <a:extLst>
              <a:ext uri="{FF2B5EF4-FFF2-40B4-BE49-F238E27FC236}">
                <a16:creationId xmlns:a16="http://schemas.microsoft.com/office/drawing/2014/main" id="{4C5E78B4-A9C5-88A4-1BE9-E6E293A1B3DC}"/>
              </a:ext>
            </a:extLst>
          </p:cNvPr>
          <p:cNvSpPr/>
          <p:nvPr/>
        </p:nvSpPr>
        <p:spPr>
          <a:xfrm>
            <a:off x="19727285" y="6759583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content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62" name="Picture 2" descr="Dockerfile] 도커 파일 - 원일이의 블로그">
            <a:extLst>
              <a:ext uri="{FF2B5EF4-FFF2-40B4-BE49-F238E27FC236}">
                <a16:creationId xmlns:a16="http://schemas.microsoft.com/office/drawing/2014/main" id="{7127E83E-4CCF-5DFB-9AF9-6A8A53C8E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7705" y="7248000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Dockerfile] 도커 파일 - 원일이의 블로그">
            <a:extLst>
              <a:ext uri="{FF2B5EF4-FFF2-40B4-BE49-F238E27FC236}">
                <a16:creationId xmlns:a16="http://schemas.microsoft.com/office/drawing/2014/main" id="{7E7759A5-F637-DE63-9133-BCE7AC18DC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7152" y="7248000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직사각형 11">
            <a:extLst>
              <a:ext uri="{FF2B5EF4-FFF2-40B4-BE49-F238E27FC236}">
                <a16:creationId xmlns:a16="http://schemas.microsoft.com/office/drawing/2014/main" id="{601C3877-B1D6-66D1-D1FD-3A6A96E5DC22}"/>
              </a:ext>
            </a:extLst>
          </p:cNvPr>
          <p:cNvSpPr/>
          <p:nvPr/>
        </p:nvSpPr>
        <p:spPr>
          <a:xfrm>
            <a:off x="17585650" y="8370464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openapi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049" name="직사각형 11">
            <a:extLst>
              <a:ext uri="{FF2B5EF4-FFF2-40B4-BE49-F238E27FC236}">
                <a16:creationId xmlns:a16="http://schemas.microsoft.com/office/drawing/2014/main" id="{215A8948-5365-32C4-2250-F07D829666C0}"/>
              </a:ext>
            </a:extLst>
          </p:cNvPr>
          <p:cNvSpPr/>
          <p:nvPr/>
        </p:nvSpPr>
        <p:spPr>
          <a:xfrm>
            <a:off x="19727285" y="8370464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tmapapi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2051" name="Picture 2" descr="Dockerfile] 도커 파일 - 원일이의 블로그">
            <a:extLst>
              <a:ext uri="{FF2B5EF4-FFF2-40B4-BE49-F238E27FC236}">
                <a16:creationId xmlns:a16="http://schemas.microsoft.com/office/drawing/2014/main" id="{B1618D42-268B-41FB-2D19-614B7E08F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7705" y="8858882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직사각형 11">
            <a:extLst>
              <a:ext uri="{FF2B5EF4-FFF2-40B4-BE49-F238E27FC236}">
                <a16:creationId xmlns:a16="http://schemas.microsoft.com/office/drawing/2014/main" id="{B85236C7-1385-E7B3-790B-3A67E8B3F5B5}"/>
              </a:ext>
            </a:extLst>
          </p:cNvPr>
          <p:cNvSpPr/>
          <p:nvPr/>
        </p:nvSpPr>
        <p:spPr>
          <a:xfrm>
            <a:off x="17585650" y="9981346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openai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0174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DDB96-1358-0B84-ECB2-30182DAAE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6B39C8F-0CA8-BCCA-8DB0-2BD0DC80A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EDDDBD1-B68B-D7D5-CDD2-07FBFF23E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7CCDF6A1-1592-B0E0-F351-0DE6BF24D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7BF6E484-3AE1-D174-E4A2-BAC62ED449E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A3909272-2890-892D-3DD5-B15BE4EFE2AE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dirty="0">
                <a:solidFill>
                  <a:srgbClr val="202020"/>
                </a:solidFill>
                <a:latin typeface="Pretendard Bold"/>
              </a:rPr>
              <a:t>9</a:t>
            </a:r>
            <a:endParaRPr lang="en" sz="2266" b="0" i="0" u="none" strike="noStrike" dirty="0">
              <a:solidFill>
                <a:srgbClr val="202020"/>
              </a:solidFill>
              <a:latin typeface="Pretendard Bold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DFC34A8-E700-35C6-16C7-1949CC28129F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600" b="0" i="0" u="none" strike="noStrike" dirty="0" err="1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Github</a:t>
            </a:r>
            <a:r>
              <a:rPr lang="en-US" altLang="ko-KR" sz="3600" b="0" i="0" u="none" strike="noStrike" dirty="0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 Actions</a:t>
            </a:r>
            <a:endParaRPr lang="ko-KR" sz="3600" b="0" i="0" u="none" strike="noStrike" dirty="0">
              <a:solidFill>
                <a:srgbClr val="20202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1030" name="Picture 6" descr="GitHub Icon Logo PNG Transparent &amp; SVG Vector - Freebie Supply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362" y="2002408"/>
            <a:ext cx="1066800" cy="103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폴더 - 무료 파일 및 폴더개 아이콘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050" y="4386230"/>
            <a:ext cx="947770" cy="94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2" descr="Spring boot 아이콘, 로고, 기호 – PNG, SVG 무료 다운로드">
            <a:extLst>
              <a:ext uri="{FF2B5EF4-FFF2-40B4-BE49-F238E27FC236}">
                <a16:creationId xmlns:a16="http://schemas.microsoft.com/office/drawing/2014/main" id="{C1CA6E39-EC3D-0804-8201-345F0E0E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105" y="4758424"/>
            <a:ext cx="521659" cy="52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직사각형 11">
            <a:extLst>
              <a:ext uri="{FF2B5EF4-FFF2-40B4-BE49-F238E27FC236}">
                <a16:creationId xmlns:a16="http://schemas.microsoft.com/office/drawing/2014/main" id="{365BF9F4-7367-D828-E8AE-31833A884D3C}"/>
              </a:ext>
            </a:extLst>
          </p:cNvPr>
          <p:cNvSpPr/>
          <p:nvPr/>
        </p:nvSpPr>
        <p:spPr>
          <a:xfrm>
            <a:off x="2722369" y="5267007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user </a:t>
            </a: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src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0" name="직사각형 11">
            <a:extLst>
              <a:ext uri="{FF2B5EF4-FFF2-40B4-BE49-F238E27FC236}">
                <a16:creationId xmlns:a16="http://schemas.microsoft.com/office/drawing/2014/main" id="{86C46723-D255-CC24-B4A9-DF4CC9BF6248}"/>
              </a:ext>
            </a:extLst>
          </p:cNvPr>
          <p:cNvSpPr/>
          <p:nvPr/>
        </p:nvSpPr>
        <p:spPr>
          <a:xfrm>
            <a:off x="4864004" y="5267007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src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1" name="직사각형 11">
            <a:extLst>
              <a:ext uri="{FF2B5EF4-FFF2-40B4-BE49-F238E27FC236}">
                <a16:creationId xmlns:a16="http://schemas.microsoft.com/office/drawing/2014/main" id="{79C5B088-E7D3-0B58-8565-29F44071F9BA}"/>
              </a:ext>
            </a:extLst>
          </p:cNvPr>
          <p:cNvSpPr/>
          <p:nvPr/>
        </p:nvSpPr>
        <p:spPr>
          <a:xfrm>
            <a:off x="2286000" y="6877889"/>
            <a:ext cx="2987872" cy="388150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-unit </a:t>
            </a: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src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2" name="직사각형 11">
            <a:extLst>
              <a:ext uri="{FF2B5EF4-FFF2-40B4-BE49-F238E27FC236}">
                <a16:creationId xmlns:a16="http://schemas.microsoft.com/office/drawing/2014/main" id="{4C5E78B4-A9C5-88A4-1BE9-E6E293A1B3DC}"/>
              </a:ext>
            </a:extLst>
          </p:cNvPr>
          <p:cNvSpPr/>
          <p:nvPr/>
        </p:nvSpPr>
        <p:spPr>
          <a:xfrm>
            <a:off x="4864004" y="6877888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content </a:t>
            </a: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src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3" name="직사각형 11">
            <a:extLst>
              <a:ext uri="{FF2B5EF4-FFF2-40B4-BE49-F238E27FC236}">
                <a16:creationId xmlns:a16="http://schemas.microsoft.com/office/drawing/2014/main" id="{601C3877-B1D6-66D1-D1FD-3A6A96E5DC22}"/>
              </a:ext>
            </a:extLst>
          </p:cNvPr>
          <p:cNvSpPr/>
          <p:nvPr/>
        </p:nvSpPr>
        <p:spPr>
          <a:xfrm>
            <a:off x="2722369" y="8488769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openapi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src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4" name="직사각형 11">
            <a:extLst>
              <a:ext uri="{FF2B5EF4-FFF2-40B4-BE49-F238E27FC236}">
                <a16:creationId xmlns:a16="http://schemas.microsoft.com/office/drawing/2014/main" id="{215A8948-5365-32C4-2250-F07D829666C0}"/>
              </a:ext>
            </a:extLst>
          </p:cNvPr>
          <p:cNvSpPr/>
          <p:nvPr/>
        </p:nvSpPr>
        <p:spPr>
          <a:xfrm>
            <a:off x="4864004" y="8488769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tmapapi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src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직사각형 11">
            <a:extLst>
              <a:ext uri="{FF2B5EF4-FFF2-40B4-BE49-F238E27FC236}">
                <a16:creationId xmlns:a16="http://schemas.microsoft.com/office/drawing/2014/main" id="{B85236C7-1385-E7B3-790B-3A67E8B3F5B5}"/>
              </a:ext>
            </a:extLst>
          </p:cNvPr>
          <p:cNvSpPr/>
          <p:nvPr/>
        </p:nvSpPr>
        <p:spPr>
          <a:xfrm>
            <a:off x="2722369" y="10099651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openai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src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27" name="Picture 8" descr="폴더 - 무료 파일 및 폴더개 아이콘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054" y="4386230"/>
            <a:ext cx="947770" cy="94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2" descr="Spring boot 아이콘, 로고, 기호 – PNG, SVG 무료 다운로드">
            <a:extLst>
              <a:ext uri="{FF2B5EF4-FFF2-40B4-BE49-F238E27FC236}">
                <a16:creationId xmlns:a16="http://schemas.microsoft.com/office/drawing/2014/main" id="{C1CA6E39-EC3D-0804-8201-345F0E0E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109" y="4758424"/>
            <a:ext cx="521659" cy="52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8" descr="폴더 - 무료 파일 및 폴더개 아이콘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050" y="5954980"/>
            <a:ext cx="947770" cy="94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Spring boot 아이콘, 로고, 기호 – PNG, SVG 무료 다운로드">
            <a:extLst>
              <a:ext uri="{FF2B5EF4-FFF2-40B4-BE49-F238E27FC236}">
                <a16:creationId xmlns:a16="http://schemas.microsoft.com/office/drawing/2014/main" id="{C1CA6E39-EC3D-0804-8201-345F0E0E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105" y="6327174"/>
            <a:ext cx="521659" cy="52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8" descr="폴더 - 무료 파일 및 폴더개 아이콘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054" y="5954980"/>
            <a:ext cx="947770" cy="94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2" descr="Spring boot 아이콘, 로고, 기호 – PNG, SVG 무료 다운로드">
            <a:extLst>
              <a:ext uri="{FF2B5EF4-FFF2-40B4-BE49-F238E27FC236}">
                <a16:creationId xmlns:a16="http://schemas.microsoft.com/office/drawing/2014/main" id="{C1CA6E39-EC3D-0804-8201-345F0E0E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109" y="6327174"/>
            <a:ext cx="521659" cy="52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 descr="폴더 - 무료 파일 및 폴더개 아이콘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050" y="7606618"/>
            <a:ext cx="947770" cy="94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Spring boot 아이콘, 로고, 기호 – PNG, SVG 무료 다운로드">
            <a:extLst>
              <a:ext uri="{FF2B5EF4-FFF2-40B4-BE49-F238E27FC236}">
                <a16:creationId xmlns:a16="http://schemas.microsoft.com/office/drawing/2014/main" id="{C1CA6E39-EC3D-0804-8201-345F0E0E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105" y="7978812"/>
            <a:ext cx="521659" cy="52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8" descr="폴더 - 무료 파일 및 폴더개 아이콘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054" y="7606618"/>
            <a:ext cx="947770" cy="94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 descr="Spring boot 아이콘, 로고, 기호 – PNG, SVG 무료 다운로드">
            <a:extLst>
              <a:ext uri="{FF2B5EF4-FFF2-40B4-BE49-F238E27FC236}">
                <a16:creationId xmlns:a16="http://schemas.microsoft.com/office/drawing/2014/main" id="{C1CA6E39-EC3D-0804-8201-345F0E0E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109" y="7978812"/>
            <a:ext cx="521659" cy="52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8" descr="폴더 - 무료 파일 및 폴더개 아이콘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050" y="9174622"/>
            <a:ext cx="947770" cy="94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2" descr="Spring boot 아이콘, 로고, 기호 – PNG, SVG 무료 다운로드">
            <a:extLst>
              <a:ext uri="{FF2B5EF4-FFF2-40B4-BE49-F238E27FC236}">
                <a16:creationId xmlns:a16="http://schemas.microsoft.com/office/drawing/2014/main" id="{C1CA6E39-EC3D-0804-8201-345F0E0E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105" y="9546816"/>
            <a:ext cx="521659" cy="521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B728DB78-234D-04C1-AA77-783414E5BF0F}"/>
              </a:ext>
            </a:extLst>
          </p:cNvPr>
          <p:cNvSpPr/>
          <p:nvPr/>
        </p:nvSpPr>
        <p:spPr>
          <a:xfrm>
            <a:off x="2460390" y="4038600"/>
            <a:ext cx="4754223" cy="6796864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CE6DA57C-F98B-D953-97F9-0FDDA6FC4138}"/>
              </a:ext>
            </a:extLst>
          </p:cNvPr>
          <p:cNvCxnSpPr>
            <a:cxnSpLocks/>
          </p:cNvCxnSpPr>
          <p:nvPr/>
        </p:nvCxnSpPr>
        <p:spPr>
          <a:xfrm>
            <a:off x="7619492" y="7266039"/>
            <a:ext cx="165100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52" name="Picture 4" descr="Free Git Branch Logo Icon - Free Download Logos Logo Icons | IconScout">
            <a:extLst>
              <a:ext uri="{FF2B5EF4-FFF2-40B4-BE49-F238E27FC236}">
                <a16:creationId xmlns:a16="http://schemas.microsoft.com/office/drawing/2014/main" id="{E3EA707B-27C2-208F-1BF3-D00F7E314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571" y="6022745"/>
            <a:ext cx="1083029" cy="108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3D46EB-6FD6-2CE6-8C64-2CB2A51D8C4F}"/>
              </a:ext>
            </a:extLst>
          </p:cNvPr>
          <p:cNvSpPr txBox="1"/>
          <p:nvPr/>
        </p:nvSpPr>
        <p:spPr>
          <a:xfrm>
            <a:off x="7970815" y="5029200"/>
            <a:ext cx="868385" cy="737179"/>
          </a:xfrm>
          <a:prstGeom prst="rect">
            <a:avLst/>
          </a:prstGeom>
        </p:spPr>
        <p:txBody>
          <a:bodyPr rtlCol="0" anchor="t"/>
          <a:lstStyle/>
          <a:p>
            <a:pPr algn="ctr">
              <a:lnSpc>
                <a:spcPct val="132800"/>
              </a:lnSpc>
            </a:pPr>
            <a:r>
              <a:rPr lang="en-US" altLang="ko-KR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branch</a:t>
            </a:r>
          </a:p>
          <a:p>
            <a:pPr algn="ctr">
              <a:lnSpc>
                <a:spcPct val="132800"/>
              </a:lnSpc>
            </a:pPr>
            <a:r>
              <a:rPr lang="en-US" altLang="ko-KR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stg</a:t>
            </a:r>
            <a:endParaRPr lang="en-US" altLang="ko-KR" sz="2400" spc="-120" dirty="0">
              <a:solidFill>
                <a:srgbClr val="FF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A108DE-3EC0-1417-540D-25A38CBE92CB}"/>
              </a:ext>
            </a:extLst>
          </p:cNvPr>
          <p:cNvSpPr/>
          <p:nvPr/>
        </p:nvSpPr>
        <p:spPr>
          <a:xfrm>
            <a:off x="9702803" y="4031516"/>
            <a:ext cx="4905787" cy="6803945"/>
          </a:xfrm>
          <a:prstGeom prst="rect">
            <a:avLst/>
          </a:prstGeom>
          <a:noFill/>
          <a:ln w="28575">
            <a:solidFill>
              <a:srgbClr val="0091E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Picture 2" descr="Dockerfile] 도커 파일 - 원일이의 블로그">
            <a:extLst>
              <a:ext uri="{FF2B5EF4-FFF2-40B4-BE49-F238E27FC236}">
                <a16:creationId xmlns:a16="http://schemas.microsoft.com/office/drawing/2014/main" id="{0E557783-8CF1-2D55-EBD1-98B3FC174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379" y="4172341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Dockerfile] 도커 파일 - 원일이의 블로그">
            <a:extLst>
              <a:ext uri="{FF2B5EF4-FFF2-40B4-BE49-F238E27FC236}">
                <a16:creationId xmlns:a16="http://schemas.microsoft.com/office/drawing/2014/main" id="{63A89394-F5BD-09EE-EDC7-F3A71F678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9826" y="4172341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7BC1E7-7E92-4341-44BE-0891B01DD377}"/>
              </a:ext>
            </a:extLst>
          </p:cNvPr>
          <p:cNvSpPr/>
          <p:nvPr/>
        </p:nvSpPr>
        <p:spPr>
          <a:xfrm>
            <a:off x="10068324" y="5294805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user new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8" name="직사각형 11">
            <a:extLst>
              <a:ext uri="{FF2B5EF4-FFF2-40B4-BE49-F238E27FC236}">
                <a16:creationId xmlns:a16="http://schemas.microsoft.com/office/drawing/2014/main" id="{47AACD23-E2E2-06E4-E69F-7C4A0B971208}"/>
              </a:ext>
            </a:extLst>
          </p:cNvPr>
          <p:cNvSpPr/>
          <p:nvPr/>
        </p:nvSpPr>
        <p:spPr>
          <a:xfrm>
            <a:off x="12209959" y="5294805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42" name="Picture 2" descr="Dockerfile] 도커 파일 - 원일이의 블로그">
            <a:extLst>
              <a:ext uri="{FF2B5EF4-FFF2-40B4-BE49-F238E27FC236}">
                <a16:creationId xmlns:a16="http://schemas.microsoft.com/office/drawing/2014/main" id="{4A638F2A-4A92-EE21-A91B-A5899BBF6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379" y="5783222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Dockerfile] 도커 파일 - 원일이의 블로그">
            <a:extLst>
              <a:ext uri="{FF2B5EF4-FFF2-40B4-BE49-F238E27FC236}">
                <a16:creationId xmlns:a16="http://schemas.microsoft.com/office/drawing/2014/main" id="{0ACD64FB-5069-E99D-7E09-A523E4C88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9826" y="5783222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직사각형 11">
            <a:extLst>
              <a:ext uri="{FF2B5EF4-FFF2-40B4-BE49-F238E27FC236}">
                <a16:creationId xmlns:a16="http://schemas.microsoft.com/office/drawing/2014/main" id="{E366AC7B-6E6C-5F10-F9C2-982037E0FF73}"/>
              </a:ext>
            </a:extLst>
          </p:cNvPr>
          <p:cNvSpPr/>
          <p:nvPr/>
        </p:nvSpPr>
        <p:spPr>
          <a:xfrm>
            <a:off x="9803663" y="6927050"/>
            <a:ext cx="2987872" cy="388150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-unit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45" name="직사각형 11">
            <a:extLst>
              <a:ext uri="{FF2B5EF4-FFF2-40B4-BE49-F238E27FC236}">
                <a16:creationId xmlns:a16="http://schemas.microsoft.com/office/drawing/2014/main" id="{00209FA4-6D7A-FA91-C3FE-A1CDC03ABDA4}"/>
              </a:ext>
            </a:extLst>
          </p:cNvPr>
          <p:cNvSpPr/>
          <p:nvPr/>
        </p:nvSpPr>
        <p:spPr>
          <a:xfrm>
            <a:off x="12209959" y="6905686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content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46" name="Picture 2" descr="Dockerfile] 도커 파일 - 원일이의 블로그">
            <a:extLst>
              <a:ext uri="{FF2B5EF4-FFF2-40B4-BE49-F238E27FC236}">
                <a16:creationId xmlns:a16="http://schemas.microsoft.com/office/drawing/2014/main" id="{9014BFFF-E7E7-59C4-D133-3C2BD6F24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379" y="7394103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Dockerfile] 도커 파일 - 원일이의 블로그">
            <a:extLst>
              <a:ext uri="{FF2B5EF4-FFF2-40B4-BE49-F238E27FC236}">
                <a16:creationId xmlns:a16="http://schemas.microsoft.com/office/drawing/2014/main" id="{BAFA6188-2ECE-BD84-9ABD-B00BC2209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9826" y="7394103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직사각형 11">
            <a:extLst>
              <a:ext uri="{FF2B5EF4-FFF2-40B4-BE49-F238E27FC236}">
                <a16:creationId xmlns:a16="http://schemas.microsoft.com/office/drawing/2014/main" id="{9BD08CF1-63A3-E68C-555B-F5A07CF96C7A}"/>
              </a:ext>
            </a:extLst>
          </p:cNvPr>
          <p:cNvSpPr/>
          <p:nvPr/>
        </p:nvSpPr>
        <p:spPr>
          <a:xfrm>
            <a:off x="10068324" y="8516567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openapi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49" name="직사각형 11">
            <a:extLst>
              <a:ext uri="{FF2B5EF4-FFF2-40B4-BE49-F238E27FC236}">
                <a16:creationId xmlns:a16="http://schemas.microsoft.com/office/drawing/2014/main" id="{D6680567-1592-4655-54CD-3F36DD7AC3C8}"/>
              </a:ext>
            </a:extLst>
          </p:cNvPr>
          <p:cNvSpPr/>
          <p:nvPr/>
        </p:nvSpPr>
        <p:spPr>
          <a:xfrm>
            <a:off x="11981359" y="8544365"/>
            <a:ext cx="2572334" cy="332556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tmapapi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new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50" name="Picture 2" descr="Dockerfile] 도커 파일 - 원일이의 블로그">
            <a:extLst>
              <a:ext uri="{FF2B5EF4-FFF2-40B4-BE49-F238E27FC236}">
                <a16:creationId xmlns:a16="http://schemas.microsoft.com/office/drawing/2014/main" id="{48EB5D22-60EF-2519-58A2-0CF099F2D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379" y="9004985"/>
            <a:ext cx="1295401" cy="129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직사각형 11">
            <a:extLst>
              <a:ext uri="{FF2B5EF4-FFF2-40B4-BE49-F238E27FC236}">
                <a16:creationId xmlns:a16="http://schemas.microsoft.com/office/drawing/2014/main" id="{6DBDFBAD-8D16-49E4-9616-F35EA55AFED9}"/>
              </a:ext>
            </a:extLst>
          </p:cNvPr>
          <p:cNvSpPr/>
          <p:nvPr/>
        </p:nvSpPr>
        <p:spPr>
          <a:xfrm>
            <a:off x="10068324" y="10127449"/>
            <a:ext cx="2115133" cy="388151"/>
          </a:xfrm>
          <a:prstGeom prst="rect">
            <a:avLst/>
          </a:prstGeom>
          <a:noFill/>
          <a:ln w="19050">
            <a:noFill/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openai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new image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2992BC-7E00-2073-754B-A2A86F149035}"/>
              </a:ext>
            </a:extLst>
          </p:cNvPr>
          <p:cNvSpPr txBox="1"/>
          <p:nvPr/>
        </p:nvSpPr>
        <p:spPr>
          <a:xfrm>
            <a:off x="7932317" y="3301421"/>
            <a:ext cx="8620460" cy="737179"/>
          </a:xfrm>
          <a:prstGeom prst="rect">
            <a:avLst/>
          </a:prstGeom>
        </p:spPr>
        <p:txBody>
          <a:bodyPr rtlCol="0" anchor="t"/>
          <a:lstStyle/>
          <a:p>
            <a:pPr algn="ctr">
              <a:lnSpc>
                <a:spcPct val="132800"/>
              </a:lnSpc>
            </a:pPr>
            <a:r>
              <a:rPr lang="ko-KR" altLang="en-US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수정이 있는 소스만 이미지를 빌드 </a:t>
            </a:r>
            <a:r>
              <a:rPr lang="en-US" altLang="ko-KR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&amp; </a:t>
            </a:r>
            <a:r>
              <a:rPr lang="ko-KR" altLang="en-US" sz="2400" spc="-120" dirty="0" err="1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도커허브에</a:t>
            </a:r>
            <a:r>
              <a:rPr lang="ko-KR" altLang="en-US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 </a:t>
            </a:r>
            <a:r>
              <a:rPr lang="en-US" altLang="ko-KR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push</a:t>
            </a:r>
            <a:endParaRPr lang="en-US" altLang="ko-KR" sz="2400" spc="-120" dirty="0">
              <a:solidFill>
                <a:srgbClr val="FF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6B70027-5DC9-AEA7-8361-1EB6E40A4341}"/>
              </a:ext>
            </a:extLst>
          </p:cNvPr>
          <p:cNvSpPr/>
          <p:nvPr/>
        </p:nvSpPr>
        <p:spPr>
          <a:xfrm>
            <a:off x="12444813" y="4204896"/>
            <a:ext cx="1645423" cy="159739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9221483-C4B3-01A2-DC9E-56FC3037D396}"/>
              </a:ext>
            </a:extLst>
          </p:cNvPr>
          <p:cNvSpPr/>
          <p:nvPr/>
        </p:nvSpPr>
        <p:spPr>
          <a:xfrm>
            <a:off x="12444813" y="5705577"/>
            <a:ext cx="1645423" cy="159739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43C0F48-BE57-DCA3-5B57-A36E35C5DF41}"/>
              </a:ext>
            </a:extLst>
          </p:cNvPr>
          <p:cNvSpPr/>
          <p:nvPr/>
        </p:nvSpPr>
        <p:spPr>
          <a:xfrm>
            <a:off x="10303178" y="7398675"/>
            <a:ext cx="1645423" cy="159739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CE21B8B-437A-F147-F147-100A4E0EBD15}"/>
              </a:ext>
            </a:extLst>
          </p:cNvPr>
          <p:cNvSpPr/>
          <p:nvPr/>
        </p:nvSpPr>
        <p:spPr>
          <a:xfrm>
            <a:off x="10215671" y="5777126"/>
            <a:ext cx="2141635" cy="159739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02EF4D67-7728-93F2-9FBF-1D797A0FAFBD}"/>
              </a:ext>
            </a:extLst>
          </p:cNvPr>
          <p:cNvCxnSpPr>
            <a:cxnSpLocks/>
          </p:cNvCxnSpPr>
          <p:nvPr/>
        </p:nvCxnSpPr>
        <p:spPr>
          <a:xfrm>
            <a:off x="14901777" y="7266039"/>
            <a:ext cx="165100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36" name="TextBox 1035">
            <a:extLst>
              <a:ext uri="{FF2B5EF4-FFF2-40B4-BE49-F238E27FC236}">
                <a16:creationId xmlns:a16="http://schemas.microsoft.com/office/drawing/2014/main" id="{C16E821F-D1D2-4B37-03A5-17FD1BA86EC1}"/>
              </a:ext>
            </a:extLst>
          </p:cNvPr>
          <p:cNvSpPr txBox="1"/>
          <p:nvPr/>
        </p:nvSpPr>
        <p:spPr>
          <a:xfrm>
            <a:off x="15285478" y="5467742"/>
            <a:ext cx="868385" cy="737179"/>
          </a:xfrm>
          <a:prstGeom prst="rect">
            <a:avLst/>
          </a:prstGeom>
        </p:spPr>
        <p:txBody>
          <a:bodyPr rtlCol="0" anchor="t"/>
          <a:lstStyle/>
          <a:p>
            <a:pPr algn="ctr">
              <a:lnSpc>
                <a:spcPct val="132800"/>
              </a:lnSpc>
            </a:pPr>
            <a:r>
              <a:rPr lang="en-US" altLang="ko-KR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ssh</a:t>
            </a:r>
            <a:endParaRPr lang="en-US" altLang="ko-KR" sz="2400" spc="-120" dirty="0">
              <a:solidFill>
                <a:srgbClr val="FF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pic>
        <p:nvPicPr>
          <p:cNvPr id="2054" name="Picture 6" descr="Docker Hub 사용법 (push pull)">
            <a:extLst>
              <a:ext uri="{FF2B5EF4-FFF2-40B4-BE49-F238E27FC236}">
                <a16:creationId xmlns:a16="http://schemas.microsoft.com/office/drawing/2014/main" id="{C5628A7A-882A-21D7-505D-CE7A7F710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8147" y="1981894"/>
            <a:ext cx="182880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SH Keys: Know Your Format">
            <a:extLst>
              <a:ext uri="{FF2B5EF4-FFF2-40B4-BE49-F238E27FC236}">
                <a16:creationId xmlns:a16="http://schemas.microsoft.com/office/drawing/2014/main" id="{00402C94-1413-A6E8-759D-5DF39197E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0651" y="6033737"/>
            <a:ext cx="1478041" cy="1108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직사각형 11">
            <a:extLst>
              <a:ext uri="{FF2B5EF4-FFF2-40B4-BE49-F238E27FC236}">
                <a16:creationId xmlns:a16="http://schemas.microsoft.com/office/drawing/2014/main" id="{F488F3DD-4B98-DACE-BC51-12A0EC95B162}"/>
              </a:ext>
            </a:extLst>
          </p:cNvPr>
          <p:cNvSpPr/>
          <p:nvPr/>
        </p:nvSpPr>
        <p:spPr>
          <a:xfrm>
            <a:off x="16992092" y="4011414"/>
            <a:ext cx="4106664" cy="6824048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>
              <a:latin typeface="Consolas" panose="020B0609020204030204" pitchFamily="49" charset="0"/>
            </a:endParaRPr>
          </a:p>
        </p:txBody>
      </p:sp>
      <p:sp>
        <p:nvSpPr>
          <p:cNvPr id="1038" name="직사각형 1037">
            <a:extLst>
              <a:ext uri="{FF2B5EF4-FFF2-40B4-BE49-F238E27FC236}">
                <a16:creationId xmlns:a16="http://schemas.microsoft.com/office/drawing/2014/main" id="{830030F5-5832-B3D0-0DDD-57F53D021F10}"/>
              </a:ext>
            </a:extLst>
          </p:cNvPr>
          <p:cNvSpPr/>
          <p:nvPr/>
        </p:nvSpPr>
        <p:spPr>
          <a:xfrm>
            <a:off x="17601692" y="4760350"/>
            <a:ext cx="2880000" cy="5221850"/>
          </a:xfrm>
          <a:prstGeom prst="rect">
            <a:avLst/>
          </a:prstGeom>
          <a:solidFill>
            <a:srgbClr val="E9F8E4"/>
          </a:solidFill>
          <a:ln w="19050" cap="flat" cmpd="sng" algn="ctr">
            <a:solidFill>
              <a:srgbClr val="D4F1CA"/>
            </a:solidFill>
            <a:prstDash val="solid"/>
            <a:round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 sz="20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41" name="직사각형 11">
            <a:extLst>
              <a:ext uri="{FF2B5EF4-FFF2-40B4-BE49-F238E27FC236}">
                <a16:creationId xmlns:a16="http://schemas.microsoft.com/office/drawing/2014/main" id="{DD8B85BB-6747-1D4F-0CBE-E533BDD9852B}"/>
              </a:ext>
            </a:extLst>
          </p:cNvPr>
          <p:cNvSpPr/>
          <p:nvPr/>
        </p:nvSpPr>
        <p:spPr>
          <a:xfrm>
            <a:off x="18000989" y="5178847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user - new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042" name="직사각형 11">
            <a:extLst>
              <a:ext uri="{FF2B5EF4-FFF2-40B4-BE49-F238E27FC236}">
                <a16:creationId xmlns:a16="http://schemas.microsoft.com/office/drawing/2014/main" id="{563A173E-F8B1-0D31-6AF5-E6C4CE3776AA}"/>
              </a:ext>
            </a:extLst>
          </p:cNvPr>
          <p:cNvSpPr/>
          <p:nvPr/>
        </p:nvSpPr>
        <p:spPr>
          <a:xfrm>
            <a:off x="18000989" y="5760828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043" name="직사각형 11">
            <a:extLst>
              <a:ext uri="{FF2B5EF4-FFF2-40B4-BE49-F238E27FC236}">
                <a16:creationId xmlns:a16="http://schemas.microsoft.com/office/drawing/2014/main" id="{CDA642FC-E2B1-AEC3-5803-5801D8E9DC51}"/>
              </a:ext>
            </a:extLst>
          </p:cNvPr>
          <p:cNvSpPr/>
          <p:nvPr/>
        </p:nvSpPr>
        <p:spPr>
          <a:xfrm>
            <a:off x="18000989" y="6342809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restarea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-unit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044" name="직사각형 11">
            <a:extLst>
              <a:ext uri="{FF2B5EF4-FFF2-40B4-BE49-F238E27FC236}">
                <a16:creationId xmlns:a16="http://schemas.microsoft.com/office/drawing/2014/main" id="{C61596B4-A9CD-184B-B18D-5BABFBEE3A12}"/>
              </a:ext>
            </a:extLst>
          </p:cNvPr>
          <p:cNvSpPr/>
          <p:nvPr/>
        </p:nvSpPr>
        <p:spPr>
          <a:xfrm>
            <a:off x="18000989" y="6924790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content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045" name="직사각형 11">
            <a:extLst>
              <a:ext uri="{FF2B5EF4-FFF2-40B4-BE49-F238E27FC236}">
                <a16:creationId xmlns:a16="http://schemas.microsoft.com/office/drawing/2014/main" id="{9BBF0965-D484-5BA8-A944-25F39468BF90}"/>
              </a:ext>
            </a:extLst>
          </p:cNvPr>
          <p:cNvSpPr/>
          <p:nvPr/>
        </p:nvSpPr>
        <p:spPr>
          <a:xfrm>
            <a:off x="18000989" y="7506771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openapi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046" name="직사각형 11">
            <a:extLst>
              <a:ext uri="{FF2B5EF4-FFF2-40B4-BE49-F238E27FC236}">
                <a16:creationId xmlns:a16="http://schemas.microsoft.com/office/drawing/2014/main" id="{B95E9535-92CC-99EA-546F-AFAC7B50C3B9}"/>
              </a:ext>
            </a:extLst>
          </p:cNvPr>
          <p:cNvSpPr/>
          <p:nvPr/>
        </p:nvSpPr>
        <p:spPr>
          <a:xfrm>
            <a:off x="18000989" y="8088752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tmapapi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- new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047" name="직사각형 11">
            <a:extLst>
              <a:ext uri="{FF2B5EF4-FFF2-40B4-BE49-F238E27FC236}">
                <a16:creationId xmlns:a16="http://schemas.microsoft.com/office/drawing/2014/main" id="{0250D740-58E2-8B9B-3397-EA7C32C3FE02}"/>
              </a:ext>
            </a:extLst>
          </p:cNvPr>
          <p:cNvSpPr/>
          <p:nvPr/>
        </p:nvSpPr>
        <p:spPr>
          <a:xfrm>
            <a:off x="18000989" y="8670733"/>
            <a:ext cx="2115133" cy="388151"/>
          </a:xfrm>
          <a:prstGeom prst="rect">
            <a:avLst/>
          </a:prstGeom>
          <a:noFill/>
          <a:ln w="19050">
            <a:solidFill>
              <a:srgbClr val="3F8FDC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openai</a:t>
            </a:r>
            <a:r>
              <a:rPr lang="en-US" altLang="ko-KR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- new</a:t>
            </a:r>
            <a:endParaRPr lang="en-US" altLang="ko-KR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1050" name="그림 6">
            <a:extLst>
              <a:ext uri="{FF2B5EF4-FFF2-40B4-BE49-F238E27FC236}">
                <a16:creationId xmlns:a16="http://schemas.microsoft.com/office/drawing/2014/main" id="{7847F37D-C556-6A95-B646-4F9924CEC2DE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6030" r="43260" b="47540"/>
          <a:stretch>
            <a:fillRect/>
          </a:stretch>
        </p:blipFill>
        <p:spPr>
          <a:xfrm>
            <a:off x="18000989" y="1772242"/>
            <a:ext cx="1828799" cy="1506320"/>
          </a:xfrm>
          <a:prstGeom prst="rect">
            <a:avLst/>
          </a:prstGeom>
        </p:spPr>
      </p:pic>
      <p:sp>
        <p:nvSpPr>
          <p:cNvPr id="1051" name="TextBox 1050">
            <a:extLst>
              <a:ext uri="{FF2B5EF4-FFF2-40B4-BE49-F238E27FC236}">
                <a16:creationId xmlns:a16="http://schemas.microsoft.com/office/drawing/2014/main" id="{5F5EAF45-5AFD-2BE6-6B68-3FC18311E9C6}"/>
              </a:ext>
            </a:extLst>
          </p:cNvPr>
          <p:cNvSpPr txBox="1"/>
          <p:nvPr/>
        </p:nvSpPr>
        <p:spPr>
          <a:xfrm>
            <a:off x="16747410" y="3301421"/>
            <a:ext cx="4622290" cy="737179"/>
          </a:xfrm>
          <a:prstGeom prst="rect">
            <a:avLst/>
          </a:prstGeom>
        </p:spPr>
        <p:txBody>
          <a:bodyPr rtlCol="0" anchor="t"/>
          <a:lstStyle/>
          <a:p>
            <a:pPr algn="ctr">
              <a:lnSpc>
                <a:spcPct val="132800"/>
              </a:lnSpc>
            </a:pPr>
            <a:r>
              <a:rPr lang="ko-KR" altLang="en-US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해당 컨테이너 이미지 </a:t>
            </a:r>
            <a:r>
              <a:rPr lang="en-US" altLang="ko-KR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pull </a:t>
            </a:r>
            <a:r>
              <a:rPr lang="ko-KR" altLang="en-US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후 재실행</a:t>
            </a:r>
            <a:endParaRPr lang="en-US" altLang="ko-KR" sz="2400" spc="-120" dirty="0">
              <a:solidFill>
                <a:srgbClr val="FF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052" name="직사각형 1051">
            <a:extLst>
              <a:ext uri="{FF2B5EF4-FFF2-40B4-BE49-F238E27FC236}">
                <a16:creationId xmlns:a16="http://schemas.microsoft.com/office/drawing/2014/main" id="{16E65391-983D-D989-AF34-98A457CBF3FF}"/>
              </a:ext>
            </a:extLst>
          </p:cNvPr>
          <p:cNvSpPr/>
          <p:nvPr/>
        </p:nvSpPr>
        <p:spPr>
          <a:xfrm>
            <a:off x="17718488" y="5669196"/>
            <a:ext cx="2646408" cy="571414"/>
          </a:xfrm>
          <a:prstGeom prst="rect">
            <a:avLst/>
          </a:prstGeom>
          <a:solidFill>
            <a:srgbClr val="E9F8E4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3" name="직사각형 1052">
            <a:extLst>
              <a:ext uri="{FF2B5EF4-FFF2-40B4-BE49-F238E27FC236}">
                <a16:creationId xmlns:a16="http://schemas.microsoft.com/office/drawing/2014/main" id="{5B651C34-97C1-4D96-E3AA-0AFAAEC4D7B3}"/>
              </a:ext>
            </a:extLst>
          </p:cNvPr>
          <p:cNvSpPr/>
          <p:nvPr/>
        </p:nvSpPr>
        <p:spPr>
          <a:xfrm>
            <a:off x="17718488" y="6204921"/>
            <a:ext cx="2646408" cy="571414"/>
          </a:xfrm>
          <a:prstGeom prst="rect">
            <a:avLst/>
          </a:prstGeom>
          <a:solidFill>
            <a:srgbClr val="E9F8E4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4" name="직사각형 1053">
            <a:extLst>
              <a:ext uri="{FF2B5EF4-FFF2-40B4-BE49-F238E27FC236}">
                <a16:creationId xmlns:a16="http://schemas.microsoft.com/office/drawing/2014/main" id="{D25C6439-7DA9-1016-40C6-37B22F4485A1}"/>
              </a:ext>
            </a:extLst>
          </p:cNvPr>
          <p:cNvSpPr/>
          <p:nvPr/>
        </p:nvSpPr>
        <p:spPr>
          <a:xfrm>
            <a:off x="17718488" y="6789056"/>
            <a:ext cx="2646408" cy="571414"/>
          </a:xfrm>
          <a:prstGeom prst="rect">
            <a:avLst/>
          </a:prstGeom>
          <a:solidFill>
            <a:srgbClr val="E9F8E4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5" name="직사각형 1054">
            <a:extLst>
              <a:ext uri="{FF2B5EF4-FFF2-40B4-BE49-F238E27FC236}">
                <a16:creationId xmlns:a16="http://schemas.microsoft.com/office/drawing/2014/main" id="{976BAD72-43D4-3AC1-327E-00D6498D11DD}"/>
              </a:ext>
            </a:extLst>
          </p:cNvPr>
          <p:cNvSpPr/>
          <p:nvPr/>
        </p:nvSpPr>
        <p:spPr>
          <a:xfrm>
            <a:off x="17718488" y="7394103"/>
            <a:ext cx="2646408" cy="571414"/>
          </a:xfrm>
          <a:prstGeom prst="rect">
            <a:avLst/>
          </a:prstGeom>
          <a:solidFill>
            <a:srgbClr val="E9F8E4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82B0BCA-9E53-1A68-4AC1-B6E9A2E68AC6}"/>
              </a:ext>
            </a:extLst>
          </p:cNvPr>
          <p:cNvSpPr txBox="1"/>
          <p:nvPr/>
        </p:nvSpPr>
        <p:spPr>
          <a:xfrm>
            <a:off x="2526356" y="3301421"/>
            <a:ext cx="4622290" cy="737179"/>
          </a:xfrm>
          <a:prstGeom prst="rect">
            <a:avLst/>
          </a:prstGeom>
        </p:spPr>
        <p:txBody>
          <a:bodyPr rtlCol="0" anchor="t"/>
          <a:lstStyle/>
          <a:p>
            <a:pPr algn="ctr">
              <a:lnSpc>
                <a:spcPct val="132800"/>
              </a:lnSpc>
            </a:pPr>
            <a:r>
              <a:rPr lang="en-US" altLang="ko-KR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Repo </a:t>
            </a:r>
            <a:r>
              <a:rPr lang="ko-KR" altLang="en-US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소스코드 수정 후 </a:t>
            </a:r>
            <a:r>
              <a:rPr lang="en-US" altLang="ko-KR" sz="2400" spc="-120" dirty="0">
                <a:solidFill>
                  <a:srgbClr val="2E2E2E"/>
                </a:solidFill>
                <a:latin typeface="Pretendard Regular" panose="020B0600000101010101" charset="-127"/>
                <a:ea typeface="Pretendard Regular" panose="020B0600000101010101" charset="-127"/>
              </a:rPr>
              <a:t>push</a:t>
            </a:r>
            <a:endParaRPr lang="en-US" altLang="ko-KR" sz="2400" spc="-120" dirty="0">
              <a:solidFill>
                <a:srgbClr val="FF0000"/>
              </a:solidFill>
              <a:latin typeface="Pretendard Regular" panose="020B0600000101010101" charset="-127"/>
              <a:ea typeface="Pretendard Regular" panose="020B0600000101010101" charset="-127"/>
            </a:endParaRPr>
          </a:p>
        </p:txBody>
      </p:sp>
      <p:sp>
        <p:nvSpPr>
          <p:cNvPr id="1057" name="직사각형 1056">
            <a:extLst>
              <a:ext uri="{FF2B5EF4-FFF2-40B4-BE49-F238E27FC236}">
                <a16:creationId xmlns:a16="http://schemas.microsoft.com/office/drawing/2014/main" id="{3CB9E264-FC38-887F-7614-BFD4F13E971D}"/>
              </a:ext>
            </a:extLst>
          </p:cNvPr>
          <p:cNvSpPr/>
          <p:nvPr/>
        </p:nvSpPr>
        <p:spPr>
          <a:xfrm>
            <a:off x="5005656" y="4204896"/>
            <a:ext cx="1645423" cy="159739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8" name="직사각형 1057">
            <a:extLst>
              <a:ext uri="{FF2B5EF4-FFF2-40B4-BE49-F238E27FC236}">
                <a16:creationId xmlns:a16="http://schemas.microsoft.com/office/drawing/2014/main" id="{79F56D5C-ACCF-D796-308B-1F49C903C428}"/>
              </a:ext>
            </a:extLst>
          </p:cNvPr>
          <p:cNvSpPr/>
          <p:nvPr/>
        </p:nvSpPr>
        <p:spPr>
          <a:xfrm>
            <a:off x="5005656" y="5777126"/>
            <a:ext cx="1645423" cy="159739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59" name="직사각형 1058">
            <a:extLst>
              <a:ext uri="{FF2B5EF4-FFF2-40B4-BE49-F238E27FC236}">
                <a16:creationId xmlns:a16="http://schemas.microsoft.com/office/drawing/2014/main" id="{ED3A8393-2568-6561-75E9-2AA195FD2608}"/>
              </a:ext>
            </a:extLst>
          </p:cNvPr>
          <p:cNvSpPr/>
          <p:nvPr/>
        </p:nvSpPr>
        <p:spPr>
          <a:xfrm>
            <a:off x="2754368" y="5777126"/>
            <a:ext cx="2141635" cy="159739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60" name="직사각형 1059">
            <a:extLst>
              <a:ext uri="{FF2B5EF4-FFF2-40B4-BE49-F238E27FC236}">
                <a16:creationId xmlns:a16="http://schemas.microsoft.com/office/drawing/2014/main" id="{1337AA53-D43F-4A4D-254A-5F490BACC7F5}"/>
              </a:ext>
            </a:extLst>
          </p:cNvPr>
          <p:cNvSpPr/>
          <p:nvPr/>
        </p:nvSpPr>
        <p:spPr>
          <a:xfrm>
            <a:off x="2918317" y="7496485"/>
            <a:ext cx="1645423" cy="1597391"/>
          </a:xfrm>
          <a:prstGeom prst="rect">
            <a:avLst/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246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2" grpId="0"/>
      <p:bldP spid="18" grpId="0"/>
      <p:bldP spid="44" grpId="0"/>
      <p:bldP spid="45" grpId="0"/>
      <p:bldP spid="48" grpId="0"/>
      <p:bldP spid="49" grpId="0"/>
      <p:bldP spid="51" grpId="0"/>
      <p:bldP spid="52" grpId="0"/>
      <p:bldP spid="53" grpId="0" animBg="1"/>
      <p:bldP spid="54" grpId="0" animBg="1"/>
      <p:bldP spid="57" grpId="0" animBg="1"/>
      <p:bldP spid="58" grpId="0" animBg="1"/>
      <p:bldP spid="1036" grpId="0"/>
      <p:bldP spid="1037" grpId="0" animBg="1"/>
      <p:bldP spid="1038" grpId="0" animBg="1"/>
      <p:bldP spid="1041" grpId="0" animBg="1"/>
      <p:bldP spid="1042" grpId="0" animBg="1"/>
      <p:bldP spid="1043" grpId="0" animBg="1"/>
      <p:bldP spid="1044" grpId="0" animBg="1"/>
      <p:bldP spid="1045" grpId="0" animBg="1"/>
      <p:bldP spid="1046" grpId="0" animBg="1"/>
      <p:bldP spid="1047" grpId="0" animBg="1"/>
      <p:bldP spid="1051" grpId="0"/>
      <p:bldP spid="1052" grpId="0" animBg="1"/>
      <p:bldP spid="1053" grpId="0" animBg="1"/>
      <p:bldP spid="1054" grpId="0" animBg="1"/>
      <p:bldP spid="1055" grpId="0" animBg="1"/>
      <p:bldP spid="1057" grpId="0" animBg="1"/>
      <p:bldP spid="1058" grpId="0" animBg="1"/>
      <p:bldP spid="1059" grpId="0" animBg="1"/>
      <p:bldP spid="106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CA186-E026-6612-10F4-151E6F780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5BAAD98-5A00-1D6B-5B51-8AA81AE64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5D997C4-7ACF-C6B5-19DE-C81E81747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98F0D0E4-8595-A244-D925-9BF419D9F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940B9DFF-2876-F465-2624-BC582BB8311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FEABF964-303A-44D5-3C44-35A55611B882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b="0" i="0" u="none" strike="noStrike" dirty="0">
                <a:solidFill>
                  <a:srgbClr val="202020"/>
                </a:solidFill>
                <a:latin typeface="Pretendard Bold"/>
              </a:rPr>
              <a:t>10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4F9314D-7834-B958-BC28-8BE7E756E7C5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600" dirty="0">
                <a:solidFill>
                  <a:srgbClr val="202020"/>
                </a:solidFill>
                <a:ea typeface="Pretendard Medium"/>
              </a:rPr>
              <a:t>시연</a:t>
            </a:r>
            <a:endParaRPr lang="ko-KR" sz="3600" b="0" i="0" u="none" strike="noStrike" dirty="0">
              <a:solidFill>
                <a:srgbClr val="202020"/>
              </a:solidFill>
              <a:ea typeface="Pretendard Medium"/>
            </a:endParaRP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538BB8CA-F63C-A01D-5B5B-0130981A1C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1557000" y="393700"/>
            <a:ext cx="1270000" cy="4521200"/>
          </a:xfrm>
          <a:prstGeom prst="rect">
            <a:avLst/>
          </a:prstGeom>
        </p:spPr>
      </p:pic>
      <p:sp>
        <p:nvSpPr>
          <p:cNvPr id="8" name="TextBox 13">
            <a:extLst>
              <a:ext uri="{FF2B5EF4-FFF2-40B4-BE49-F238E27FC236}">
                <a16:creationId xmlns:a16="http://schemas.microsoft.com/office/drawing/2014/main" id="{B6A5AD5F-41DF-634D-6707-D480B6B67B45}"/>
              </a:ext>
            </a:extLst>
          </p:cNvPr>
          <p:cNvSpPr txBox="1"/>
          <p:nvPr/>
        </p:nvSpPr>
        <p:spPr>
          <a:xfrm>
            <a:off x="10194036" y="2188464"/>
            <a:ext cx="3995928" cy="8255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4666" b="0" i="0" u="none" strike="noStrike" spc="-233" dirty="0">
                <a:solidFill>
                  <a:srgbClr val="FFFFFF"/>
                </a:solidFill>
                <a:ea typeface="Pretendard SemiBold"/>
                <a:hlinkClick r:id="rId7"/>
              </a:rPr>
              <a:t>사이트</a:t>
            </a:r>
            <a:endParaRPr lang="ko-KR" sz="4666" b="0" i="0" u="none" strike="noStrike" spc="-233" dirty="0">
              <a:solidFill>
                <a:srgbClr val="FFFFFF"/>
              </a:solidFill>
              <a:ea typeface="Pretendard Semi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6AD3C5-F44B-F39E-17ED-45D9A29E9A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1905" y="3505200"/>
            <a:ext cx="19127490" cy="938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666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A63D3-EE3D-E788-D089-E4547D68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7A67B62-F990-E3BC-E441-EF0378E56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FA899D0-1716-BE01-90B5-2126ED37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E320ADC5-D563-B910-AA11-3458BDF3C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BE3A906C-3BC7-78BB-6BBF-25917DB1593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FDE96FF5-681D-B620-2EA3-4EF80B8C478A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dirty="0">
                <a:solidFill>
                  <a:srgbClr val="202020"/>
                </a:solidFill>
                <a:latin typeface="Pretendard Bold"/>
              </a:rPr>
              <a:t>11</a:t>
            </a:r>
            <a:endParaRPr lang="en" sz="2266" b="0" i="0" u="none" strike="noStrike" dirty="0">
              <a:solidFill>
                <a:srgbClr val="202020"/>
              </a:solidFill>
              <a:latin typeface="Pretendard Bold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90D55391-4F79-0FCB-A37E-7B5E3ED34AEA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600" b="0" i="0" u="none" strike="noStrike" dirty="0" err="1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nGrinder</a:t>
            </a:r>
            <a:endParaRPr lang="ko-KR" sz="3600" b="0" i="0" u="none" strike="noStrike" dirty="0">
              <a:solidFill>
                <a:srgbClr val="20202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6208586-86CE-E877-ECAD-B9F3A46F1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3750" y="6365939"/>
            <a:ext cx="21600000" cy="28277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07CF30-E6E2-D9FA-122D-8DD3F6DD3AD5}"/>
              </a:ext>
            </a:extLst>
          </p:cNvPr>
          <p:cNvSpPr txBox="1"/>
          <p:nvPr/>
        </p:nvSpPr>
        <p:spPr>
          <a:xfrm>
            <a:off x="7918450" y="9016421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3600" spc="-120" dirty="0" err="1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Vuser</a:t>
            </a: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</a:t>
            </a:r>
            <a:r>
              <a:rPr lang="en-US" sz="3600" spc="-12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3000</a:t>
            </a: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/ CPU = 0.5</a:t>
            </a:r>
            <a:endParaRPr lang="en-US" sz="3600" b="0" i="0" u="none" strike="noStrike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0472FCF-3DEC-4098-8F0E-7B9CC5622C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1224" y="2768021"/>
            <a:ext cx="21600000" cy="28566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E5A3A03-D604-A47D-0D06-DE0E35019248}"/>
              </a:ext>
            </a:extLst>
          </p:cNvPr>
          <p:cNvSpPr txBox="1"/>
          <p:nvPr/>
        </p:nvSpPr>
        <p:spPr>
          <a:xfrm>
            <a:off x="7880350" y="5282621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3600" spc="-120" dirty="0" err="1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Vuser</a:t>
            </a: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</a:t>
            </a:r>
            <a:r>
              <a:rPr lang="en-US" sz="3600" spc="-12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500</a:t>
            </a: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/ CPU = 0.5</a:t>
            </a:r>
            <a:endParaRPr lang="en-US" sz="3600" b="0" i="0" u="none" strike="noStrike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0CC51C9-81D2-0269-5B5C-2EA325465A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0200" y="10126751"/>
            <a:ext cx="16764000" cy="2446249"/>
          </a:xfrm>
          <a:prstGeom prst="rect">
            <a:avLst/>
          </a:prstGeom>
        </p:spPr>
      </p:pic>
      <p:sp>
        <p:nvSpPr>
          <p:cNvPr id="3" name="TextBox 11">
            <a:extLst>
              <a:ext uri="{FF2B5EF4-FFF2-40B4-BE49-F238E27FC236}">
                <a16:creationId xmlns:a16="http://schemas.microsoft.com/office/drawing/2014/main" id="{1DB64D80-700A-A3B9-1FBB-04C539E8C72E}"/>
              </a:ext>
            </a:extLst>
          </p:cNvPr>
          <p:cNvSpPr txBox="1"/>
          <p:nvPr/>
        </p:nvSpPr>
        <p:spPr>
          <a:xfrm>
            <a:off x="685800" y="1777421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특이사항</a:t>
            </a:r>
            <a:endParaRPr lang="en-US" sz="2400" b="0" i="0" u="none" strike="noStrike" spc="-120" dirty="0">
              <a:solidFill>
                <a:srgbClr val="2E2E2E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089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DC414-CC4B-7C78-383F-64E5339F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F8FBB1A-729B-88EE-69FA-2C34C7DF4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60F9032-0FD3-36D3-E99A-B17575966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C75222E1-190B-B323-6A95-907746A4E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8D3E6A69-A7DC-B939-1FD8-05A10B5C3E7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8EE5DD1C-C2F5-5840-DEBC-2872BE343CE4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dirty="0">
                <a:solidFill>
                  <a:srgbClr val="202020"/>
                </a:solidFill>
                <a:latin typeface="Pretendard Bold"/>
              </a:rPr>
              <a:t>12</a:t>
            </a:r>
            <a:endParaRPr lang="en" sz="2266" b="0" i="0" u="none" strike="noStrike" dirty="0">
              <a:solidFill>
                <a:srgbClr val="202020"/>
              </a:solidFill>
              <a:latin typeface="Pretendard Bold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8D594A8-8D75-F5B4-7756-CDE91A4F0E15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600" b="0" i="0" u="none" strike="noStrike" dirty="0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CPU </a:t>
            </a:r>
            <a:r>
              <a:rPr lang="ko-KR" altLang="en-US" sz="3600" b="0" i="0" u="none" strike="noStrike" dirty="0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제한 실험</a:t>
            </a:r>
            <a:endParaRPr lang="ko-KR" sz="3600" b="0" i="0" u="none" strike="noStrike" dirty="0">
              <a:solidFill>
                <a:srgbClr val="20202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B316B6-E905-E245-43A5-23A958D7DB1A}"/>
              </a:ext>
            </a:extLst>
          </p:cNvPr>
          <p:cNvSpPr txBox="1"/>
          <p:nvPr/>
        </p:nvSpPr>
        <p:spPr>
          <a:xfrm>
            <a:off x="7886700" y="11734800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3600" spc="-120" dirty="0" err="1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Vuser</a:t>
            </a: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</a:t>
            </a:r>
            <a:r>
              <a:rPr lang="en-US" sz="3600" spc="-120" dirty="0">
                <a:latin typeface="Pretendard SemiBold" panose="020B0600000101010101" charset="-127"/>
                <a:ea typeface="Pretendard SemiBold" panose="020B0600000101010101" charset="-127"/>
              </a:rPr>
              <a:t>300</a:t>
            </a: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/ CPU = </a:t>
            </a:r>
            <a:r>
              <a:rPr lang="en-US" sz="3600" spc="-12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0.2</a:t>
            </a:r>
            <a:endParaRPr lang="en-US" sz="3600" b="0" i="0" u="none" strike="noStrike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B7A25B7-3C69-9257-D384-0F1A4C3283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2000" y="9797072"/>
            <a:ext cx="14400000" cy="192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96D366A-FA67-0AAF-1D7F-F1B0F4666C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2000" y="3048000"/>
            <a:ext cx="14400000" cy="19321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8E1D79-4629-EAEB-59E5-8D72F695A0C6}"/>
              </a:ext>
            </a:extLst>
          </p:cNvPr>
          <p:cNvSpPr txBox="1"/>
          <p:nvPr/>
        </p:nvSpPr>
        <p:spPr>
          <a:xfrm>
            <a:off x="7886700" y="4977821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3600" spc="-120" dirty="0" err="1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Vuser</a:t>
            </a: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</a:t>
            </a:r>
            <a:r>
              <a:rPr lang="en-US" sz="3600" spc="-120" dirty="0">
                <a:latin typeface="Pretendard SemiBold" panose="020B0600000101010101" charset="-127"/>
                <a:ea typeface="Pretendard SemiBold" panose="020B0600000101010101" charset="-127"/>
              </a:rPr>
              <a:t>300</a:t>
            </a: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/ CPU = </a:t>
            </a:r>
            <a:r>
              <a:rPr lang="en-US" sz="3600" spc="-12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0.12</a:t>
            </a:r>
            <a:endParaRPr lang="en-US" sz="3600" b="0" i="0" u="none" strike="noStrike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58C2062-C3C6-BC9A-B010-78E89CD8EF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2000" y="6412032"/>
            <a:ext cx="14400000" cy="195315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3C937AE-E2E0-9CC2-3833-EEE1063B8AD7}"/>
              </a:ext>
            </a:extLst>
          </p:cNvPr>
          <p:cNvSpPr txBox="1"/>
          <p:nvPr/>
        </p:nvSpPr>
        <p:spPr>
          <a:xfrm>
            <a:off x="7886700" y="8382000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2800"/>
              </a:lnSpc>
            </a:pPr>
            <a:r>
              <a:rPr lang="en-US" sz="3600" spc="-120" dirty="0" err="1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Vuser</a:t>
            </a: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</a:t>
            </a:r>
            <a:r>
              <a:rPr lang="en-US" sz="3600" spc="-120" dirty="0">
                <a:latin typeface="Pretendard SemiBold" panose="020B0600000101010101" charset="-127"/>
                <a:ea typeface="Pretendard SemiBold" panose="020B0600000101010101" charset="-127"/>
              </a:rPr>
              <a:t>300</a:t>
            </a: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/ CPU = </a:t>
            </a:r>
            <a:r>
              <a:rPr lang="en-US" sz="3600" spc="-12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0.15</a:t>
            </a:r>
            <a:endParaRPr lang="en-US" sz="3600" b="0" i="0" u="none" strike="noStrike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FD649F85-5F73-0FFA-14E3-941F8961F577}"/>
              </a:ext>
            </a:extLst>
          </p:cNvPr>
          <p:cNvSpPr txBox="1"/>
          <p:nvPr/>
        </p:nvSpPr>
        <p:spPr>
          <a:xfrm>
            <a:off x="685800" y="1777421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AWS : t2.medium (2xCPU, 4GiB Memory)</a:t>
            </a:r>
            <a:endParaRPr lang="en-US" sz="2400" b="0" i="0" u="none" strike="noStrike" spc="-120" dirty="0">
              <a:solidFill>
                <a:srgbClr val="2E2E2E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4952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AF1E0-E8F5-DF3E-47D6-C13D7F0C9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89BC668-3E15-1983-D5F0-F7C01E66D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DED3680-DA83-09A6-8AB1-F8D5A100D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1EF9658F-D1EC-3C3C-9C69-98F9EB675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F8E52A43-D6E1-D903-2A62-74E61C9B304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C17FF7F7-07A5-907A-A028-2CEAACB58411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b="0" i="0" u="none" strike="noStrike" dirty="0">
                <a:solidFill>
                  <a:srgbClr val="202020"/>
                </a:solidFill>
                <a:latin typeface="Pretendard Bold"/>
              </a:rPr>
              <a:t>13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227ED49-0F65-840D-0708-D1479EBB14FB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600" dirty="0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서비스 별 실험</a:t>
            </a:r>
            <a:endParaRPr lang="ko-KR" sz="3600" b="0" i="0" u="none" strike="noStrike" dirty="0">
              <a:solidFill>
                <a:srgbClr val="20202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6363406F-E7EC-1887-0624-853765759BC4}"/>
              </a:ext>
            </a:extLst>
          </p:cNvPr>
          <p:cNvSpPr txBox="1"/>
          <p:nvPr/>
        </p:nvSpPr>
        <p:spPr>
          <a:xfrm>
            <a:off x="2209800" y="3301421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Facility</a:t>
            </a:r>
            <a:endParaRPr lang="en-US" sz="2400" b="0" i="0" u="none" strike="noStrike" spc="-120" dirty="0">
              <a:solidFill>
                <a:srgbClr val="2E2E2E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30200" y="4002578"/>
            <a:ext cx="8077200" cy="3084022"/>
          </a:xfrm>
          <a:prstGeom prst="rect">
            <a:avLst/>
          </a:prstGeom>
        </p:spPr>
      </p:pic>
      <p:sp>
        <p:nvSpPr>
          <p:cNvPr id="17" name="TextBox 11">
            <a:extLst>
              <a:ext uri="{FF2B5EF4-FFF2-40B4-BE49-F238E27FC236}">
                <a16:creationId xmlns:a16="http://schemas.microsoft.com/office/drawing/2014/main" id="{6363406F-E7EC-1887-0624-853765759BC4}"/>
              </a:ext>
            </a:extLst>
          </p:cNvPr>
          <p:cNvSpPr txBox="1"/>
          <p:nvPr/>
        </p:nvSpPr>
        <p:spPr>
          <a:xfrm>
            <a:off x="13341480" y="3301421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User</a:t>
            </a:r>
            <a:endParaRPr lang="en-US" sz="2400" b="0" i="0" u="none" strike="noStrike" spc="-120" dirty="0">
              <a:solidFill>
                <a:srgbClr val="2E2E2E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6363406F-E7EC-1887-0624-853765759BC4}"/>
              </a:ext>
            </a:extLst>
          </p:cNvPr>
          <p:cNvSpPr txBox="1"/>
          <p:nvPr/>
        </p:nvSpPr>
        <p:spPr>
          <a:xfrm>
            <a:off x="2209800" y="7975021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Favorite</a:t>
            </a:r>
            <a:endParaRPr lang="en-US" sz="2400" b="0" i="0" u="none" strike="noStrike" spc="-120" dirty="0">
              <a:solidFill>
                <a:srgbClr val="2E2E2E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7"/>
          <a:srcRect l="764" t="14098" r="1018" b="3879"/>
          <a:stretch/>
        </p:blipFill>
        <p:spPr>
          <a:xfrm>
            <a:off x="12706802" y="8731652"/>
            <a:ext cx="8408374" cy="3180369"/>
          </a:xfrm>
          <a:prstGeom prst="rect">
            <a:avLst/>
          </a:prstGeom>
        </p:spPr>
      </p:pic>
      <p:sp>
        <p:nvSpPr>
          <p:cNvPr id="21" name="TextBox 11">
            <a:extLst>
              <a:ext uri="{FF2B5EF4-FFF2-40B4-BE49-F238E27FC236}">
                <a16:creationId xmlns:a16="http://schemas.microsoft.com/office/drawing/2014/main" id="{6363406F-E7EC-1887-0624-853765759BC4}"/>
              </a:ext>
            </a:extLst>
          </p:cNvPr>
          <p:cNvSpPr txBox="1"/>
          <p:nvPr/>
        </p:nvSpPr>
        <p:spPr>
          <a:xfrm>
            <a:off x="13341480" y="7975021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Food</a:t>
            </a:r>
            <a:endParaRPr lang="en-US" sz="2400" b="0" i="0" u="none" strike="noStrike" spc="-120" dirty="0">
              <a:solidFill>
                <a:srgbClr val="2E2E2E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8"/>
          <a:srcRect l="35250" t="44682" r="1537" b="9083"/>
          <a:stretch/>
        </p:blipFill>
        <p:spPr>
          <a:xfrm>
            <a:off x="1708279" y="4120469"/>
            <a:ext cx="8355825" cy="3042331"/>
          </a:xfrm>
          <a:prstGeom prst="rect">
            <a:avLst/>
          </a:prstGeom>
        </p:spPr>
      </p:pic>
      <p:sp>
        <p:nvSpPr>
          <p:cNvPr id="22" name="TextBox 11">
            <a:extLst>
              <a:ext uri="{FF2B5EF4-FFF2-40B4-BE49-F238E27FC236}">
                <a16:creationId xmlns:a16="http://schemas.microsoft.com/office/drawing/2014/main" id="{6363406F-E7EC-1887-0624-853765759BC4}"/>
              </a:ext>
            </a:extLst>
          </p:cNvPr>
          <p:cNvSpPr txBox="1"/>
          <p:nvPr/>
        </p:nvSpPr>
        <p:spPr>
          <a:xfrm>
            <a:off x="685800" y="1777421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-US" sz="36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AWS : t2.medium (2xCPU, 4GiB Memory)</a:t>
            </a:r>
            <a:endParaRPr lang="en-US" sz="2400" b="0" i="0" u="none" strike="noStrike" spc="-120" dirty="0">
              <a:solidFill>
                <a:srgbClr val="2E2E2E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94164-15F5-DAA7-7E9E-2810B02F1CB0}"/>
              </a:ext>
            </a:extLst>
          </p:cNvPr>
          <p:cNvSpPr txBox="1"/>
          <p:nvPr/>
        </p:nvSpPr>
        <p:spPr>
          <a:xfrm>
            <a:off x="520700" y="2477818"/>
            <a:ext cx="8610600" cy="737179"/>
          </a:xfrm>
          <a:prstGeom prst="rect">
            <a:avLst/>
          </a:prstGeom>
        </p:spPr>
        <p:txBody>
          <a:bodyPr rtlCol="0" anchor="t"/>
          <a:lstStyle/>
          <a:p>
            <a:pPr marL="342900" indent="-342900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spc="-120" dirty="0" err="1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Vuser</a:t>
            </a:r>
            <a:r>
              <a:rPr lang="en-US" sz="24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400 / CPU = 0.15 </a:t>
            </a:r>
            <a:r>
              <a:rPr lang="en-US" altLang="ko-KR" sz="24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/ RUNTIME = 10 m</a:t>
            </a:r>
            <a:endParaRPr lang="en-US" altLang="ko-KR" sz="2400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5F1B6F-FE9B-EA24-04EC-4AB47611A1A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7408" t="16635" r="1256" b="2478"/>
          <a:stretch>
            <a:fillRect/>
          </a:stretch>
        </p:blipFill>
        <p:spPr>
          <a:xfrm>
            <a:off x="1817632" y="8747060"/>
            <a:ext cx="8280000" cy="319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119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3313D-5A49-447C-BD27-800FB09F4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BEF1957-53A3-0FD4-3D8A-00E957CAB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345DB58-C0D6-AD29-7A6F-9304D476F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E8817C38-3787-59CB-7F29-9095B3BE3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320F02C4-C7B1-E816-0AB8-E8C78552790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15" name="TextBox 12">
            <a:extLst>
              <a:ext uri="{FF2B5EF4-FFF2-40B4-BE49-F238E27FC236}">
                <a16:creationId xmlns:a16="http://schemas.microsoft.com/office/drawing/2014/main" id="{6033F8CA-46E5-9DE3-C3A4-52FB9EA4753E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dirty="0">
                <a:solidFill>
                  <a:srgbClr val="202020"/>
                </a:solidFill>
                <a:latin typeface="Pretendard Bold"/>
              </a:rPr>
              <a:t>14</a:t>
            </a:r>
            <a:endParaRPr lang="en" sz="2266" b="0" i="0" u="none" strike="noStrike" dirty="0">
              <a:solidFill>
                <a:srgbClr val="202020"/>
              </a:solidFill>
              <a:latin typeface="Pretendard Bold"/>
            </a:endParaRP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BF966C97-67F4-69F8-D7D7-86A7382AB238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>
              <a:lnSpc>
                <a:spcPct val="116199"/>
              </a:lnSpc>
            </a:pPr>
            <a:r>
              <a:rPr lang="en-US" altLang="ko-KR" sz="3600" b="0" i="0" u="none" strike="noStrike" dirty="0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REPLICA </a:t>
            </a:r>
            <a:r>
              <a:rPr lang="ko-KR" altLang="en-US" sz="3600" b="0" i="0" u="none" strike="noStrike" dirty="0">
                <a:solidFill>
                  <a:srgbClr val="202020"/>
                </a:solidFill>
                <a:latin typeface="Pretendard Medium" panose="020B0600000101010101" charset="-127"/>
                <a:ea typeface="Pretendard Medium" panose="020B0600000101010101" charset="-127"/>
              </a:rPr>
              <a:t>실험</a:t>
            </a:r>
            <a:endParaRPr lang="ko-KR" sz="3600" b="0" i="0" u="none" strike="noStrike" dirty="0">
              <a:solidFill>
                <a:srgbClr val="20202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6D49B0-FC46-9DC4-FDF8-885DA752FB2D}"/>
              </a:ext>
            </a:extLst>
          </p:cNvPr>
          <p:cNvSpPr txBox="1"/>
          <p:nvPr/>
        </p:nvSpPr>
        <p:spPr>
          <a:xfrm>
            <a:off x="484124" y="1479812"/>
            <a:ext cx="10717276" cy="737179"/>
          </a:xfrm>
          <a:prstGeom prst="rect">
            <a:avLst/>
          </a:prstGeom>
        </p:spPr>
        <p:txBody>
          <a:bodyPr rtlCol="0" anchor="t"/>
          <a:lstStyle/>
          <a:p>
            <a:pPr marL="342900" indent="-342900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spc="-120" dirty="0" err="1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Vuser</a:t>
            </a:r>
            <a:r>
              <a:rPr lang="en-US" sz="24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= 900 / CPU = 0.15 / </a:t>
            </a:r>
            <a:r>
              <a:rPr lang="en-US" altLang="ko-KR" sz="24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INTERVAL = 5s / RUNTIME = 7 m / svc</a:t>
            </a:r>
            <a:r>
              <a:rPr lang="ko-KR" altLang="en-US" sz="24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  </a:t>
            </a:r>
            <a:r>
              <a:rPr lang="en-US" altLang="ko-KR" sz="24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= user</a:t>
            </a:r>
            <a:endParaRPr lang="en-US" altLang="ko-KR" sz="2400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96F4518-99AF-0E83-3B9F-9336CBBE38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4625" y="2451811"/>
            <a:ext cx="18000000" cy="24060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E36461-0F52-5738-64D7-370C16780817}"/>
              </a:ext>
            </a:extLst>
          </p:cNvPr>
          <p:cNvSpPr txBox="1"/>
          <p:nvPr/>
        </p:nvSpPr>
        <p:spPr>
          <a:xfrm>
            <a:off x="16840200" y="1570647"/>
            <a:ext cx="8610600" cy="1847491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endParaRPr lang="en-US" sz="2400" b="0" i="0" u="none" strike="noStrike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8D74E14-FA1A-3BEF-95AC-6D223494A6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4625" y="5181600"/>
            <a:ext cx="18000000" cy="239797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1F14573-AE0A-8184-1C0F-D95F3C0AAE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4625" y="8153400"/>
            <a:ext cx="18000000" cy="2358413"/>
          </a:xfrm>
          <a:prstGeom prst="rect">
            <a:avLst/>
          </a:prstGeom>
        </p:spPr>
      </p:pic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C532327C-A090-6A89-D42A-4B4F6CE34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175173"/>
              </p:ext>
            </p:extLst>
          </p:nvPr>
        </p:nvGraphicFramePr>
        <p:xfrm>
          <a:off x="7869200" y="10820400"/>
          <a:ext cx="8382000" cy="1847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930587926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75195594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715328824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022670002"/>
                    </a:ext>
                  </a:extLst>
                </a:gridCol>
              </a:tblGrid>
              <a:tr h="3654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REPLICA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383157"/>
                  </a:ext>
                </a:extLst>
              </a:tr>
              <a:tr h="3705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163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327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376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706561"/>
                  </a:ext>
                </a:extLst>
              </a:tr>
              <a:tr h="3705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Peak TPS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331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616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752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9562"/>
                  </a:ext>
                </a:extLst>
              </a:tr>
              <a:tr h="3705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MTT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2,329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1,174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1,021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848222"/>
                  </a:ext>
                </a:extLst>
              </a:tr>
              <a:tr h="3705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Err Rate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0.2%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0%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0%</a:t>
                      </a:r>
                      <a:endParaRPr lang="ko-KR" altLang="en-US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36324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8B280B5-1F55-7F6F-5700-BA294195D2AE}"/>
              </a:ext>
            </a:extLst>
          </p:cNvPr>
          <p:cNvSpPr txBox="1"/>
          <p:nvPr/>
        </p:nvSpPr>
        <p:spPr>
          <a:xfrm>
            <a:off x="1295400" y="3349268"/>
            <a:ext cx="2133600" cy="737179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32800"/>
              </a:lnSpc>
            </a:pPr>
            <a:r>
              <a:rPr lang="en-US" sz="24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REPLICA = </a:t>
            </a:r>
            <a:r>
              <a:rPr lang="en-US" sz="2400" spc="-12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1</a:t>
            </a:r>
            <a:endParaRPr lang="en-US" altLang="ko-KR" sz="2400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0AA61C-CCAF-0E2A-8265-7530846E4A43}"/>
              </a:ext>
            </a:extLst>
          </p:cNvPr>
          <p:cNvSpPr txBox="1"/>
          <p:nvPr/>
        </p:nvSpPr>
        <p:spPr>
          <a:xfrm>
            <a:off x="1295400" y="6070355"/>
            <a:ext cx="2133600" cy="737179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32800"/>
              </a:lnSpc>
            </a:pPr>
            <a:r>
              <a:rPr lang="en-US" sz="24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REPLICA = </a:t>
            </a:r>
            <a:r>
              <a:rPr lang="en-US" sz="2400" spc="-12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2</a:t>
            </a:r>
            <a:endParaRPr lang="en-US" altLang="ko-KR" sz="2400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F9F508-8F93-6D5C-D0DC-5716F63E511F}"/>
              </a:ext>
            </a:extLst>
          </p:cNvPr>
          <p:cNvSpPr txBox="1"/>
          <p:nvPr/>
        </p:nvSpPr>
        <p:spPr>
          <a:xfrm>
            <a:off x="1295400" y="9041569"/>
            <a:ext cx="2133600" cy="737179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32800"/>
              </a:lnSpc>
            </a:pPr>
            <a:r>
              <a:rPr lang="en-US" sz="24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REPLICA = </a:t>
            </a:r>
            <a:r>
              <a:rPr lang="en-US" sz="2400" spc="-120" dirty="0">
                <a:solidFill>
                  <a:srgbClr val="FF0000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3</a:t>
            </a:r>
            <a:endParaRPr lang="en-US" altLang="ko-KR" sz="2400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AD29A96-8C69-2301-D9F6-3401386FFDC8}"/>
              </a:ext>
            </a:extLst>
          </p:cNvPr>
          <p:cNvCxnSpPr>
            <a:cxnSpLocks/>
          </p:cNvCxnSpPr>
          <p:nvPr/>
        </p:nvCxnSpPr>
        <p:spPr>
          <a:xfrm>
            <a:off x="16459200" y="11353800"/>
            <a:ext cx="1219200" cy="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34D372D-A7F6-90B2-0EB3-F92FCC50D225}"/>
              </a:ext>
            </a:extLst>
          </p:cNvPr>
          <p:cNvSpPr txBox="1"/>
          <p:nvPr/>
        </p:nvSpPr>
        <p:spPr>
          <a:xfrm>
            <a:off x="17678400" y="11072825"/>
            <a:ext cx="2133600" cy="737179"/>
          </a:xfrm>
          <a:prstGeom prst="rect">
            <a:avLst/>
          </a:prstGeom>
        </p:spPr>
        <p:txBody>
          <a:bodyPr rtlCol="0" anchor="t"/>
          <a:lstStyle/>
          <a:p>
            <a:pPr>
              <a:lnSpc>
                <a:spcPct val="132800"/>
              </a:lnSpc>
            </a:pPr>
            <a:r>
              <a:rPr lang="ko-KR" altLang="en-US" sz="24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rPr>
              <a:t>배수 증가</a:t>
            </a:r>
            <a:endParaRPr lang="en-US" altLang="ko-KR" sz="2400" spc="-120" dirty="0">
              <a:solidFill>
                <a:srgbClr val="FF0000"/>
              </a:solidFill>
              <a:latin typeface="Pretendard SemiBold" panose="020B0600000101010101" charset="-127"/>
              <a:ea typeface="Pretendard Semi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38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EC583-EA50-AD4B-8A50-9E104F51F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AEE2CE7-B72D-550F-8D14-ECA4DA92B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D0E50D5-D14D-EEBD-C378-B94B3D4D1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8E315ED3-CD5F-1127-7652-82D1554FF3DC}"/>
              </a:ext>
            </a:extLst>
          </p:cNvPr>
          <p:cNvGrpSpPr/>
          <p:nvPr/>
        </p:nvGrpSpPr>
        <p:grpSpPr>
          <a:xfrm>
            <a:off x="1231900" y="2667000"/>
            <a:ext cx="21932900" cy="3225800"/>
            <a:chOff x="1231900" y="1447800"/>
            <a:chExt cx="21932900" cy="3225800"/>
          </a:xfrm>
        </p:grpSpPr>
        <p:pic>
          <p:nvPicPr>
            <p:cNvPr id="7" name="Picture 7">
              <a:extLst>
                <a:ext uri="{FF2B5EF4-FFF2-40B4-BE49-F238E27FC236}">
                  <a16:creationId xmlns:a16="http://schemas.microsoft.com/office/drawing/2014/main" id="{85C2ED35-036A-CDAC-D082-35125F674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6000"/>
            </a:blip>
            <a:stretch>
              <a:fillRect/>
            </a:stretch>
          </p:blipFill>
          <p:spPr>
            <a:xfrm>
              <a:off x="1231900" y="2819400"/>
              <a:ext cx="21932900" cy="50800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FE4FCF7-B3F0-1229-F282-EE813EF3FC19}"/>
                </a:ext>
              </a:extLst>
            </p:cNvPr>
            <p:cNvSpPr txBox="1"/>
            <p:nvPr/>
          </p:nvSpPr>
          <p:spPr>
            <a:xfrm>
              <a:off x="1282700" y="1447800"/>
              <a:ext cx="3975100" cy="13462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7333" b="0" i="0" u="none" strike="noStrike" dirty="0">
                  <a:solidFill>
                    <a:srgbClr val="202020"/>
                  </a:solidFill>
                  <a:ea typeface="Pretendard Bold"/>
                </a:rPr>
                <a:t>정리</a:t>
              </a:r>
              <a:endParaRPr lang="ko-KR" sz="7333" b="0" i="0" u="none" strike="noStrike" dirty="0">
                <a:solidFill>
                  <a:srgbClr val="202020"/>
                </a:solidFill>
                <a:ea typeface="Pretendard Bold"/>
              </a:endParaRP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4B7398F-2DCB-14C1-FDC5-B681920FB5CE}"/>
                </a:ext>
              </a:extLst>
            </p:cNvPr>
            <p:cNvSpPr txBox="1"/>
            <p:nvPr/>
          </p:nvSpPr>
          <p:spPr>
            <a:xfrm>
              <a:off x="1498600" y="2895600"/>
              <a:ext cx="18465800" cy="1778000"/>
            </a:xfrm>
            <a:prstGeom prst="rect">
              <a:avLst/>
            </a:prstGeom>
          </p:spPr>
          <p:txBody>
            <a:bodyPr rtlCol="0" anchor="t"/>
            <a:lstStyle/>
            <a:p>
              <a:pPr marL="342900" lvl="0" indent="-342900" algn="l">
                <a:lnSpc>
                  <a:spcPct val="132800"/>
                </a:lnSpc>
                <a:buFont typeface="Arial" panose="020B0604020202020204" pitchFamily="34" charset="0"/>
                <a:buChar char="•"/>
              </a:pPr>
              <a:r>
                <a:rPr 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CPU</a:t>
              </a:r>
              <a:r>
                <a:rPr lang="ko-KR" alt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증가 </a:t>
              </a:r>
              <a:r>
                <a:rPr lang="en-US" altLang="ko-KR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-&gt; </a:t>
              </a:r>
              <a:r>
                <a:rPr lang="ko-KR" alt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처리 속도 향상 </a:t>
              </a:r>
              <a:endParaRPr lang="en-US" altLang="ko-KR" sz="2400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  <a:p>
              <a:pPr marL="342900" lvl="0" indent="-342900" algn="l">
                <a:lnSpc>
                  <a:spcPct val="132800"/>
                </a:lnSpc>
                <a:buFont typeface="Arial" panose="020B0604020202020204" pitchFamily="34" charset="0"/>
                <a:buChar char="•"/>
              </a:pPr>
              <a:r>
                <a:rPr 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RAM </a:t>
              </a:r>
              <a:r>
                <a:rPr lang="ko-KR" alt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증가 </a:t>
              </a:r>
              <a:r>
                <a:rPr lang="en-US" altLang="ko-KR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-&gt; </a:t>
              </a:r>
              <a:r>
                <a:rPr lang="ko-KR" alt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안정성 향상 </a:t>
              </a:r>
              <a:r>
                <a:rPr lang="en-US" altLang="ko-KR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( </a:t>
              </a:r>
              <a:r>
                <a:rPr lang="ko-KR" alt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현재 서비스 를 실행하려면 최소</a:t>
              </a:r>
              <a:r>
                <a:rPr lang="en-US" altLang="ko-KR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400M</a:t>
              </a:r>
              <a:r>
                <a:rPr lang="ko-KR" alt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필요</a:t>
              </a:r>
              <a:r>
                <a:rPr lang="en-US" altLang="ko-KR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)</a:t>
              </a:r>
            </a:p>
            <a:p>
              <a:pPr marL="342900" lvl="0" indent="-342900" algn="l">
                <a:lnSpc>
                  <a:spcPct val="132800"/>
                </a:lnSpc>
                <a:buFont typeface="Arial" panose="020B0604020202020204" pitchFamily="34" charset="0"/>
                <a:buChar char="•"/>
              </a:pPr>
              <a:r>
                <a:rPr lang="en-US" altLang="ko-KR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REPLICA </a:t>
              </a:r>
              <a:r>
                <a:rPr lang="ko-KR" alt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증가 </a:t>
              </a:r>
              <a:r>
                <a:rPr lang="en-US" altLang="ko-KR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-&gt; </a:t>
              </a:r>
              <a:r>
                <a:rPr lang="ko-KR" alt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이상적으로 봤을 때 배수에 가까운 성능 향상 기대</a:t>
              </a:r>
              <a:r>
                <a:rPr lang="en-US" altLang="ko-KR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r>
                <a:rPr 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endParaRPr lang="en-US" sz="2400" b="0" i="0" u="none" strike="noStrike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  <p:pic>
        <p:nvPicPr>
          <p:cNvPr id="20" name="Picture 5">
            <a:extLst>
              <a:ext uri="{FF2B5EF4-FFF2-40B4-BE49-F238E27FC236}">
                <a16:creationId xmlns:a16="http://schemas.microsoft.com/office/drawing/2014/main" id="{4A6923F2-4E0C-CAD9-850A-588802170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21" name="Picture 6">
            <a:extLst>
              <a:ext uri="{FF2B5EF4-FFF2-40B4-BE49-F238E27FC236}">
                <a16:creationId xmlns:a16="http://schemas.microsoft.com/office/drawing/2014/main" id="{E37B467B-DBE0-C3D4-6DFF-5862D93D7F1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22" name="TextBox 12">
            <a:extLst>
              <a:ext uri="{FF2B5EF4-FFF2-40B4-BE49-F238E27FC236}">
                <a16:creationId xmlns:a16="http://schemas.microsoft.com/office/drawing/2014/main" id="{E8703681-829B-7620-3D3D-14006F7EEC75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2266" dirty="0">
                <a:solidFill>
                  <a:srgbClr val="202020"/>
                </a:solidFill>
                <a:latin typeface="Pretendard Bold"/>
              </a:rPr>
              <a:t>15</a:t>
            </a:r>
            <a:endParaRPr lang="en" sz="2266" b="0" i="0" u="none" strike="noStrike" dirty="0">
              <a:solidFill>
                <a:srgbClr val="202020"/>
              </a:solidFill>
              <a:latin typeface="Pretendard Bold"/>
            </a:endParaRP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B8E9826C-FDD2-5A7B-3BAA-978067C588C1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600" dirty="0">
                <a:solidFill>
                  <a:srgbClr val="202020"/>
                </a:solidFill>
                <a:ea typeface="Pretendard Medium"/>
              </a:rPr>
              <a:t>마무리</a:t>
            </a:r>
            <a:endParaRPr lang="ko-KR" sz="3600" b="0" i="0" u="none" strike="noStrike" dirty="0">
              <a:solidFill>
                <a:srgbClr val="202020"/>
              </a:solidFill>
              <a:ea typeface="Pretendard Medium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563CB8E-7ADA-4A0C-0E6A-27AD866EDB40}"/>
              </a:ext>
            </a:extLst>
          </p:cNvPr>
          <p:cNvGrpSpPr/>
          <p:nvPr/>
        </p:nvGrpSpPr>
        <p:grpSpPr>
          <a:xfrm>
            <a:off x="1231900" y="7772400"/>
            <a:ext cx="21932900" cy="3225800"/>
            <a:chOff x="1231900" y="1447800"/>
            <a:chExt cx="21932900" cy="3225800"/>
          </a:xfrm>
        </p:grpSpPr>
        <p:pic>
          <p:nvPicPr>
            <p:cNvPr id="30" name="Picture 7">
              <a:extLst>
                <a:ext uri="{FF2B5EF4-FFF2-40B4-BE49-F238E27FC236}">
                  <a16:creationId xmlns:a16="http://schemas.microsoft.com/office/drawing/2014/main" id="{30118835-D8E8-AB84-4666-960A1FD4D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26000"/>
            </a:blip>
            <a:stretch>
              <a:fillRect/>
            </a:stretch>
          </p:blipFill>
          <p:spPr>
            <a:xfrm>
              <a:off x="1231900" y="2819400"/>
              <a:ext cx="21932900" cy="50800"/>
            </a:xfrm>
            <a:prstGeom prst="rect">
              <a:avLst/>
            </a:prstGeom>
          </p:spPr>
        </p:pic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1426974B-DFED-E5A7-64C8-91C458A31161}"/>
                </a:ext>
              </a:extLst>
            </p:cNvPr>
            <p:cNvSpPr txBox="1"/>
            <p:nvPr/>
          </p:nvSpPr>
          <p:spPr>
            <a:xfrm>
              <a:off x="1282700" y="1447800"/>
              <a:ext cx="3975100" cy="1346200"/>
            </a:xfrm>
            <a:prstGeom prst="rect">
              <a:avLst/>
            </a:prstGeom>
          </p:spPr>
          <p:txBody>
            <a:bodyPr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7333" b="0" i="0" u="none" strike="noStrike" dirty="0">
                  <a:solidFill>
                    <a:srgbClr val="202020"/>
                  </a:solidFill>
                  <a:ea typeface="Pretendard Bold"/>
                </a:rPr>
                <a:t>개선점</a:t>
              </a:r>
              <a:endParaRPr lang="ko-KR" sz="7333" b="0" i="0" u="none" strike="noStrike" dirty="0">
                <a:solidFill>
                  <a:srgbClr val="202020"/>
                </a:solidFill>
                <a:ea typeface="Pretendard Bold"/>
              </a:endParaRPr>
            </a:p>
          </p:txBody>
        </p:sp>
        <p:sp>
          <p:nvSpPr>
            <p:cNvPr id="32" name="TextBox 11">
              <a:extLst>
                <a:ext uri="{FF2B5EF4-FFF2-40B4-BE49-F238E27FC236}">
                  <a16:creationId xmlns:a16="http://schemas.microsoft.com/office/drawing/2014/main" id="{B395FF72-F13D-3EDD-AC4A-5A77E69C2A0E}"/>
                </a:ext>
              </a:extLst>
            </p:cNvPr>
            <p:cNvSpPr txBox="1"/>
            <p:nvPr/>
          </p:nvSpPr>
          <p:spPr>
            <a:xfrm>
              <a:off x="1498600" y="2895600"/>
              <a:ext cx="18465800" cy="1778000"/>
            </a:xfrm>
            <a:prstGeom prst="rect">
              <a:avLst/>
            </a:prstGeom>
          </p:spPr>
          <p:txBody>
            <a:bodyPr rtlCol="0" anchor="t"/>
            <a:lstStyle/>
            <a:p>
              <a:pPr marL="342900" lvl="0" indent="-342900" algn="l">
                <a:lnSpc>
                  <a:spcPct val="132800"/>
                </a:lnSpc>
                <a:buFont typeface="Arial" panose="020B0604020202020204" pitchFamily="34" charset="0"/>
                <a:buChar char="•"/>
              </a:pPr>
              <a:r>
                <a:rPr lang="en-US" sz="2400" b="0" i="0" u="none" strike="noStrike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Gateway</a:t>
              </a:r>
              <a:r>
                <a:rPr lang="ko-KR" altLang="en-US" sz="2400" b="0" i="0" u="none" strike="noStrike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에 </a:t>
              </a:r>
              <a:r>
                <a:rPr lang="ko-KR" altLang="en-US" sz="2400" b="0" i="0" u="none" strike="noStrike" spc="-120" dirty="0" err="1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캐싱이</a:t>
              </a:r>
              <a:r>
                <a:rPr lang="ko-KR" altLang="en-US" sz="2400" b="0" i="0" u="none" strike="noStrike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쌓이는 것처럼 보이는 문제를 해결</a:t>
              </a:r>
              <a:r>
                <a:rPr lang="ko-KR" altLang="en-US" sz="2400" spc="-120" dirty="0">
                  <a:solidFill>
                    <a:srgbClr val="2E2E2E"/>
                  </a:solidFill>
                  <a:latin typeface="Pretendard SemiBold" panose="020B0600000101010101" charset="-127"/>
                  <a:ea typeface="Pretendard SemiBold" panose="020B0600000101010101" charset="-127"/>
                </a:rPr>
                <a:t> </a:t>
              </a:r>
              <a:endParaRPr lang="en-US" sz="2400" b="0" i="0" u="none" strike="noStrike" spc="-120" dirty="0">
                <a:solidFill>
                  <a:srgbClr val="2E2E2E"/>
                </a:solidFill>
                <a:latin typeface="Pretendard SemiBold" panose="020B0600000101010101" charset="-127"/>
                <a:ea typeface="Pretendard SemiBold" panose="020B0600000101010101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3558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15800" y="-10452100"/>
            <a:ext cx="139700" cy="2442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3073400" y="6388100"/>
            <a:ext cx="18224500" cy="1930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10873" b="0" i="0" u="none" strike="noStrike" dirty="0">
                <a:solidFill>
                  <a:srgbClr val="C4A784"/>
                </a:solidFill>
                <a:latin typeface="Pretendard Bold" panose="020B0600000101010101" charset="-127"/>
                <a:ea typeface="Pretendard Bold" panose="020B0600000101010101" charset="-127"/>
              </a:rPr>
              <a:t>감사합니다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98825-8FFC-968D-D1F0-40DE3046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C28C6E3-4880-9FAF-25E9-F32A5BD89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468100" y="-11518900"/>
            <a:ext cx="1435100" cy="244221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1B4D71DD-D83B-46AB-2C4F-A6DDA234B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153900" y="977900"/>
            <a:ext cx="139700" cy="24422100"/>
          </a:xfrm>
          <a:prstGeom prst="rect">
            <a:avLst/>
          </a:prstGeom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FC170AFF-E906-9AC0-4DA9-28A949C77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810000" y="-3022600"/>
            <a:ext cx="812800" cy="7391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71B074-3E97-2B78-64A8-017199BEEDB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6000"/>
          </a:blip>
          <a:stretch>
            <a:fillRect/>
          </a:stretch>
        </p:blipFill>
        <p:spPr>
          <a:xfrm>
            <a:off x="4140200" y="660400"/>
            <a:ext cx="2819400" cy="50800"/>
          </a:xfrm>
          <a:prstGeom prst="rect">
            <a:avLst/>
          </a:prstGeom>
        </p:spPr>
      </p:pic>
      <p:sp>
        <p:nvSpPr>
          <p:cNvPr id="8" name="TextBox 12">
            <a:extLst>
              <a:ext uri="{FF2B5EF4-FFF2-40B4-BE49-F238E27FC236}">
                <a16:creationId xmlns:a16="http://schemas.microsoft.com/office/drawing/2014/main" id="{C966A0D0-4B47-401B-2D2C-523BA93DD77C}"/>
              </a:ext>
            </a:extLst>
          </p:cNvPr>
          <p:cNvSpPr txBox="1"/>
          <p:nvPr/>
        </p:nvSpPr>
        <p:spPr>
          <a:xfrm>
            <a:off x="6959600" y="457200"/>
            <a:ext cx="711200" cy="406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endParaRPr lang="en" sz="2266" b="0" i="0" u="none" strike="noStrike" dirty="0">
              <a:solidFill>
                <a:srgbClr val="202020"/>
              </a:solidFill>
              <a:latin typeface="Pretendard Bold"/>
            </a:endParaRP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9327B44C-E053-56E6-B00E-F142C4BC0742}"/>
              </a:ext>
            </a:extLst>
          </p:cNvPr>
          <p:cNvSpPr txBox="1"/>
          <p:nvPr/>
        </p:nvSpPr>
        <p:spPr>
          <a:xfrm>
            <a:off x="787400" y="304800"/>
            <a:ext cx="4648200" cy="877856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3600" b="0" i="0" u="none" strike="noStrike" dirty="0">
                <a:solidFill>
                  <a:srgbClr val="202020"/>
                </a:solidFill>
                <a:ea typeface="Pretendard Medium"/>
              </a:rPr>
              <a:t>기술 스택</a:t>
            </a:r>
            <a:endParaRPr lang="ko-KR" sz="3600" b="0" i="0" u="none" strike="noStrike" dirty="0">
              <a:solidFill>
                <a:srgbClr val="202020"/>
              </a:solidFill>
              <a:ea typeface="Pretendard Medium"/>
            </a:endParaRP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5153F5D4-EE3A-1692-5FA9-5D4B283A16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969000" y="-1212850"/>
            <a:ext cx="800100" cy="9017000"/>
          </a:xfrm>
          <a:prstGeom prst="rect">
            <a:avLst/>
          </a:prstGeom>
        </p:spPr>
      </p:pic>
      <p:pic>
        <p:nvPicPr>
          <p:cNvPr id="13" name="Picture 9">
            <a:extLst>
              <a:ext uri="{FF2B5EF4-FFF2-40B4-BE49-F238E27FC236}">
                <a16:creationId xmlns:a16="http://schemas.microsoft.com/office/drawing/2014/main" id="{18AFD5C7-90CD-53F1-03A7-3B47E6C1D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7576800" y="-1200150"/>
            <a:ext cx="800100" cy="9017000"/>
          </a:xfrm>
          <a:prstGeom prst="rect">
            <a:avLst/>
          </a:prstGeom>
        </p:spPr>
      </p:pic>
      <p:pic>
        <p:nvPicPr>
          <p:cNvPr id="14" name="Picture 10">
            <a:extLst>
              <a:ext uri="{FF2B5EF4-FFF2-40B4-BE49-F238E27FC236}">
                <a16:creationId xmlns:a16="http://schemas.microsoft.com/office/drawing/2014/main" id="{6EC04A3B-A0FC-9001-7896-D63D9DF9A184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6000"/>
          </a:blip>
          <a:stretch>
            <a:fillRect/>
          </a:stretch>
        </p:blipFill>
        <p:spPr>
          <a:xfrm rot="5400000">
            <a:off x="10287000" y="4933950"/>
            <a:ext cx="3810000" cy="50800"/>
          </a:xfrm>
          <a:prstGeom prst="rect">
            <a:avLst/>
          </a:prstGeom>
        </p:spPr>
      </p:pic>
      <p:pic>
        <p:nvPicPr>
          <p:cNvPr id="15" name="Picture 11">
            <a:extLst>
              <a:ext uri="{FF2B5EF4-FFF2-40B4-BE49-F238E27FC236}">
                <a16:creationId xmlns:a16="http://schemas.microsoft.com/office/drawing/2014/main" id="{D933D310-4720-9B0C-6CB7-2958D76DCA9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26000"/>
          </a:blip>
          <a:stretch>
            <a:fillRect/>
          </a:stretch>
        </p:blipFill>
        <p:spPr>
          <a:xfrm>
            <a:off x="1498600" y="7092950"/>
            <a:ext cx="10426700" cy="50800"/>
          </a:xfrm>
          <a:prstGeom prst="rect">
            <a:avLst/>
          </a:prstGeom>
        </p:spPr>
      </p:pic>
      <p:pic>
        <p:nvPicPr>
          <p:cNvPr id="16" name="Picture 12">
            <a:extLst>
              <a:ext uri="{FF2B5EF4-FFF2-40B4-BE49-F238E27FC236}">
                <a16:creationId xmlns:a16="http://schemas.microsoft.com/office/drawing/2014/main" id="{8E8CE6E8-5024-ED12-E9E9-7EAAEEB9D1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969000" y="3600450"/>
            <a:ext cx="800100" cy="9017000"/>
          </a:xfrm>
          <a:prstGeom prst="rect">
            <a:avLst/>
          </a:prstGeom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F3D95851-3AD5-7CC4-713F-F17CC7257D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7576800" y="3613150"/>
            <a:ext cx="800100" cy="9017000"/>
          </a:xfrm>
          <a:prstGeom prst="rect">
            <a:avLst/>
          </a:prstGeom>
        </p:spPr>
      </p:pic>
      <p:pic>
        <p:nvPicPr>
          <p:cNvPr id="19" name="Picture 14">
            <a:extLst>
              <a:ext uri="{FF2B5EF4-FFF2-40B4-BE49-F238E27FC236}">
                <a16:creationId xmlns:a16="http://schemas.microsoft.com/office/drawing/2014/main" id="{9FEF9375-E37B-6CBE-AC59-F338E282086D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26000"/>
          </a:blip>
          <a:stretch>
            <a:fillRect/>
          </a:stretch>
        </p:blipFill>
        <p:spPr>
          <a:xfrm>
            <a:off x="12433300" y="7080250"/>
            <a:ext cx="10642600" cy="50800"/>
          </a:xfrm>
          <a:prstGeom prst="rect">
            <a:avLst/>
          </a:prstGeom>
        </p:spPr>
      </p:pic>
      <p:pic>
        <p:nvPicPr>
          <p:cNvPr id="26" name="Picture 15">
            <a:extLst>
              <a:ext uri="{FF2B5EF4-FFF2-40B4-BE49-F238E27FC236}">
                <a16:creationId xmlns:a16="http://schemas.microsoft.com/office/drawing/2014/main" id="{13368CF7-5144-2219-F624-091EE465BF19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6000"/>
          </a:blip>
          <a:stretch>
            <a:fillRect/>
          </a:stretch>
        </p:blipFill>
        <p:spPr>
          <a:xfrm rot="5400000">
            <a:off x="10172700" y="9366250"/>
            <a:ext cx="4038600" cy="50800"/>
          </a:xfrm>
          <a:prstGeom prst="rect">
            <a:avLst/>
          </a:prstGeom>
        </p:spPr>
      </p:pic>
      <p:sp>
        <p:nvSpPr>
          <p:cNvPr id="33" name="TextBox 20">
            <a:extLst>
              <a:ext uri="{FF2B5EF4-FFF2-40B4-BE49-F238E27FC236}">
                <a16:creationId xmlns:a16="http://schemas.microsoft.com/office/drawing/2014/main" id="{4B84D853-D512-FBAA-2E23-4534D0998A94}"/>
              </a:ext>
            </a:extLst>
          </p:cNvPr>
          <p:cNvSpPr txBox="1"/>
          <p:nvPr/>
        </p:nvSpPr>
        <p:spPr>
          <a:xfrm>
            <a:off x="2959100" y="2940050"/>
            <a:ext cx="6832600" cy="711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4000" b="0" i="0" u="none" strike="noStrike" spc="-200" dirty="0" err="1">
                <a:solidFill>
                  <a:srgbClr val="FFFFFF"/>
                </a:solidFill>
                <a:ea typeface="Pretendard SemiBold"/>
              </a:rPr>
              <a:t>프론트엔드</a:t>
            </a:r>
            <a:endParaRPr lang="ko-KR" sz="4000" b="0" i="0" u="none" strike="noStrike" spc="-200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15B853A5-D509-D152-AA9C-A07CEEAC4F3C}"/>
              </a:ext>
            </a:extLst>
          </p:cNvPr>
          <p:cNvSpPr txBox="1"/>
          <p:nvPr/>
        </p:nvSpPr>
        <p:spPr>
          <a:xfrm>
            <a:off x="1903476" y="4114800"/>
            <a:ext cx="9093200" cy="1892300"/>
          </a:xfrm>
          <a:prstGeom prst="rect">
            <a:avLst/>
          </a:prstGeom>
        </p:spPr>
        <p:txBody>
          <a:bodyPr rtlCol="0" anchor="t"/>
          <a:lstStyle/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React: SPA,</a:t>
            </a:r>
            <a:r>
              <a:rPr lang="en-US" altLang="ko-KR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 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컴포넌트 기반 </a:t>
            </a:r>
            <a:r>
              <a:rPr lang="en-US" altLang="ko-KR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UI</a:t>
            </a:r>
          </a:p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spc="-120" dirty="0" err="1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TailWind</a:t>
            </a:r>
            <a:r>
              <a:rPr 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 CSS: 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디자인 프레임워크</a:t>
            </a:r>
            <a:endParaRPr lang="en-US" altLang="ko-KR" sz="2400" spc="-120" dirty="0">
              <a:solidFill>
                <a:srgbClr val="2E2E2E"/>
              </a:solidFill>
              <a:latin typeface="Pretendard Light" panose="020B0600000101010101" charset="-127"/>
              <a:ea typeface="Pretendard Light" panose="020B0600000101010101" charset="-127"/>
            </a:endParaRPr>
          </a:p>
          <a:p>
            <a:pPr lvl="0" algn="l">
              <a:lnSpc>
                <a:spcPct val="132800"/>
              </a:lnSpc>
            </a:pPr>
            <a:endParaRPr lang="en-US" sz="2400" b="0" i="0" u="none" strike="noStrike" spc="-120" dirty="0">
              <a:solidFill>
                <a:srgbClr val="2E2E2E"/>
              </a:solidFill>
              <a:latin typeface="Pretendard Light" panose="020B0600000101010101" charset="-127"/>
              <a:ea typeface="Pretendard Light" panose="020B0600000101010101" charset="-127"/>
            </a:endParaRP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AD20790F-8A86-D6F8-5F29-66D374CC1EB9}"/>
              </a:ext>
            </a:extLst>
          </p:cNvPr>
          <p:cNvSpPr txBox="1"/>
          <p:nvPr/>
        </p:nvSpPr>
        <p:spPr>
          <a:xfrm>
            <a:off x="14566900" y="2940050"/>
            <a:ext cx="6832600" cy="711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4000" b="0" i="0" u="none" strike="noStrike" spc="-200" dirty="0" err="1">
                <a:solidFill>
                  <a:srgbClr val="FFFFFF"/>
                </a:solidFill>
                <a:ea typeface="Pretendard SemiBold"/>
              </a:rPr>
              <a:t>백엔드</a:t>
            </a:r>
            <a:endParaRPr lang="ko-KR" sz="4000" b="0" i="0" u="none" strike="noStrike" spc="-200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41" name="TextBox 24">
            <a:extLst>
              <a:ext uri="{FF2B5EF4-FFF2-40B4-BE49-F238E27FC236}">
                <a16:creationId xmlns:a16="http://schemas.microsoft.com/office/drawing/2014/main" id="{FEE21D78-C7FF-4B0E-DBBB-5E281B32DB8E}"/>
              </a:ext>
            </a:extLst>
          </p:cNvPr>
          <p:cNvSpPr txBox="1"/>
          <p:nvPr/>
        </p:nvSpPr>
        <p:spPr>
          <a:xfrm>
            <a:off x="13462000" y="4114800"/>
            <a:ext cx="9118600" cy="1892300"/>
          </a:xfrm>
          <a:prstGeom prst="rect">
            <a:avLst/>
          </a:prstGeom>
        </p:spPr>
        <p:txBody>
          <a:bodyPr rtlCol="0" anchor="t"/>
          <a:lstStyle/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spc="-120" dirty="0">
                <a:solidFill>
                  <a:srgbClr val="2E2E2E"/>
                </a:solidFill>
                <a:latin typeface="Pretendard Light"/>
              </a:rPr>
              <a:t>Spring: </a:t>
            </a:r>
          </a:p>
          <a:p>
            <a:pPr marL="800100" lvl="1" indent="-342900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spc="-120" dirty="0">
                <a:solidFill>
                  <a:srgbClr val="2E2E2E"/>
                </a:solidFill>
                <a:latin typeface="Pretendard Light"/>
              </a:rPr>
              <a:t>Boot (REST API) </a:t>
            </a:r>
          </a:p>
          <a:p>
            <a:pPr marL="800100" lvl="1" indent="-342900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spc="-120" dirty="0">
                <a:solidFill>
                  <a:srgbClr val="2E2E2E"/>
                </a:solidFill>
                <a:latin typeface="Pretendard Light"/>
              </a:rPr>
              <a:t>JPA (ORM)</a:t>
            </a:r>
          </a:p>
          <a:p>
            <a:pPr marL="800100" lvl="1" indent="-342900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spc="-120" dirty="0" err="1">
                <a:solidFill>
                  <a:srgbClr val="FF0000"/>
                </a:solidFill>
                <a:latin typeface="Pretendard Light"/>
              </a:rPr>
              <a:t>FeignClient</a:t>
            </a:r>
            <a:endParaRPr lang="en-US" sz="2400" b="0" i="0" u="none" strike="noStrike" spc="-120" dirty="0">
              <a:solidFill>
                <a:srgbClr val="FF0000"/>
              </a:solidFill>
              <a:latin typeface="Pretendard Light"/>
            </a:endParaRPr>
          </a:p>
        </p:txBody>
      </p:sp>
      <p:sp>
        <p:nvSpPr>
          <p:cNvPr id="44" name="TextBox 26">
            <a:extLst>
              <a:ext uri="{FF2B5EF4-FFF2-40B4-BE49-F238E27FC236}">
                <a16:creationId xmlns:a16="http://schemas.microsoft.com/office/drawing/2014/main" id="{31610FD0-DDC9-F3DE-CA3F-06EDA97D7539}"/>
              </a:ext>
            </a:extLst>
          </p:cNvPr>
          <p:cNvSpPr txBox="1"/>
          <p:nvPr/>
        </p:nvSpPr>
        <p:spPr>
          <a:xfrm>
            <a:off x="2959100" y="7753350"/>
            <a:ext cx="6832600" cy="711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4000" b="0" i="0" u="none" strike="noStrike" spc="-200" dirty="0">
                <a:solidFill>
                  <a:srgbClr val="FFFFFF"/>
                </a:solidFill>
                <a:ea typeface="Pretendard SemiBold"/>
              </a:rPr>
              <a:t>데이터베이스</a:t>
            </a:r>
            <a:endParaRPr lang="ko-KR" sz="4000" b="0" i="0" u="none" strike="noStrike" spc="-200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45" name="TextBox 27">
            <a:extLst>
              <a:ext uri="{FF2B5EF4-FFF2-40B4-BE49-F238E27FC236}">
                <a16:creationId xmlns:a16="http://schemas.microsoft.com/office/drawing/2014/main" id="{A5BD1067-EAF0-5E0F-D14A-66427E693F6D}"/>
              </a:ext>
            </a:extLst>
          </p:cNvPr>
          <p:cNvSpPr txBox="1"/>
          <p:nvPr/>
        </p:nvSpPr>
        <p:spPr>
          <a:xfrm>
            <a:off x="1866900" y="9144000"/>
            <a:ext cx="9880600" cy="1397000"/>
          </a:xfrm>
          <a:prstGeom prst="rect">
            <a:avLst/>
          </a:prstGeom>
        </p:spPr>
        <p:txBody>
          <a:bodyPr rtlCol="0" anchor="t"/>
          <a:lstStyle/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altLang="ko-KR" sz="2400" b="0" i="0" u="none" strike="noStrike" spc="-120" dirty="0" err="1">
                <a:solidFill>
                  <a:srgbClr val="2E2E2E"/>
                </a:solidFill>
                <a:ea typeface="Pretendard Light"/>
              </a:rPr>
              <a:t>Mariadb</a:t>
            </a:r>
            <a:r>
              <a:rPr lang="en-US" altLang="ko-KR" sz="2400" spc="-120" dirty="0">
                <a:solidFill>
                  <a:srgbClr val="2E2E2E"/>
                </a:solidFill>
                <a:ea typeface="Pretendard Light"/>
              </a:rPr>
              <a:t>: </a:t>
            </a:r>
            <a:r>
              <a:rPr lang="ko-KR" altLang="en-US" sz="2400" spc="-120" dirty="0">
                <a:solidFill>
                  <a:srgbClr val="2E2E2E"/>
                </a:solidFill>
                <a:ea typeface="Pretendard Light"/>
              </a:rPr>
              <a:t>유저</a:t>
            </a:r>
            <a:r>
              <a:rPr lang="en-US" altLang="ko-KR" sz="2400" spc="-120" dirty="0">
                <a:solidFill>
                  <a:srgbClr val="2E2E2E"/>
                </a:solidFill>
                <a:ea typeface="Pretendard Light"/>
              </a:rPr>
              <a:t>, </a:t>
            </a:r>
            <a:r>
              <a:rPr lang="ko-KR" altLang="en-US" sz="2400" spc="-120" dirty="0">
                <a:solidFill>
                  <a:srgbClr val="2E2E2E"/>
                </a:solidFill>
                <a:ea typeface="Pretendard Light"/>
              </a:rPr>
              <a:t>휴게소</a:t>
            </a:r>
            <a:r>
              <a:rPr lang="en-US" altLang="ko-KR" sz="2400" spc="-120" dirty="0">
                <a:solidFill>
                  <a:srgbClr val="2E2E2E"/>
                </a:solidFill>
                <a:ea typeface="Pretendard Light"/>
              </a:rPr>
              <a:t>, </a:t>
            </a:r>
            <a:r>
              <a:rPr lang="ko-KR" altLang="en-US" sz="2400" spc="-120" dirty="0">
                <a:solidFill>
                  <a:srgbClr val="2E2E2E"/>
                </a:solidFill>
                <a:ea typeface="Pretendard Light"/>
              </a:rPr>
              <a:t>편의시설</a:t>
            </a:r>
            <a:r>
              <a:rPr lang="en-US" altLang="ko-KR" sz="2400" spc="-120" dirty="0">
                <a:solidFill>
                  <a:srgbClr val="2E2E2E"/>
                </a:solidFill>
                <a:ea typeface="Pretendard Light"/>
              </a:rPr>
              <a:t>, </a:t>
            </a:r>
            <a:r>
              <a:rPr lang="ko-KR" altLang="en-US" sz="2400" spc="-120" dirty="0">
                <a:solidFill>
                  <a:srgbClr val="2E2E2E"/>
                </a:solidFill>
                <a:ea typeface="Pretendard Light"/>
              </a:rPr>
              <a:t>음식</a:t>
            </a:r>
            <a:r>
              <a:rPr lang="en-US" altLang="ko-KR" sz="2400" spc="-120" dirty="0">
                <a:solidFill>
                  <a:srgbClr val="2E2E2E"/>
                </a:solidFill>
                <a:ea typeface="Pretendard Light"/>
              </a:rPr>
              <a:t>, </a:t>
            </a:r>
            <a:r>
              <a:rPr lang="ko-KR" altLang="en-US" sz="2400" spc="-120" dirty="0">
                <a:solidFill>
                  <a:srgbClr val="2E2E2E"/>
                </a:solidFill>
                <a:ea typeface="Pretendard Light"/>
              </a:rPr>
              <a:t>즐겨찾기</a:t>
            </a:r>
            <a:r>
              <a:rPr lang="en-US" altLang="ko-KR" sz="2400" spc="-120" dirty="0">
                <a:solidFill>
                  <a:srgbClr val="2E2E2E"/>
                </a:solidFill>
                <a:ea typeface="Pretendard Light"/>
              </a:rPr>
              <a:t>, </a:t>
            </a:r>
            <a:r>
              <a:rPr lang="ko-KR" altLang="en-US" sz="2400" spc="-120" dirty="0">
                <a:solidFill>
                  <a:srgbClr val="2E2E2E"/>
                </a:solidFill>
                <a:ea typeface="Pretendard Light"/>
              </a:rPr>
              <a:t>리뷰 정보 저장</a:t>
            </a:r>
            <a:endParaRPr lang="en-US" altLang="ko-KR" sz="2400" spc="-120" dirty="0">
              <a:solidFill>
                <a:srgbClr val="2E2E2E"/>
              </a:solidFill>
              <a:ea typeface="Pretendard Light"/>
            </a:endParaRPr>
          </a:p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sngStrike" spc="-120" dirty="0">
                <a:solidFill>
                  <a:srgbClr val="2E2E2E"/>
                </a:solidFill>
                <a:latin typeface="Pretendard Light"/>
                <a:ea typeface="Pretendard Light"/>
              </a:rPr>
              <a:t>Redis: </a:t>
            </a:r>
            <a:r>
              <a:rPr lang="ko-KR" altLang="en-US" sz="2400" strike="sngStrike" spc="-120" dirty="0">
                <a:solidFill>
                  <a:srgbClr val="2E2E2E"/>
                </a:solidFill>
                <a:latin typeface="Pretendard Light"/>
                <a:ea typeface="Pretendard Light"/>
              </a:rPr>
              <a:t>유저 토큰 관리</a:t>
            </a:r>
            <a:endParaRPr lang="en-US" sz="2400" b="0" i="0" u="none" strike="sngStrike" spc="-120" dirty="0">
              <a:solidFill>
                <a:srgbClr val="2E2E2E"/>
              </a:solidFill>
              <a:latin typeface="Pretendard Light"/>
            </a:endParaRPr>
          </a:p>
        </p:txBody>
      </p:sp>
      <p:sp>
        <p:nvSpPr>
          <p:cNvPr id="47" name="TextBox 29">
            <a:extLst>
              <a:ext uri="{FF2B5EF4-FFF2-40B4-BE49-F238E27FC236}">
                <a16:creationId xmlns:a16="http://schemas.microsoft.com/office/drawing/2014/main" id="{9FDCF11A-2A40-3877-E21A-8686002DCA66}"/>
              </a:ext>
            </a:extLst>
          </p:cNvPr>
          <p:cNvSpPr txBox="1"/>
          <p:nvPr/>
        </p:nvSpPr>
        <p:spPr>
          <a:xfrm>
            <a:off x="14566900" y="7753350"/>
            <a:ext cx="6832600" cy="7112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4000" spc="-200" dirty="0">
                <a:solidFill>
                  <a:srgbClr val="FFFFFF"/>
                </a:solidFill>
                <a:ea typeface="Pretendard SemiBold"/>
              </a:rPr>
              <a:t>기타</a:t>
            </a:r>
            <a:endParaRPr lang="ko-KR" sz="4000" b="0" i="0" u="none" strike="noStrike" spc="-200" dirty="0">
              <a:solidFill>
                <a:srgbClr val="FFFFFF"/>
              </a:solidFill>
              <a:ea typeface="Pretendard SemiBold"/>
            </a:endParaRPr>
          </a:p>
        </p:txBody>
      </p:sp>
      <p:sp>
        <p:nvSpPr>
          <p:cNvPr id="48" name="TextBox 30">
            <a:extLst>
              <a:ext uri="{FF2B5EF4-FFF2-40B4-BE49-F238E27FC236}">
                <a16:creationId xmlns:a16="http://schemas.microsoft.com/office/drawing/2014/main" id="{1C6D5AE7-27C2-23B1-6728-A7257A77544F}"/>
              </a:ext>
            </a:extLst>
          </p:cNvPr>
          <p:cNvSpPr txBox="1"/>
          <p:nvPr/>
        </p:nvSpPr>
        <p:spPr>
          <a:xfrm>
            <a:off x="13462000" y="9067800"/>
            <a:ext cx="9118600" cy="1892300"/>
          </a:xfrm>
          <a:prstGeom prst="rect">
            <a:avLst/>
          </a:prstGeom>
        </p:spPr>
        <p:txBody>
          <a:bodyPr rtlCol="0" anchor="t"/>
          <a:lstStyle/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API: </a:t>
            </a:r>
            <a:r>
              <a:rPr lang="en-US" sz="2400" b="0" i="0" u="none" strike="noStrike" spc="-120" dirty="0" err="1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Tmap</a:t>
            </a:r>
            <a:r>
              <a:rPr 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 (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지도</a:t>
            </a:r>
            <a:r>
              <a:rPr lang="en-US" altLang="ko-KR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, 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경로</a:t>
            </a:r>
            <a:r>
              <a:rPr lang="en-US" altLang="ko-KR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, POI, POR), Open API (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휴게소에 관한 정보</a:t>
            </a:r>
            <a:r>
              <a:rPr lang="en-US" altLang="ko-KR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), Open AI (AI 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대화 처리</a:t>
            </a:r>
            <a:r>
              <a:rPr lang="en-US" altLang="ko-KR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)</a:t>
            </a:r>
          </a:p>
          <a:p>
            <a:pPr marL="342900" lvl="0" indent="-342900" algn="l">
              <a:lnSpc>
                <a:spcPct val="132800"/>
              </a:lnSpc>
              <a:buFont typeface="Arial" panose="020B0604020202020204" pitchFamily="34" charset="0"/>
              <a:buChar char="•"/>
            </a:pPr>
            <a:r>
              <a:rPr lang="ko-KR" altLang="en-US" sz="2400" b="0" i="0" u="none" strike="noStrike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인프라</a:t>
            </a:r>
            <a:r>
              <a:rPr lang="en-US" altLang="ko-KR" sz="2400" b="0" i="0" u="none" strike="noStrike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: Docker (</a:t>
            </a:r>
            <a:r>
              <a:rPr lang="ko-KR" altLang="en-US" sz="2400" b="0" i="0" u="none" strike="noStrike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환경 일관성</a:t>
            </a:r>
            <a:r>
              <a:rPr lang="en-US" altLang="ko-KR" sz="2400" b="0" i="0" u="none" strike="noStrike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), </a:t>
            </a:r>
            <a:r>
              <a:rPr lang="en-US" altLang="ko-KR" sz="2400" b="0" i="0" u="none" strike="noStrike" spc="-120" dirty="0" err="1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Github</a:t>
            </a:r>
            <a:r>
              <a:rPr lang="en-US" altLang="ko-KR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 (</a:t>
            </a:r>
            <a:r>
              <a:rPr lang="ko-KR" altLang="en-US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형상 관리</a:t>
            </a:r>
            <a:r>
              <a:rPr lang="en-US" altLang="ko-KR" sz="24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)</a:t>
            </a:r>
            <a:endParaRPr lang="en-US" sz="2400" b="0" i="0" u="none" strike="noStrike" spc="-120" dirty="0">
              <a:solidFill>
                <a:srgbClr val="2E2E2E"/>
              </a:solidFill>
              <a:latin typeface="Pretendard Light" panose="020B0600000101010101" charset="-127"/>
              <a:ea typeface="Pretendard Light" panose="020B0600000101010101" charset="-127"/>
            </a:endParaRPr>
          </a:p>
        </p:txBody>
      </p:sp>
      <p:sp>
        <p:nvSpPr>
          <p:cNvPr id="5" name="TextBox 30">
            <a:extLst>
              <a:ext uri="{FF2B5EF4-FFF2-40B4-BE49-F238E27FC236}">
                <a16:creationId xmlns:a16="http://schemas.microsoft.com/office/drawing/2014/main" id="{DA36AFB5-A74A-3751-6ECC-2F4E2CE5E7D6}"/>
              </a:ext>
            </a:extLst>
          </p:cNvPr>
          <p:cNvSpPr txBox="1"/>
          <p:nvPr/>
        </p:nvSpPr>
        <p:spPr>
          <a:xfrm>
            <a:off x="21869400" y="12245975"/>
            <a:ext cx="2743200" cy="84455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POI : Point Of Interest</a:t>
            </a:r>
          </a:p>
          <a:p>
            <a:pPr lvl="0" algn="l">
              <a:lnSpc>
                <a:spcPct val="132800"/>
              </a:lnSpc>
            </a:pPr>
            <a:r>
              <a:rPr lang="en-US" sz="2000" spc="-120" dirty="0">
                <a:solidFill>
                  <a:srgbClr val="2E2E2E"/>
                </a:solidFill>
                <a:latin typeface="Pretendard Light" panose="020B0600000101010101" charset="-127"/>
                <a:ea typeface="Pretendard Light" panose="020B0600000101010101" charset="-127"/>
              </a:rPr>
              <a:t>POR : POI Of Route</a:t>
            </a:r>
            <a:endParaRPr lang="en-US" sz="2000" b="0" i="0" u="none" strike="noStrike" spc="-120" dirty="0">
              <a:solidFill>
                <a:srgbClr val="2E2E2E"/>
              </a:solidFill>
              <a:latin typeface="Pretendard Light" panose="020B0600000101010101" charset="-127"/>
              <a:ea typeface="Pretendard Light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5582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612</Words>
  <Application>Microsoft Office PowerPoint</Application>
  <PresentationFormat>사용자 지정</PresentationFormat>
  <Paragraphs>211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Arial</vt:lpstr>
      <vt:lpstr>Pretendard Medium</vt:lpstr>
      <vt:lpstr>Calibri</vt:lpstr>
      <vt:lpstr>Pretendard Light</vt:lpstr>
      <vt:lpstr>Consolas</vt:lpstr>
      <vt:lpstr>Pretendard Bold</vt:lpstr>
      <vt:lpstr>Pretendard SemiBold</vt:lpstr>
      <vt:lpstr>Pretendard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민우 지</cp:lastModifiedBy>
  <cp:revision>168</cp:revision>
  <dcterms:created xsi:type="dcterms:W3CDTF">2006-08-16T00:00:00Z</dcterms:created>
  <dcterms:modified xsi:type="dcterms:W3CDTF">2025-10-29T02:16:09Z</dcterms:modified>
</cp:coreProperties>
</file>